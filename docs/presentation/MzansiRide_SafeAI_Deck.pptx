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7" r:id="rId28"/>
    <p:sldId id="258" r:id="rId4"/>
    <p:sldId id="259" r:id="rId5"/>
    <p:sldId id="278" r:id="rId29"/>
    <p:sldId id="260" r:id="rId6"/>
    <p:sldId id="261" r:id="rId7"/>
    <p:sldId id="263" r:id="rId9"/>
    <p:sldId id="262" r:id="rId8"/>
    <p:sldId id="264" r:id="rId10"/>
    <p:sldId id="265" r:id="rId11"/>
    <p:sldId id="272" r:id="rId18"/>
    <p:sldId id="273" r:id="rId19"/>
    <p:sldId id="267" r:id="rId13"/>
    <p:sldId id="268" r:id="rId14"/>
    <p:sldId id="269" r:id="rId15"/>
    <p:sldId id="270" r:id="rId16"/>
    <p:sldId id="266" r:id="rId12"/>
    <p:sldId id="279" r:id="rId30"/>
    <p:sldId id="280" r:id="rId31"/>
    <p:sldId id="281" r:id="rId32"/>
    <p:sldId id="274" r:id="rId20"/>
    <p:sldId id="275" r:id="rId21"/>
    <p:sldId id="271" r:id="rId17"/>
    <p:sldId id="276" r:id="rId22"/>
    <p:sldId id="282" r:id="rId33"/>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7e4d52-aaa0-3d54-4646-ac91b555c2fe}">
          <p14:sldIdLst>
            <p14:sldId id="256"/>
            <p14:sldId id="257"/>
          </p14:sldIdLst>
        </p14:section>
        <p14:section name="Problem and solution" id="{3729c55d-344d-2728-abbf-8fe98ff38e02}">
          <p14:sldIdLst>
            <p14:sldId id="258"/>
            <p14:sldId id="259"/>
            <p14:sldId id="260"/>
            <p14:sldId id="261"/>
            <p14:sldId id="262"/>
            <p14:sldId id="263"/>
            <p14:sldId id="264"/>
            <p14:sldId id="265"/>
            <p14:sldId id="266"/>
          </p14:sldIdLst>
        </p14:section>
        <p14:section name="The prototype" id="{7fe0071b-7123-f641-d87b-8525e6eafd2f}">
          <p14:sldIdLst>
            <p14:sldId id="267"/>
            <p14:sldId id="268"/>
            <p14:sldId id="269"/>
            <p14:sldId id="270"/>
            <p14:sldId id="271"/>
          </p14:sldIdLst>
        </p14:section>
        <p14:section name="How we built it" id="{31fdf05e-6468-826a-4029-0d3883f7ce96}">
          <p14:sldIdLst>
            <p14:sldId id="272"/>
            <p14:sldId id="273"/>
          </p14:sldIdLst>
        </p14:section>
        <p14:section name="Status and close" id="{35eb6734-09ed-816a-2b44-0aa34f37e288}">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Fare per rider</c:v>
                </c:pt>
              </c:strCache>
            </c:strRef>
          </c:tx>
          <c:spPr>
            <a:solidFill>
              <a:srgbClr val="0B5C45"/>
            </a:solidFill>
            <a:effectLst/>
          </c:spPr>
          <c:invertIfNegative val="0"/>
          <c:dLbls>
            <c:numFmt formatCode="&quot;R&quot;0.00" sourceLinked="0"/>
            <c:txPr>
              <a:bodyPr/>
              <a:lstStyle/>
              <a:p>
                <a:pPr>
                  <a:defRPr b="1" i="0" strike="noStrike" sz="1600" u="none">
                    <a:solidFill>
                      <a:srgbClr val="1F2A27"/>
                    </a:solidFill>
                    <a:latin typeface="Arial"/>
                  </a:defRPr>
                </a:pPr>
              </a:p>
            </c:txPr>
            <c:showLegendKey val="0"/>
            <c:showVal val="1"/>
            <c:showCatName val="0"/>
            <c:showSerName val="0"/>
            <c:showPercent val="0"/>
            <c:showBubbleSize val="0"/>
            <c:showLeaderLines val="0"/>
          </c:dLbls>
          <c:dPt>
            <c:idx val="0"/>
            <c:invertIfNegative val="0"/>
            <c:bubble3D val="0"/>
            <c:spPr>
              <a:solidFill>
                <a:srgbClr val="0B5C45"/>
              </a:solidFill>
              <a:effectLst/>
            </c:spPr>
          </c:dPt>
          <c:dPt>
            <c:idx val="1"/>
            <c:invertIfNegative val="0"/>
            <c:bubble3D val="0"/>
            <c:spPr>
              <a:solidFill>
                <a:srgbClr val="078A66"/>
              </a:solidFill>
              <a:effectLst/>
            </c:spPr>
          </c:dPt>
          <c:dPt>
            <c:idx val="2"/>
            <c:invertIfNegative val="0"/>
            <c:bubble3D val="0"/>
            <c:spPr>
              <a:solidFill>
                <a:srgbClr val="078A66"/>
              </a:solidFill>
              <a:effectLst/>
            </c:spPr>
          </c:dPt>
          <c:cat>
            <c:multiLvlStrRef>
              <c:f>Sheet1!$A$2:$A$4</c:f>
              <c:multiLvlStrCache>
                <c:ptCount val="3"/>
                <c:lvl>
                  <c:pt idx="0">
                    <c:v>Riding alone</c:v>
                  </c:pt>
                  <c:pt idx="1">
                    <c:v>Sharing with 1 other</c:v>
                  </c:pt>
                  <c:pt idx="2">
                    <c:v>Sharing with 2 others</c:v>
                  </c:pt>
                </c:lvl>
              </c:multiLvlStrCache>
            </c:multiLvlStrRef>
          </c:cat>
          <c:val>
            <c:numRef>
              <c:f>Sheet1!$B$2:$B$4</c:f>
              <c:numCache>
                <c:formatCode>General</c:formatCode>
                <c:ptCount val="3"/>
                <c:pt idx="0">
                  <c:v>67.5</c:v>
                </c:pt>
                <c:pt idx="1">
                  <c:v>40.5</c:v>
                </c:pt>
                <c:pt idx="2">
                  <c:v>27</c:v>
                </c:pt>
              </c:numCache>
            </c:numRef>
          </c:val>
        </c:ser>
        <c:dLbls>
          <c:numFmt formatCode="&quot;R&quot;0.00" sourceLinked="0"/>
          <c:txPr>
            <a:bodyPr/>
            <a:lstStyle/>
            <a:p>
              <a:pPr>
                <a:defRPr b="1" i="0" strike="noStrike" sz="1600" u="none">
                  <a:solidFill>
                    <a:srgbClr val="1F2A2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27"/>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COVER</a:t>
            </a:r>
            <a:endParaRPr lang="en-US" dirty="0"/>
          </a:p>
          <a:p>
            <a:r>
              <a:rPr lang="en-US" dirty="0"/>
              <a:t/>
            </a:r>
            <a:endParaRPr lang="en-US" dirty="0"/>
          </a:p>
          <a:p>
            <a:r>
              <a:rPr lang="en-US" dirty="0"/>
              <a:t>Magala · 0:00 · about 20 seconds</a:t>
            </a:r>
            <a:endParaRPr lang="en-US" dirty="0"/>
          </a:p>
          <a:p>
            <a:r>
              <a:rPr lang="en-US" dirty="0"/>
              <a:t/>
            </a:r>
            <a:endParaRPr lang="en-US" dirty="0"/>
          </a:p>
          <a:p>
            <a:r>
              <a:rPr lang="en-US" dirty="0"/>
              <a:t>“Good day. I’m Magala, and this is Nhlanhla. We’re presenting MzansiRide SafeAI: a safety intelligence platform for ride operators, built for passengers in South Africa. I’ll take you through the problem and our solution. Nhlanhla will cover the architecture and the frontend. I’ll come back for the AI, and then Nhlanhla will explain our AWS implementation and run the live demo before I close.”</a:t>
            </a:r>
            <a:endParaRPr lang="en-US" dirty="0"/>
          </a:p>
          <a:p>
            <a:r>
              <a:rPr lang="en-US" dirty="0"/>
              <a:t/>
            </a:r>
            <a:endParaRPr lang="en-US" dirty="0"/>
          </a:p>
          <a:p>
            <a:r>
              <a:rPr lang="en-US" dirty="0"/>
              <a:t>Cue: don’t linger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PICTURE THIS</a:t>
            </a:r>
            <a:endParaRPr lang="en-US" dirty="0"/>
          </a:p>
          <a:p>
            <a:r>
              <a:rPr lang="en-US" dirty="0"/>
              <a:t/>
            </a:r>
            <a:endParaRPr lang="en-US" dirty="0"/>
          </a:p>
          <a:p>
            <a:r>
              <a:rPr lang="en-US" dirty="0"/>
              <a:t>Magala · 0:20 · about 30 seconds</a:t>
            </a:r>
            <a:endParaRPr lang="en-US" dirty="0"/>
          </a:p>
          <a:p>
            <a:r>
              <a:rPr lang="en-US" dirty="0"/>
              <a:t/>
            </a:r>
            <a:endParaRPr lang="en-US" dirty="0"/>
          </a:p>
          <a:p>
            <a:r>
              <a:rPr lang="en-US" dirty="0"/>
              <a:t>“Imagine you’re in the back of a ride at night. The car stops somewhere you don’t recognise. Is it a detour? A phone call? Something worse?” [Pause.]</a:t>
            </a:r>
            <a:endParaRPr lang="en-US" dirty="0"/>
          </a:p>
          <a:p>
            <a:r>
              <a:rPr lang="en-US" dirty="0"/>
              <a:t/>
            </a:r>
            <a:endParaRPr lang="en-US" dirty="0"/>
          </a:p>
          <a:p>
            <a:r>
              <a:rPr lang="en-US" dirty="0"/>
              <a:t>“Now imagine finding your phone, opening an app and pressing the right button, while your heart is racing.” [Pause.] “A panic button asks you to act in the hardest moment of your journey. We asked a different question: what if the system noticed first? This is MzansiRide SafeAI.”</a:t>
            </a:r>
            <a:endParaRPr lang="en-US" dirty="0"/>
          </a:p>
          <a:p>
            <a:r>
              <a:rPr lang="en-US" dirty="0"/>
              <a:t/>
            </a:r>
            <a:endParaRPr lang="en-US" dirty="0"/>
          </a:p>
          <a:p>
            <a:r>
              <a:rPr lang="en-US" dirty="0"/>
              <a:t>Cue: speak slowly and let the last line land before you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SAFETY SHOULDN’T DEPEND ON A BUTTON</a:t>
            </a:r>
            <a:endParaRPr lang="en-US" dirty="0"/>
          </a:p>
          <a:p>
            <a:r>
              <a:rPr lang="en-US" dirty="0"/>
              <a:t/>
            </a:r>
            <a:endParaRPr lang="en-US" dirty="0"/>
          </a:p>
          <a:p>
            <a:r>
              <a:rPr lang="en-US" dirty="0"/>
              <a:t>Magala · 1:05 · about 60 seconds</a:t>
            </a:r>
            <a:endParaRPr lang="en-US" dirty="0"/>
          </a:p>
          <a:p>
            <a:r>
              <a:rPr lang="en-US" dirty="0"/>
              <a:t/>
            </a:r>
            <a:endParaRPr lang="en-US" dirty="0"/>
          </a:p>
          <a:p>
            <a:r>
              <a:rPr lang="en-US" dirty="0"/>
              <a:t>“Let’s start with why this matters. For millions of South Africans, especially women travelling alone, getting into a car with an unfamiliar driver is a calculation made on every trip. Students and daily commuters worry about unexpected stops, route changes, and whether anyone they trust knows where they are. Today’s answer is the panic button, and it has three weaknesses. It is reactive: it only works if you’re able to press it. It is blunt: every unusual event looks the same. And it is invisible to the operator, who often learns about an incident when a complaint arrives, not when it begins. Cost matters too. Students and commuters need cheaper travel, and shared rides can help, but only if people feel safe sharing. So we asked one question: how can AI and cloud technology detect a problem early, support the passenger, and give the operator visibility, without ever assuming the worst about anyone?”</a:t>
            </a:r>
            <a:endParaRPr lang="en-US" dirty="0"/>
          </a:p>
          <a:p>
            <a:r>
              <a:rPr lang="en-US" dirty="0"/>
              <a:t/>
            </a:r>
            <a:endParaRPr lang="en-US" dirty="0"/>
          </a:p>
          <a:p>
            <a:r>
              <a:rPr lang="en-US" dirty="0"/>
              <a:t>Cue: add a statistic only if you can name its source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PROACTIVE, NOT REACTIVE</a:t>
            </a:r>
            <a:endParaRPr lang="en-US" dirty="0"/>
          </a:p>
          <a:p>
            <a:r>
              <a:rPr lang="en-US" dirty="0"/>
              <a:t/>
            </a:r>
            <a:endParaRPr lang="en-US" dirty="0"/>
          </a:p>
          <a:p>
            <a:r>
              <a:rPr lang="en-US" dirty="0"/>
              <a:t>Magala · 2:05 · about 30 seconds</a:t>
            </a:r>
            <a:endParaRPr lang="en-US" dirty="0"/>
          </a:p>
          <a:p>
            <a:r>
              <a:rPr lang="en-US" dirty="0"/>
              <a:t/>
            </a:r>
            <a:endParaRPr lang="en-US" dirty="0"/>
          </a:p>
          <a:p>
            <a:r>
              <a:rPr lang="en-US" dirty="0"/>
              <a:t>“We didn’t set out to build a better panic button. The difference is who acts first. On the left, a typical panic button needs you to notice, find it and press it. On the right, our system watches the trip data for you, checks in on WhatsApp with a single tap, uses rules to detect and AI to explain, and gives the operator a live view. Proactive, not reactive.”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HOW IT WORKS</a:t>
            </a:r>
            <a:endParaRPr lang="en-US" dirty="0"/>
          </a:p>
          <a:p>
            <a:r>
              <a:rPr lang="en-US" dirty="0"/>
              <a:t/>
            </a:r>
            <a:endParaRPr lang="en-US" dirty="0"/>
          </a:p>
          <a:p>
            <a:r>
              <a:rPr lang="en-US" dirty="0"/>
              <a:t>Magala · 3:05 · about 45 seconds</a:t>
            </a:r>
            <a:endParaRPr lang="en-US" dirty="0"/>
          </a:p>
          <a:p>
            <a:r>
              <a:rPr lang="en-US" dirty="0"/>
              <a:t/>
            </a:r>
            <a:endParaRPr lang="en-US" dirty="0"/>
          </a:p>
          <a:p>
            <a:r>
              <a:rPr lang="en-US" dirty="0"/>
              <a:t>“Here’s how it works. One: the passenger requests a ride, sees the driver and vehicle, and switches on Safe Journey Mode. Two: rules watch the trip for a long unexpected stop or a big route deviation. Three: when a rule fires, we check in on WhatsApp and in the app: ‘Are you safe? Reply 1 for yes, 2 for help.’ Four: if she replies help, or doesn’t reply, the system escalates. Five: the operator sees it on a live dashboard with an AI summary, and everything is recorded. We never assume the driver is acting maliciously. A stop can have an innocent explanation, so the passenger is always asked first. In the prototype, the stops and deviations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A CHECK-IN, NOT AN ALARM</a:t>
            </a:r>
            <a:endParaRPr lang="en-US" dirty="0"/>
          </a:p>
          <a:p>
            <a:r>
              <a:rPr lang="en-US" dirty="0"/>
              <a:t/>
            </a:r>
            <a:endParaRPr lang="en-US" dirty="0"/>
          </a:p>
          <a:p>
            <a:r>
              <a:rPr lang="en-US" dirty="0"/>
              <a:t>Magala · 3:50 · about 40 seconds</a:t>
            </a:r>
            <a:endParaRPr lang="en-US" dirty="0"/>
          </a:p>
          <a:p>
            <a:r>
              <a:rPr lang="en-US" dirty="0"/>
              <a:t/>
            </a:r>
            <a:endParaRPr lang="en-US" dirty="0"/>
          </a:p>
          <a:p>
            <a:r>
              <a:rPr lang="en-US" dirty="0"/>
              <a:t>“We chose WhatsApp for three reasons. It works outside our app, so nothing needs to be opened. It’s already on every phone, with no extra app to install. And it asks for one tap, not a search for a button in a crisis. Reply 1 and the alert closes. Reply 2, or no reply, and escalation begins. Silence is recorded as a fact, never as a conclusion.”</a:t>
            </a:r>
            <a:endParaRPr lang="en-US" dirty="0"/>
          </a:p>
          <a:p>
            <a:r>
              <a:rPr lang="en-US" dirty="0"/>
              <a:t/>
            </a:r>
            <a:endParaRPr lang="en-US" dirty="0"/>
          </a:p>
          <a:p>
            <a:r>
              <a:rPr lang="en-US" dirty="0"/>
              <a:t>Cue: the message on screen is an example. Don’t say WhatsApp needs no mobile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IF YOU DON’T ANSWER</a:t>
            </a:r>
            <a:endParaRPr lang="en-US" dirty="0"/>
          </a:p>
          <a:p>
            <a:r>
              <a:rPr lang="en-US" dirty="0"/>
              <a:t/>
            </a:r>
            <a:endParaRPr lang="en-US" dirty="0"/>
          </a:p>
          <a:p>
            <a:r>
              <a:rPr lang="en-US" dirty="0"/>
              <a:t>Magala · 5:10 · about 45 seconds</a:t>
            </a:r>
            <a:endParaRPr lang="en-US" dirty="0"/>
          </a:p>
          <a:p>
            <a:r>
              <a:rPr lang="en-US" dirty="0"/>
              <a:t/>
            </a:r>
            <a:endParaRPr lang="en-US" dirty="0"/>
          </a:p>
          <a:p>
            <a:r>
              <a:rPr lang="en-US" dirty="0"/>
              <a:t>“A fair question: what happens if you don’t answer? Here is the workflow. The check-in goes out on WhatsApp and in the app. A wait window follows, and the operator sets how long. If there’s no reply, or she sends a 2, her trusted contact is messaged. The operator’s screen turns red with the AI’s one-line next step. Then a person acts: the operator calls the driver, and everything is logged. Reply 1 at any point and the alert closes. We never auto-call emergency services, and we never assume wrongdoing. People make those decisions.”</a:t>
            </a:r>
            <a:endParaRPr lang="en-US" dirty="0"/>
          </a:p>
          <a:p>
            <a:r>
              <a:rPr lang="en-US" dirty="0"/>
              <a:t/>
            </a:r>
            <a:endParaRPr lang="en-US" dirty="0"/>
          </a:p>
          <a:p>
            <a:r>
              <a:rPr lang="en-US" dirty="0"/>
              <a:t>Cue: this is built. The operator sets the wait window on the Fleet page (1 to 5 minutes) and a reminder goes out halfway. Before the demo, set it to 5 minutes so there is time to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WHATSAPP: A SAFETY LINE, NOT JUST AN ALERT</a:t>
            </a:r>
            <a:endParaRPr lang="en-US" dirty="0"/>
          </a:p>
          <a:p>
            <a:r>
              <a:rPr lang="en-US" dirty="0"/>
              <a:t/>
            </a:r>
            <a:endParaRPr lang="en-US" dirty="0"/>
          </a:p>
          <a:p>
            <a:r>
              <a:rPr lang="en-US" dirty="0"/>
              <a:t>Magala · 4:30 · about 40 seconds</a:t>
            </a:r>
            <a:endParaRPr lang="en-US" dirty="0"/>
          </a:p>
          <a:p>
            <a:r>
              <a:rPr lang="en-US" dirty="0"/>
              <a:t/>
            </a:r>
            <a:endParaRPr lang="en-US" dirty="0"/>
          </a:p>
          <a:p>
            <a:r>
              <a:rPr lang="en-US" dirty="0"/>
              <a:t>“WhatsApp isn’t only where alerts arrive. It’s a two-way channel on a real number. A passenger can type CHECK to look up a driver, which is simulated, TRIP to link the chat to her trip, STATUS to see it, SOS to alert her trusted contact, or 1 or 2 to answer a check-in. Or she can simply describe her situation and our AI assistant guides her. We’ll show that assistant in the AI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KNOW YOUR DRIVER BEFORE YOU GET IN</a:t>
            </a:r>
            <a:endParaRPr lang="en-US" dirty="0"/>
          </a:p>
          <a:p>
            <a:r>
              <a:rPr lang="en-US" dirty="0"/>
              <a:t/>
            </a:r>
            <a:endParaRPr lang="en-US" dirty="0"/>
          </a:p>
          <a:p>
            <a:r>
              <a:rPr lang="en-US" dirty="0"/>
              <a:t>Magala · 5:55 · about 40 seconds</a:t>
            </a:r>
            <a:endParaRPr lang="en-US" dirty="0"/>
          </a:p>
          <a:p>
            <a:r>
              <a:rPr lang="en-US" dirty="0"/>
              <a:t/>
            </a:r>
            <a:endParaRPr lang="en-US" dirty="0"/>
          </a:p>
          <a:p>
            <a:r>
              <a:rPr lang="en-US" dirty="0"/>
              <a:t>“We want passengers to know who is driving before they get in. At the start of every ride, the driver unlocks the app with Face ID or a fingerprint on their own phone. The passenger sees ‘Verified at the start of this ride’ or ‘Not verified’, and decides. We’re honest about the limits. A phone biometric proves who unlocked the phone, not that they hold a licence, so a one-time ID check at sign-up is still needed. Drivers without a biometric phone show as ‘Not verified’. Face data stays on the driver’s phone, and we only receive a pass or a fail.</a:t>
            </a:r>
            <a:endParaRPr lang="en-US" dirty="0"/>
          </a:p>
          <a:p>
            <a:r>
              <a:rPr lang="en-US" dirty="0"/>
              <a:t/>
            </a:r>
            <a:endParaRPr lang="en-US" dirty="0"/>
          </a:p>
          <a:p>
            <a:r>
              <a:rPr lang="en-US" dirty="0"/>
              <a:t>Cue: say clearly that the Face ID result is SIMULATED in the prototype: the driver card shows “Driver verified with Face ID at the start of this ride” (or “not verified”) when the trip starts. Real biometrics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SAFER AND CHEAPER</a:t>
            </a:r>
            <a:endParaRPr lang="en-US" dirty="0"/>
          </a:p>
          <a:p>
            <a:r>
              <a:rPr lang="en-US" dirty="0"/>
              <a:t/>
            </a:r>
            <a:endParaRPr lang="en-US" dirty="0"/>
          </a:p>
          <a:p>
            <a:r>
              <a:rPr lang="en-US" dirty="0"/>
              <a:t>Magala · 6:35 · about 40 seconds</a:t>
            </a:r>
            <a:endParaRPr lang="en-US" dirty="0"/>
          </a:p>
          <a:p>
            <a:r>
              <a:rPr lang="en-US" dirty="0"/>
              <a:t/>
            </a:r>
            <a:endParaRPr lang="en-US" dirty="0"/>
          </a:p>
          <a:p>
            <a:r>
              <a:rPr lang="en-US" dirty="0"/>
              <a:t>“Now the part that makes a difference to the pocket. The same trip costs R67.50 alone. Share it with one other person and it’s R40.50 each. Share it with two others and it’s R27.00 each, which is 60 percent cheaper per rider. We show that saving before you book, right next to the safety check-ins, because sharing only works when people feel safe sharing. These fares are illustrative, from simple pricing rules, on a simulated trip.”</a:t>
            </a:r>
            <a:endParaRPr lang="en-US" dirty="0"/>
          </a:p>
          <a:p>
            <a:r>
              <a:rPr lang="en-US" dirty="0"/>
              <a:t/>
            </a:r>
            <a:endParaRPr lang="en-US" dirty="0"/>
          </a:p>
          <a:p>
            <a:r>
              <a:rPr lang="en-US" dirty="0"/>
              <a:t>Handover: “That’s our solution. Nhlanhla will now show you how we built it.”</a:t>
            </a:r>
            <a:endParaRPr lang="en-US" dirty="0"/>
          </a:p>
          <a:p>
            <a:r>
              <a:rPr lang="en-US" dirty="0"/>
              <a:t/>
            </a:r>
            <a:endParaRPr lang="en-US" dirty="0"/>
          </a:p>
          <a:p>
            <a:r>
              <a:rPr lang="en-US" dirty="0"/>
              <a:t>Cue: don’t claim that no competitor offers shared rides. Some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WHAT THE AI DOES, AND DOESN’T</a:t>
            </a:r>
            <a:endParaRPr lang="en-US" dirty="0"/>
          </a:p>
          <a:p>
            <a:r>
              <a:rPr lang="en-US" dirty="0"/>
              <a:t/>
            </a:r>
            <a:endParaRPr lang="en-US" dirty="0"/>
          </a:p>
          <a:p>
            <a:r>
              <a:rPr lang="en-US" dirty="0"/>
              <a:t>Magala · 11:10 · about 90 seconds</a:t>
            </a:r>
            <a:endParaRPr lang="en-US" dirty="0"/>
          </a:p>
          <a:p>
            <a:r>
              <a:rPr lang="en-US" dirty="0"/>
              <a:t/>
            </a:r>
            <a:endParaRPr lang="en-US" dirty="0"/>
          </a:p>
          <a:p>
            <a:r>
              <a:rPr lang="en-US" dirty="0"/>
              <a:t>“Thanks, Nhlanhla. Now the AI, and just as importantly, how we don’t use it. We made one deliberate decision: detection and intelligence are separate. Detection is rule-based. Deterministic rules decide whether an event has occurred, for example a stop beyond a set time and off the planned route. That makes the system predictable, testable and auditable, and we never let a language model decide whether someone is in danger. Once a rule fires, the AI, running on Amazon Bedrock, does three jobs. It writes a one-line triage action for the fleet manager. It explains to the passenger, in calm plain language, what happened and what her options are. And it answers safety questions on WhatsApp and in the app, from approved guidance only. Why AI? Because turning a raw event into a calm, clear sentence in seconds is exactly what language models do well. And the limits: it never decides someone is in danger, never blames the driver or predicts crime, never claims a passenger is safe, and never replaces emergency services. Rules detect. AI explains. People decide.”</a:t>
            </a:r>
            <a:endParaRPr lang="en-US" dirty="0"/>
          </a:p>
          <a:p>
            <a:r>
              <a:rPr lang="en-US" dirty="0"/>
              <a:t/>
            </a:r>
            <a:endParaRPr lang="en-US" dirty="0"/>
          </a:p>
          <a:p>
            <a:r>
              <a:rPr lang="en-US" dirty="0"/>
              <a:t>Cue: if asked which model, name the Bedrock model you configured. If asked what happens when the AI is wrong: it never makes the safety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REQUEST A RIDE, SEE THE SAVING</a:t>
            </a:r>
            <a:endParaRPr lang="en-US" dirty="0"/>
          </a:p>
          <a:p>
            <a:r>
              <a:rPr lang="en-US" dirty="0"/>
              <a:t/>
            </a:r>
            <a:endParaRPr lang="en-US" dirty="0"/>
          </a:p>
          <a:p>
            <a:r>
              <a:rPr lang="en-US" dirty="0"/>
              <a:t>Nhlanhla · 9:00 · about 30 seconds</a:t>
            </a:r>
            <a:endParaRPr lang="en-US" dirty="0"/>
          </a:p>
          <a:p>
            <a:r>
              <a:rPr lang="en-US" dirty="0"/>
              <a:t/>
            </a:r>
            <a:endParaRPr lang="en-US" dirty="0"/>
          </a:p>
          <a:p>
            <a:r>
              <a:rPr lang="en-US" dirty="0"/>
              <a:t>“This is the working frontend. The passenger chooses a pickup and destination from predefined Johannesburg locations on real road routes, and sees the individual fare, R67.50 for this trip, next to the shared options: R40.50 with two riders and R27.00 with three. It’s marked simulated, and the fares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SAFE JOURNEY MODE IN ACTION</a:t>
            </a:r>
            <a:endParaRPr lang="en-US" dirty="0"/>
          </a:p>
          <a:p>
            <a:r>
              <a:rPr lang="en-US" dirty="0"/>
              <a:t/>
            </a:r>
            <a:endParaRPr lang="en-US" dirty="0"/>
          </a:p>
          <a:p>
            <a:r>
              <a:rPr lang="en-US" dirty="0"/>
              <a:t>Nhlanhla · 9:30 · about 30 seconds</a:t>
            </a:r>
            <a:endParaRPr lang="en-US" dirty="0"/>
          </a:p>
          <a:p>
            <a:r>
              <a:rPr lang="en-US" dirty="0"/>
              <a:t/>
            </a:r>
            <a:endParaRPr lang="en-US" dirty="0"/>
          </a:p>
          <a:p>
            <a:r>
              <a:rPr lang="en-US" dirty="0"/>
              <a:t>“Once the trip starts, Safe Journey Mode is on and watching for unusual stops and route changes. The passenger can see her trusted contact, share her trip, or send an SOS in one tap. The page says plainly that notifications are simulated unless the number is on our demo allow-list, so nothing here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EVERY TRIP LEAVES A RECORD</a:t>
            </a:r>
            <a:endParaRPr lang="en-US" dirty="0"/>
          </a:p>
          <a:p>
            <a:r>
              <a:rPr lang="en-US" dirty="0"/>
              <a:t/>
            </a:r>
            <a:endParaRPr lang="en-US" dirty="0"/>
          </a:p>
          <a:p>
            <a:r>
              <a:rPr lang="en-US" dirty="0"/>
              <a:t>Nhlanhla · 10:00 · about 30 seconds</a:t>
            </a:r>
            <a:endParaRPr lang="en-US" dirty="0"/>
          </a:p>
          <a:p>
            <a:r>
              <a:rPr lang="en-US" dirty="0"/>
              <a:t/>
            </a:r>
            <a:endParaRPr lang="en-US" dirty="0"/>
          </a:p>
          <a:p>
            <a:r>
              <a:rPr lang="en-US" dirty="0"/>
              <a:t>“When the trip ends, the summary shows the fare, the distance and the number of safety alerts, plus what sharing would have saved, about R27 on this trip. Below it, the safety log is stored in DynamoDB. On the right, the driver card says ‘demo driver, not verified’ and tells the passenger to check the plate, the car and the driver before getting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WHAT THE OPERATOR SEES</a:t>
            </a:r>
            <a:endParaRPr lang="en-US" dirty="0"/>
          </a:p>
          <a:p>
            <a:r>
              <a:rPr lang="en-US" dirty="0"/>
              <a:t/>
            </a:r>
            <a:endParaRPr lang="en-US" dirty="0"/>
          </a:p>
          <a:p>
            <a:r>
              <a:rPr lang="en-US" dirty="0"/>
              <a:t>Nhlanhla · 10:30 · about 40 seconds</a:t>
            </a:r>
            <a:endParaRPr lang="en-US" dirty="0"/>
          </a:p>
          <a:p>
            <a:r>
              <a:rPr lang="en-US" dirty="0"/>
              <a:t/>
            </a:r>
            <a:endParaRPr lang="en-US" dirty="0"/>
          </a:p>
          <a:p>
            <a:r>
              <a:rPr lang="en-US" dirty="0"/>
              <a:t>“This is what the operator sees. Most trips are green. The one that needs attention turns red, with the AI’s one-line next step: stopped off-route, passenger unresponsive on WhatsApp, request an immediate driver voice call. Operators get live status, a clear next step instead of a raw alert, and a full record of every alert and response.”</a:t>
            </a:r>
            <a:endParaRPr lang="en-US" dirty="0"/>
          </a:p>
          <a:p>
            <a:r>
              <a:rPr lang="en-US" dirty="0"/>
              <a:t/>
            </a:r>
            <a:endParaRPr lang="en-US" dirty="0"/>
          </a:p>
          <a:p>
            <a:r>
              <a:rPr lang="en-US" dirty="0"/>
              <a:t>Handover: “I’ll hand back to Magala to explain the AI.”</a:t>
            </a:r>
            <a:endParaRPr lang="en-US" dirty="0"/>
          </a:p>
          <a:p>
            <a:r>
              <a:rPr lang="en-US" dirty="0"/>
              <a:t/>
            </a:r>
            <a:endParaRPr lang="en-US" dirty="0"/>
          </a:p>
          <a:p>
            <a:r>
              <a:rPr lang="en-US" dirty="0"/>
              <a:t>Cue: this is a real screenshot of the live Fleet page. The trips are a simulated demo fleet; the AI triage lines are real Amazon Bedrock output.</a:t>
            </a:r>
            <a:endParaRPr lang="en-US" dirty="0"/>
          </a:p>
          <a:p>
            <a:r>
              <a:rPr lang="en-US" dirty="0"/>
              <a:t>Point at the bottom panel: “This is system health. Is WhatsApp working, which AI model is answering, what was sent today, and any errors in the last hour. We see a problem before the passenger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EXPECTED IMPACT</a:t>
            </a:r>
            <a:endParaRPr lang="en-US" dirty="0"/>
          </a:p>
          <a:p>
            <a:r>
              <a:rPr lang="en-US" dirty="0"/>
              <a:t/>
            </a:r>
            <a:endParaRPr lang="en-US" dirty="0"/>
          </a:p>
          <a:p>
            <a:r>
              <a:rPr lang="en-US" dirty="0"/>
              <a:t>Nhlanhla · 18:55 · about 30 seconds</a:t>
            </a:r>
            <a:endParaRPr lang="en-US" dirty="0"/>
          </a:p>
          <a:p>
            <a:r>
              <a:rPr lang="en-US" dirty="0"/>
              <a:t/>
            </a:r>
            <a:endParaRPr lang="en-US" dirty="0"/>
          </a:p>
          <a:p>
            <a:r>
              <a:rPr lang="en-US" dirty="0"/>
              <a:t>“Three groups benefit. Passengers get calm, clear support and a one-tap check-in. Operators get real-time visibility, faster response and a record of every alert. Communities get cheaper shared travel: a trip at R67.50 alone drops to R27.00 each when three riders share. Those are illustrative fares.”</a:t>
            </a:r>
            <a:endParaRPr lang="en-US" dirty="0"/>
          </a:p>
          <a:p>
            <a:r>
              <a:rPr lang="en-US" dirty="0"/>
              <a:t/>
            </a:r>
            <a:endParaRPr lang="en-US" dirty="0"/>
          </a:p>
          <a:p>
            <a:r>
              <a:rPr lang="en-US" dirty="0"/>
              <a:t>Handover: “I’ll hand back to Magala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HOW WE BUILT IT ON AWS</a:t>
            </a:r>
            <a:endParaRPr lang="en-US" dirty="0"/>
          </a:p>
          <a:p>
            <a:r>
              <a:rPr lang="en-US" dirty="0"/>
              <a:t/>
            </a:r>
            <a:endParaRPr lang="en-US" dirty="0"/>
          </a:p>
          <a:p>
            <a:r>
              <a:rPr lang="en-US" dirty="0"/>
              <a:t>Nhlanhla · 7:15 · about 75 seconds</a:t>
            </a:r>
            <a:endParaRPr lang="en-US" dirty="0"/>
          </a:p>
          <a:p>
            <a:r>
              <a:rPr lang="en-US" dirty="0"/>
              <a:t/>
            </a:r>
            <a:endParaRPr lang="en-US" dirty="0"/>
          </a:p>
          <a:p>
            <a:r>
              <a:rPr lang="en-US" dirty="0"/>
              <a:t>“Thanks. Let me walk one alert through our architecture. We chose a serverless design on AWS, so it scales automatically and cost grows with use. The React app is served through Amazon CloudFront, and it sends requests to Amazon API Gateway, our front door. API Gateway is also the webhook for WhatsApp: every message and reply from the passenger arrives here. It triggers AWS Lambda, the brain. Lambda runs the rule engine, sends the check-ins, handles escalation, and calls Amazon Bedrock, which returns the triage line, the explanation or the assistant’s answer. Amazon DynamoDB stores trips, alerts and the safety log, and Amazon CloudWatch records logs so we can trace every alert. The red dashed line is the outbound side: check-ins and AI replies travel from Lambda back out to the passenger on WhatsApp. In one line: WhatsApp is how we reach the passenger, and API Gateway is how that conversation reaches our system.”</a:t>
            </a:r>
            <a:endParaRPr lang="en-US" dirty="0"/>
          </a:p>
          <a:p>
            <a:r>
              <a:rPr lang="en-US" dirty="0"/>
              <a:t/>
            </a:r>
            <a:endParaRPr lang="en-US" dirty="0"/>
          </a:p>
          <a:p>
            <a:r>
              <a:rPr lang="en-US" dirty="0"/>
              <a:t>Cue: point to each box as you name it. If a service isn’t wired up yet, call it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BUILT TO BE RESPONSIBLE</a:t>
            </a:r>
            <a:endParaRPr lang="en-US" dirty="0"/>
          </a:p>
          <a:p>
            <a:r>
              <a:rPr lang="en-US" dirty="0"/>
              <a:t/>
            </a:r>
            <a:endParaRPr lang="en-US" dirty="0"/>
          </a:p>
          <a:p>
            <a:r>
              <a:rPr lang="en-US" dirty="0"/>
              <a:t>Nhlanhla · 8:30 · about 30 seconds</a:t>
            </a:r>
            <a:endParaRPr lang="en-US" dirty="0"/>
          </a:p>
          <a:p>
            <a:r>
              <a:rPr lang="en-US" dirty="0"/>
              <a:t/>
            </a:r>
            <a:endParaRPr lang="en-US" dirty="0"/>
          </a:p>
          <a:p>
            <a:r>
              <a:rPr lang="en-US" dirty="0"/>
              <a:t>“Security and privacy are designed in. We use simulated data only, so no real location data is collected. An unusual event is a prompt to check in, never proof of wrongdoing. The AI works only from approved safety information, and it is clearly not an emergency service: in danger, call 10111 or 112. We store minimal data, control access at the backend, and keep credentials out of the frontend. We’ve designed with POPIA in mind, and a production version would need a formal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WORKING, SIMULATED AND STILL TO COME</a:t>
            </a:r>
            <a:endParaRPr lang="en-US" dirty="0"/>
          </a:p>
          <a:p>
            <a:r>
              <a:rPr lang="en-US" dirty="0"/>
              <a:t/>
            </a:r>
            <a:endParaRPr lang="en-US" dirty="0"/>
          </a:p>
          <a:p>
            <a:r>
              <a:rPr lang="en-US" dirty="0"/>
              <a:t>Nhlanhla · 17:35 · about 40 seconds</a:t>
            </a:r>
            <a:endParaRPr lang="en-US" dirty="0"/>
          </a:p>
          <a:p>
            <a:r>
              <a:rPr lang="en-US" dirty="0"/>
              <a:t/>
            </a:r>
            <a:endParaRPr lang="en-US" dirty="0"/>
          </a:p>
          <a:p>
            <a:r>
              <a:rPr lang="en-US" dirty="0"/>
              <a:t>“Here’s an honest view of where we are. Working today: ride request with the fare comparison and a monthly budget; Safe Journey Mode with trusted contact, share trip and SOS; proactive WhatsApp check-ins on a real number, answered with 1, 2 or in your own words; the no-reply workflow with an operator-set wait window; the fleet dashboard with AI triage; the Amazon Bedrock assistant; and the safety log in DynamoDB. Simulated: trips and route events, driver profiles and the Face ID result, and notifications unless the number is on the demo allow-list. Still to come: live GPS, real driver verification, emergency-service integration, real payments, and a POPIA assessment with an operator pilot. We do not claim to prevent crime, guarantee safety or verify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OUTSTANDING WORK</a:t>
            </a:r>
            <a:endParaRPr lang="en-US" dirty="0"/>
          </a:p>
          <a:p>
            <a:r>
              <a:rPr lang="en-US" dirty="0"/>
              <a:t/>
            </a:r>
            <a:endParaRPr lang="en-US" dirty="0"/>
          </a:p>
          <a:p>
            <a:r>
              <a:rPr lang="en-US" dirty="0"/>
              <a:t>Nhlanhla · 18:15 · about 40 seconds</a:t>
            </a:r>
            <a:endParaRPr lang="en-US" dirty="0"/>
          </a:p>
          <a:p>
            <a:r>
              <a:rPr lang="en-US" dirty="0"/>
              <a:t/>
            </a:r>
            <a:endParaRPr lang="en-US" dirty="0"/>
          </a:p>
          <a:p>
            <a:r>
              <a:rPr lang="en-US" dirty="0"/>
              <a:t>“We set ourselves six things to finish before Tuesday. All six are built and in today’s demo: the app is mobile friendly and can be installed on a phone; the AI assistant button is on every page; fares show weekly and monthly totals; the full no-reply workflow runs with an operator-set wait window; and the driver’s Face ID check shows at the start of each ride, simulated for noAnd operators now sign in with Amazon Cognito, so only the operator’s safety team can open the fleet dashboard.”d.”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CLOSING</a:t>
            </a:r>
            <a:endParaRPr lang="en-US" dirty="0"/>
          </a:p>
          <a:p>
            <a:r>
              <a:rPr lang="en-US" dirty="0"/>
              <a:t/>
            </a:r>
            <a:endParaRPr lang="en-US" dirty="0"/>
          </a:p>
          <a:p>
            <a:r>
              <a:rPr lang="en-US" dirty="0"/>
              <a:t>Magala · 19:25 · about 70 seconds</a:t>
            </a:r>
            <a:endParaRPr lang="en-US" dirty="0"/>
          </a:p>
          <a:p>
            <a:r>
              <a:rPr lang="en-US" dirty="0"/>
              <a:t/>
            </a:r>
            <a:endParaRPr lang="en-US" dirty="0"/>
          </a:p>
          <a:p>
            <a:r>
              <a:rPr lang="en-US" dirty="0"/>
              <a:t>“Let’s go back to that car.” [Pause for a full beat.] “It’s night. It has stopped somewhere you don’t recognise. In most apps today, what happens next depends on you finding a button.</a:t>
            </a:r>
            <a:endParaRPr lang="en-US" dirty="0"/>
          </a:p>
          <a:p>
            <a:r>
              <a:rPr lang="en-US" dirty="0"/>
              <a:t/>
            </a:r>
            <a:endParaRPr lang="en-US" dirty="0"/>
          </a:p>
          <a:p>
            <a:r>
              <a:rPr lang="en-US" dirty="0"/>
              <a:t>In MzansiRide SafeAI, it doesn’t. Your phone buzzes on WhatsApp: ‘Are you safe? Reply 1 or 2.’ One tap. And if you can’t reply, that silence isn’t ignored. The operator already has a clear next step on their screen, and every alert and response is on record. What you’ve seen today isn’t a mock-up of an idea. It’s a working prototype on AWS: a real WhatsApp number, an assistant on Amazon Bedrock, and a safety log in DynamoDB. The trips and drivers are simulated, and we’ve said so on every screen. Three things to remember. One: proactive, not reactive. We don’t wait for the worst moment to ask someone to act. Two: rules detect, AI explains, people decide. The AI helps, and it never judges and never blames. Three: it’s built to scale. It’s serverless, so the same design serves one operator or a national fleet, and the cost grows only with use. And safety isn’t only about fear. It’s about access. A student who shares a R67.50 ride and pays R27.00 is only willing to share if she feels safe doing it. Our next steps are live route data, driver verification, a POPIA assessment, and a pilot with a real operator. We’re not asking anyone to hand their safety to AI. We’re showing how AI can mean fewer passengers face that moment alone, and fewer operators find out too late. Safety shouldn’t depend on a button. Thank you.”</a:t>
            </a:r>
            <a:endParaRPr lang="en-US" dirty="0"/>
          </a:p>
          <a:p>
            <a:r>
              <a:rPr lang="en-US" dirty="0"/>
              <a:t/>
            </a:r>
            <a:endParaRPr lang="en-US" dirty="0"/>
          </a:p>
          <a:p>
            <a:r>
              <a:rPr lang="en-US" dirty="0"/>
              <a:t>Cue: slow down on the last sentence, say “Thank you” quietly, and add nothing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WHAT WE’LL COVER</a:t>
            </a:r>
            <a:endParaRPr lang="en-US" dirty="0"/>
          </a:p>
          <a:p>
            <a:r>
              <a:rPr lang="en-US" dirty="0"/>
              <a:t/>
            </a:r>
            <a:endParaRPr lang="en-US" dirty="0"/>
          </a:p>
          <a:p>
            <a:r>
              <a:rPr lang="en-US" dirty="0"/>
              <a:t>Magala · 0:50 · about 15 seconds</a:t>
            </a:r>
            <a:endParaRPr lang="en-US" dirty="0"/>
          </a:p>
          <a:p>
            <a:r>
              <a:rPr lang="en-US" dirty="0"/>
              <a:t/>
            </a:r>
            <a:endParaRPr lang="en-US" dirty="0"/>
          </a:p>
          <a:p>
            <a:r>
              <a:rPr lang="en-US" dirty="0"/>
              <a:t>“Here’s our route: the problem, our solution, the architecture and security, the frontend, the AI integration, our AWS implementation, the working prototype, and what’s still outstanding. Nhlanhla and I will share it, and we’ll tell you when we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WHO IT’S FOR</a:t>
            </a:r>
            <a:endParaRPr lang="en-US" dirty="0"/>
          </a:p>
          <a:p>
            <a:r>
              <a:rPr lang="en-US" dirty="0"/>
              <a:t/>
            </a:r>
            <a:endParaRPr lang="en-US" dirty="0"/>
          </a:p>
          <a:p>
            <a:r>
              <a:rPr lang="en-US" dirty="0"/>
              <a:t>Magala · 2:35 · about 30 seconds</a:t>
            </a:r>
            <a:endParaRPr lang="en-US" dirty="0"/>
          </a:p>
          <a:p>
            <a:r>
              <a:rPr lang="en-US" dirty="0"/>
              <a:t/>
            </a:r>
            <a:endParaRPr lang="en-US" dirty="0"/>
          </a:p>
          <a:p>
            <a:r>
              <a:rPr lang="en-US" dirty="0"/>
              <a:t>“We built this for six groups: women and vulnerable passengers who want extra safety support; students who need affordable transport; daily commuters; budget-conscious passengers interested in shared rides; drivers, whose details and trip status passengers can see; and transport operators, who gain clearer visibility of trips and alerts. In this prototype, every passenger and driver profile is simulated, not real people’s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THE AI ASSISTANT IN ACTION</a:t>
            </a:r>
            <a:endParaRPr lang="en-US" dirty="0"/>
          </a:p>
          <a:p>
            <a:r>
              <a:rPr lang="en-US" dirty="0"/>
              <a:t/>
            </a:r>
            <a:endParaRPr lang="en-US" dirty="0"/>
          </a:p>
          <a:p>
            <a:r>
              <a:rPr lang="en-US" dirty="0"/>
              <a:t>Magala · 12:40 · about 40 seconds</a:t>
            </a:r>
            <a:endParaRPr lang="en-US" dirty="0"/>
          </a:p>
          <a:p>
            <a:r>
              <a:rPr lang="en-US" dirty="0"/>
              <a:t/>
            </a:r>
            <a:endParaRPr lang="en-US" dirty="0"/>
          </a:p>
          <a:p>
            <a:r>
              <a:rPr lang="en-US" dirty="0"/>
              <a:t>“Here’s the assistant in a real chat with our prototype number. When we asked what it can do, it explained that it only helps with trip safety and the app. When we asked about Uber, it stayed on topic, said this is a prototype with simulated trips, and said Uber is a different service. In danger, it points to 10111 or 112. It even greets in isiZulu. People use it on WhatsApp by typing or replying 1 or 2, and in the app through the Assistant tab. Operators see the AI’s one-line next step on the fleet dashboard.”</a:t>
            </a:r>
            <a:endParaRPr lang="en-US" dirty="0"/>
          </a:p>
          <a:p>
            <a:r>
              <a:rPr lang="en-US" dirty="0"/>
              <a:t/>
            </a:r>
            <a:endParaRPr lang="en-US" dirty="0"/>
          </a:p>
          <a:p>
            <a:r>
              <a:rPr lang="en-US" dirty="0"/>
              <a:t>Handover: “Nhlanhla will now explain why we chose each AWS service, and then show you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WHY EACH AWS SERVICE</a:t>
            </a:r>
            <a:endParaRPr lang="en-US" dirty="0"/>
          </a:p>
          <a:p>
            <a:r>
              <a:rPr lang="en-US" dirty="0"/>
              <a:t/>
            </a:r>
            <a:endParaRPr lang="en-US" dirty="0"/>
          </a:p>
          <a:p>
            <a:r>
              <a:rPr lang="en-US" dirty="0"/>
              <a:t>Nhlanhla · 13:20 · about 60 seconds</a:t>
            </a:r>
            <a:endParaRPr lang="en-US" dirty="0"/>
          </a:p>
          <a:p>
            <a:r>
              <a:rPr lang="en-US" dirty="0"/>
              <a:t/>
            </a:r>
            <a:endParaRPr lang="en-US" dirty="0"/>
          </a:p>
          <a:p>
            <a:r>
              <a:rPr lang="en-US" dirty="0"/>
              <a:t>“Thanks. Now let me explain why we chose each AWS service. CloudFront serves the app quickly and securely, with no web servers for us to run. API Gateway is the front door, including for WhatsApp, and it’s managed, secure and scales with traffic. Lambda runs our rules, check-ins, escalation and AI calls, and we pay only when it runs, so the same code serves one trip or a national fleet. Bedrock gives us foundation models as a service, with no model servers to build. DynamoDB stores trips, alerts and the safety log, fast and scalable, which gives operators their audit trail. CloudWatch lets us trace and prove what happened. And IAM gives each function only the access it needs. It’s serverless throughout: we pay for what we use, and nothing sits idle.”</a:t>
            </a:r>
            <a:endParaRPr lang="en-US" dirty="0"/>
          </a:p>
          <a:p>
            <a:r>
              <a:rPr lang="en-US" dirty="0"/>
              <a:t/>
            </a:r>
            <a:endParaRPr lang="en-US" dirty="0"/>
          </a:p>
          <a:p>
            <a:r>
              <a:rPr lang="en-US" dirty="0"/>
              <a:t>Cue: delete the row of any service you haven’t actually wired up before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LIVE DEMO: THE MAIN USER JOURNEY</a:t>
            </a:r>
            <a:endParaRPr lang="en-US" dirty="0"/>
          </a:p>
          <a:p>
            <a:r>
              <a:rPr lang="en-US" dirty="0"/>
              <a:t/>
            </a:r>
            <a:endParaRPr lang="en-US" dirty="0"/>
          </a:p>
          <a:p>
            <a:r>
              <a:rPr lang="en-US" dirty="0"/>
              <a:t>Nhlanhla · 14:20 · about 3 minutes 15 seconds</a:t>
            </a:r>
            <a:endParaRPr lang="en-US" dirty="0"/>
          </a:p>
          <a:p>
            <a:r>
              <a:rPr lang="en-US" dirty="0"/>
              <a:t/>
            </a:r>
            <a:endParaRPr lang="en-US" dirty="0"/>
          </a:p>
          <a:p>
            <a:r>
              <a:rPr lang="en-US" dirty="0"/>
              <a:t>“Now let’s see it running. Here is the main user journey. One: I request a ride. Two: here’s the driver and vehicle, a labelled demo driver. Three: I switch on Safe Journey Mode. Four: I trigger a simulated stop. Five: watch the phone. The check-in arrives on WhatsApp.” [Hold up the phone. Reply 1, or deliberately don’t.] “Six: on the operator’s dashboard, the alert appears. Seven: finally, the shared-ride saving. Remember: the trip and events are simulated, the WhatsApp number is real, and the assistant runs on Amazon Bedrock.”</a:t>
            </a:r>
            <a:endParaRPr lang="en-US" dirty="0"/>
          </a:p>
          <a:p>
            <a:r>
              <a:rPr lang="en-US" dirty="0"/>
              <a:t/>
            </a:r>
            <a:endParaRPr lang="en-US" dirty="0"/>
          </a:p>
          <a:p>
            <a:r>
              <a:rPr lang="en-US" dirty="0"/>
              <a:t>Cue: before you start, set the Fleet wait window to 5 minutes and the simulator to 15× speed, so there is time to reply on the phone. If time allows, show the AWS console in this order: API Gateway, Lambda, DynamoDB, CloudWatch. Keep backup screenshots and a screen recording ready in case anything fails, and switch to them without apologising.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FULL ARCHITECTURE (backup slide for questions; not part of the 20-minute run)</a:t>
            </a:r>
            <a:endParaRPr lang="en-US" dirty="0"/>
          </a:p>
          <a:p>
            <a:r>
              <a:rPr lang="en-US" dirty="0"/>
              <a:t/>
            </a:r>
            <a:endParaRPr lang="en-US" dirty="0"/>
          </a:p>
          <a:p>
            <a:r>
              <a:rPr lang="en-US" dirty="0"/>
              <a:t>Use it if a judge asks how the pieces connect, especially WhatsApp. Walk it left to right:</a:t>
            </a:r>
            <a:endParaRPr lang="en-US" dirty="0"/>
          </a:p>
          <a:p>
            <a:r>
              <a:rPr lang="en-US" dirty="0"/>
              <a:t>"People reach us two ways: the web app through CloudFront, and WhatsApp through our open-source gateway on EC2. Both arrive at API Gateway. The api Lambda runs the rules and the no-answer ladder and stores everything in DynamoDB; the whatsapp Lambda verifies each webhook's signature and replies through the gateway. Bedrock explains alerts and writes the operator's triage line. Secrets are in SSM Parameter Store and every step is logged in CloudWatch. Operators sign in with Cognito, CloudWatch alarms email the team through SNS, and Location Service is planned."</a:t>
            </a:r>
            <a:endParaRPr lang="en-US" dirty="0"/>
          </a:p>
          <a:p>
            <a:r>
              <a:rPr lang="en-US" dirty="0"/>
              <a:t/>
            </a:r>
            <a:endParaRPr lang="en-US" dirty="0"/>
          </a:p>
          <a:p>
            <a:r>
              <a:rPr lang="en-US" dirty="0"/>
              <a:t>Point out the dashed boxes: the journey simulator is simulated; Location Service is planned. Cognito (operator sign-in) and SNS (alert emails to the team) are built; the SMS to the trusted contact is built but simulated until AWS enables SMS on our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2057400"/>
            <a:ext cx="640080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MzansiRide SafeAI  ·  AWS AI Hackathon 2026</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D8C7"/>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MzansiRide SafeAI  ·  AWS AI Hackathon 2026</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D8C7"/>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 Id="rId4" Type="http://schemas.openxmlformats.org/officeDocument/2006/relationships/image" Target="../media/live-fares.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 Id="rId7" Type="http://schemas.openxmlformats.org/officeDocument/2006/relationships/image" Target="../media/live-journey.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 Id="rId5" Type="http://schemas.openxmlformats.org/officeDocument/2006/relationships/image" Target="../media/live-record.png"/><Relationship Id="rId6" Type="http://schemas.openxmlformats.org/officeDocument/2006/relationships/image" Target="../media/live-driver.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 Id="rId6" Type="http://schemas.openxmlformats.org/officeDocument/2006/relationships/image" Target="../media/live-fleet.png"/><Relationship Id="rId7" Type="http://schemas.openxmlformats.org/officeDocument/2006/relationships/image" Target="../media/live-fleet-health.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image" Target="../media/icon-triangle-alert.png"/><Relationship Id="rId9" Type="http://schemas.openxmlformats.org/officeDocument/2006/relationships/image" Target="../media/icon-lightbulb.png"/><Relationship Id="rId10" Type="http://schemas.openxmlformats.org/officeDocument/2006/relationships/image" Target="../media/icon-network.png"/><Relationship Id="rId11" Type="http://schemas.openxmlformats.org/officeDocument/2006/relationships/image" Target="../media/icon-monitor-smartphone.png"/><Relationship Id="rId12" Type="http://schemas.openxmlformats.org/officeDocument/2006/relationships/image" Target="../media/icon-sparkles.png"/><Relationship Id="rId13" Type="http://schemas.openxmlformats.org/officeDocument/2006/relationships/image" Target="../media/icon-cloud.png"/><Relationship Id="rId14" Type="http://schemas.openxmlformats.org/officeDocument/2006/relationships/image" Target="../media/icon-circle-play.png"/><Relationship Id="rId15" Type="http://schemas.openxmlformats.org/officeDocument/2006/relationships/image" Target="../media/icon-list-checks.png"/><Relationship Id="rId1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image" Target="../media/icon-shield-check.png"/><Relationship Id="rId9" Type="http://schemas.openxmlformats.org/officeDocument/2006/relationships/image" Target="../media/icon-graduation-cap.png"/><Relationship Id="rId10" Type="http://schemas.openxmlformats.org/officeDocument/2006/relationships/image" Target="../media/icon-bus.png"/><Relationship Id="rId11" Type="http://schemas.openxmlformats.org/officeDocument/2006/relationships/image" Target="../media/icon-wallet.png"/><Relationship Id="rId12" Type="http://schemas.openxmlformats.org/officeDocument/2006/relationships/image" Target="../media/icon-car.png"/><Relationship Id="rId13" Type="http://schemas.openxmlformats.org/officeDocument/2006/relationships/image" Target="../media/icon-building-2.png"/><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image" Target="../media/wa-chat.png"/><Relationship Id="rId5" Type="http://schemas.openxmlformats.org/officeDocument/2006/relationships/image" Target="../media/live-assistant.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image" Target="../media/icon-globe.png"/><Relationship Id="rId9" Type="http://schemas.openxmlformats.org/officeDocument/2006/relationships/image" Target="../media/icon-door-open.png"/><Relationship Id="rId10" Type="http://schemas.openxmlformats.org/officeDocument/2006/relationships/image" Target="../media/icon-zap.png"/><Relationship Id="rId11" Type="http://schemas.openxmlformats.org/officeDocument/2006/relationships/image" Target="../media/icon-sparkles.png"/><Relationship Id="rId12" Type="http://schemas.openxmlformats.org/officeDocument/2006/relationships/image" Target="../media/icon-database.png"/><Relationship Id="rId13" Type="http://schemas.openxmlformats.org/officeDocument/2006/relationships/image" Target="../media/icon-activity.png"/><Relationship Id="rId14" Type="http://schemas.openxmlformats.org/officeDocument/2006/relationships/image" Target="../media/icon-key-round.png"/><Relationship Id="rId15" Type="http://schemas.openxmlformats.org/officeDocument/2006/relationships/image" Target="../media/icon-message-circle.png"/><Relationship Id="rId1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image" Target="../media/demo-steps.png"/><Relationship Id="rId7" Type="http://schemas.openxmlformats.org/officeDocument/2006/relationships/image" Target="../media/icon-circle-play.png"/><Relationship Id="rId8" Type="http://schemas.openxmlformats.org/officeDocument/2006/relationships/image" Target="../media/icon-message-circle.png"/><Relationship Id="rId9" Type="http://schemas.openxmlformats.org/officeDocument/2006/relationships/image" Target="../media/icon-sparkles.png"/><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7" Type="http://schemas.openxmlformats.org/officeDocument/2006/relationships/image" Target="../media/live-journey.png"/><Relationship Id="rId8" Type="http://schemas.openxmlformats.org/officeDocument/2006/relationships/image" Target="../media/arch-mermaid.png"/><Relationship Id="rId9"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6400800" cy="320040"/>
          </a:xfrm>
          <a:prstGeom prst="rect">
            <a:avLst/>
          </a:prstGeom>
          <a:noFill/>
          <a:ln/>
        </p:spPr>
        <p:txBody>
          <a:bodyPr wrap="square" lIns="0" tIns="0" rIns="0" bIns="0" rtlCol="0" anchor="t"/>
          <a:lstStyle/>
          <a:p>
            <a:pPr indent="0" marL="0">
              <a:buNone/>
            </a:pPr>
            <a:r>
              <a:rPr lang="en-US" sz="1400" b="1" spc="300" kern="0" dirty="0">
                <a:solidFill>
                  <a:schemeClr val="accent5"/>
                </a:solidFill>
              </a:rPr>
              <a:t>PRAESIGNIS × AWS HACKATHON 2026</a:t>
            </a:r>
            <a:endParaRPr lang="en-US" sz="1400" dirty="0"/>
          </a:p>
        </p:txBody>
      </p:sp>
      <p:sp>
        <p:nvSpPr>
          <p:cNvPr id="3" name="Text 1"/>
          <p:cNvSpPr/>
          <p:nvPr>
            <p:ph idx="101" type="title" hasCustomPrompt="1"/>
          </p:nvPr>
        </p:nvSpPr>
        <p:spPr>
          <a:xfrm>
            <a:off x="731520" y="2057400"/>
            <a:ext cx="6400800" cy="1280160"/>
          </a:xfrm>
          <a:prstGeom prst="rect">
            <a:avLst/>
          </a:prstGeom>
          <a:noFill/>
          <a:ln/>
        </p:spPr>
        <p:txBody>
          <a:bodyPr wrap="square" lIns="0" tIns="0" rIns="0" bIns="0" rtlCol="0" anchor="ctr"/>
          <a:lstStyle/>
          <a:p>
            <a:pPr algn="l" indent="0" marL="0">
              <a:buNone/>
            </a:pPr>
            <a:r>
              <a:rPr lang="en-US" sz="4800" b="1" dirty="0">
                <a:solidFill>
                  <a:schemeClr val="bg1"/>
                </a:solidFill>
              </a:rPr>
              <a:t>MzansiRide SafeAI</a:t>
            </a:r>
            <a:endParaRPr lang="en-US" sz="4800" dirty="0"/>
          </a:p>
        </p:txBody>
      </p:sp>
      <p:sp>
        <p:nvSpPr>
          <p:cNvPr id="4" name="Text 2"/>
          <p:cNvSpPr txBox="1"/>
          <p:nvPr/>
        </p:nvSpPr>
        <p:spPr>
          <a:xfrm>
            <a:off x="731520" y="3474720"/>
            <a:ext cx="6035040" cy="914400"/>
          </a:xfrm>
          <a:prstGeom prst="rect">
            <a:avLst/>
          </a:prstGeom>
          <a:noFill/>
          <a:ln/>
        </p:spPr>
        <p:txBody>
          <a:bodyPr wrap="square" lIns="0" tIns="0" rIns="0" bIns="0" rtlCol="0" anchor="t"/>
          <a:lstStyle/>
          <a:p>
            <a:pPr indent="0" marL="0">
              <a:buNone/>
            </a:pPr>
            <a:r>
              <a:rPr lang="en-US" sz="2200" dirty="0">
                <a:solidFill>
                  <a:schemeClr val="accent5"/>
                </a:solidFill>
              </a:rPr>
              <a:t>A safety-first, AI-powered ride-sharing platform for South Africa</a:t>
            </a:r>
            <a:endParaRPr lang="en-US" sz="2200" dirty="0"/>
          </a:p>
        </p:txBody>
      </p:sp>
      <p:sp>
        <p:nvSpPr>
          <p:cNvPr id="5" name="Text 3"/>
          <p:cNvSpPr txBox="1"/>
          <p:nvPr/>
        </p:nvSpPr>
        <p:spPr>
          <a:xfrm>
            <a:off x="731520" y="4846320"/>
            <a:ext cx="6217920" cy="365760"/>
          </a:xfrm>
          <a:prstGeom prst="rect">
            <a:avLst/>
          </a:prstGeom>
          <a:noFill/>
          <a:ln/>
        </p:spPr>
        <p:txBody>
          <a:bodyPr wrap="square" lIns="0" tIns="0" rIns="0" bIns="0" rtlCol="0" anchor="t"/>
          <a:lstStyle/>
          <a:p>
            <a:pPr indent="0" marL="0">
              <a:buNone/>
            </a:pPr>
            <a:r>
              <a:rPr lang="en-US" sz="1800" b="1" dirty="0">
                <a:solidFill>
                  <a:schemeClr val="accent3"/>
                </a:solidFill>
              </a:rPr>
              <a:t>Get there safely. Someone’s always checking in.</a:t>
            </a:r>
            <a:endParaRPr lang="en-US" sz="1800" dirty="0"/>
          </a:p>
        </p:txBody>
      </p:sp>
      <p:sp>
        <p:nvSpPr>
          <p:cNvPr id="6" name="ring outer"/>
          <p:cNvSpPr/>
          <p:nvPr/>
        </p:nvSpPr>
        <p:spPr>
          <a:xfrm>
            <a:off x="7223760" y="1051560"/>
            <a:ext cx="4754880" cy="4754880"/>
          </a:xfrm>
          <a:prstGeom prst="ellipse">
            <a:avLst/>
          </a:prstGeom>
          <a:solidFill>
            <a:schemeClr val="accent2">
              <a:alpha val="25000"/>
            </a:schemeClr>
          </a:solidFill>
          <a:ln/>
        </p:spPr>
      </p:sp>
      <p:sp>
        <p:nvSpPr>
          <p:cNvPr id="7" name="ring middle"/>
          <p:cNvSpPr/>
          <p:nvPr/>
        </p:nvSpPr>
        <p:spPr>
          <a:xfrm>
            <a:off x="7955280" y="1783080"/>
            <a:ext cx="3291840" cy="3291840"/>
          </a:xfrm>
          <a:prstGeom prst="ellipse">
            <a:avLst/>
          </a:prstGeom>
          <a:solidFill>
            <a:schemeClr val="accent2">
              <a:alpha val="55000"/>
            </a:schemeClr>
          </a:solidFill>
          <a:ln/>
        </p:spPr>
      </p:sp>
      <p:sp>
        <p:nvSpPr>
          <p:cNvPr id="8" name="icon circle"/>
          <p:cNvSpPr/>
          <p:nvPr/>
        </p:nvSpPr>
        <p:spPr>
          <a:xfrm>
            <a:off x="8686800" y="2514600"/>
            <a:ext cx="1828800" cy="1828800"/>
          </a:xfrm>
          <a:prstGeom prst="ellipse">
            <a:avLst/>
          </a:prstGeom>
          <a:solidFill>
            <a:schemeClr val="accent3"/>
          </a:solidFill>
          <a:ln/>
        </p:spPr>
      </p:sp>
      <p:pic>
        <p:nvPicPr>
          <p:cNvPr id="9" name="Image 0" descr="icon">    </p:cNvPr>
          <p:cNvPicPr>
            <a:picLocks noChangeAspect="1"/>
          </p:cNvPicPr>
          <p:nvPr/>
        </p:nvPicPr>
        <p:blipFill>
          <a:blip r:embed="rId1"/>
          <a:stretch>
            <a:fillRect/>
          </a:stretch>
        </p:blipFill>
        <p:spPr>
          <a:xfrm>
            <a:off x="9162288" y="2990088"/>
            <a:ext cx="877824" cy="877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Picture this</a:t>
            </a:r>
            <a:endParaRPr lang="en-US" sz="3600" dirty="0"/>
          </a:p>
        </p:txBody>
      </p:sp>
      <p:sp>
        <p:nvSpPr>
          <p:cNvPr id="3" name="Text 1"/>
          <p:cNvSpPr txBox="1"/>
          <p:nvPr/>
        </p:nvSpPr>
        <p:spPr>
          <a:xfrm>
            <a:off x="548640" y="1645920"/>
            <a:ext cx="7315200" cy="1463040"/>
          </a:xfrm>
          <a:prstGeom prst="rect">
            <a:avLst/>
          </a:prstGeom>
          <a:noFill/>
          <a:ln/>
        </p:spPr>
        <p:txBody>
          <a:bodyPr wrap="square" lIns="0" tIns="0" rIns="0" bIns="0" rtlCol="0" anchor="t"/>
          <a:lstStyle/>
          <a:p>
            <a:pPr indent="0" marL="0">
              <a:buNone/>
            </a:pPr>
            <a:r>
              <a:rPr lang="en-US" sz="2400" dirty="0">
                <a:solidFill>
                  <a:schemeClr val="bg1"/>
                </a:solidFill>
              </a:rPr>
              <a:t>You’re in the back of a ride at night. The car stops somewhere you don’t recognise. Is it a detour? A phone call? Something worse?</a:t>
            </a:r>
            <a:endParaRPr lang="en-US" sz="2400" dirty="0"/>
          </a:p>
        </p:txBody>
      </p:sp>
      <p:sp>
        <p:nvSpPr>
          <p:cNvPr id="4" name="Text 2"/>
          <p:cNvSpPr txBox="1"/>
          <p:nvPr/>
        </p:nvSpPr>
        <p:spPr>
          <a:xfrm>
            <a:off x="548640" y="3291840"/>
            <a:ext cx="7315200" cy="914400"/>
          </a:xfrm>
          <a:prstGeom prst="rect">
            <a:avLst/>
          </a:prstGeom>
          <a:noFill/>
          <a:ln/>
        </p:spPr>
        <p:txBody>
          <a:bodyPr wrap="square" lIns="0" tIns="0" rIns="0" bIns="0" rtlCol="0" anchor="t"/>
          <a:lstStyle/>
          <a:p>
            <a:pPr indent="0" marL="0">
              <a:buNone/>
            </a:pPr>
            <a:r>
              <a:rPr lang="en-US" sz="2000" dirty="0">
                <a:solidFill>
                  <a:schemeClr val="accent5"/>
                </a:solidFill>
              </a:rPr>
              <a:t>Now imagine finding your phone, opening an app and pressing the right button, while your heart is racing.</a:t>
            </a:r>
            <a:endParaRPr lang="en-US" sz="2000" dirty="0"/>
          </a:p>
        </p:txBody>
      </p:sp>
      <p:sp>
        <p:nvSpPr>
          <p:cNvPr id="5" name="Text 3"/>
          <p:cNvSpPr txBox="1"/>
          <p:nvPr/>
        </p:nvSpPr>
        <p:spPr>
          <a:xfrm>
            <a:off x="548640" y="4480560"/>
            <a:ext cx="7315200" cy="1463040"/>
          </a:xfrm>
          <a:prstGeom prst="rect">
            <a:avLst/>
          </a:prstGeom>
          <a:noFill/>
          <a:ln/>
        </p:spPr>
        <p:txBody>
          <a:bodyPr wrap="square" lIns="0" tIns="0" rIns="0" bIns="0" rtlCol="0" anchor="t"/>
          <a:lstStyle/>
          <a:p>
            <a:pPr indent="0" marL="0">
              <a:buNone/>
            </a:pPr>
            <a:r>
              <a:rPr lang="en-US" sz="2400" b="1" dirty="0">
                <a:solidFill>
                  <a:schemeClr val="accent3"/>
                </a:solidFill>
              </a:rPr>
              <a:t>A panic button asks you to act in the hardest moment of your journey. We asked: what if the system noticed first?</a:t>
            </a:r>
            <a:endParaRPr lang="en-US" sz="2400" dirty="0"/>
          </a:p>
        </p:txBody>
      </p:sp>
      <p:sp>
        <p:nvSpPr>
          <p:cNvPr id="6" name="ring"/>
          <p:cNvSpPr/>
          <p:nvPr/>
        </p:nvSpPr>
        <p:spPr>
          <a:xfrm>
            <a:off x="8503920" y="1737360"/>
            <a:ext cx="3200400" cy="3200400"/>
          </a:xfrm>
          <a:prstGeom prst="ellipse">
            <a:avLst/>
          </a:prstGeom>
          <a:solidFill>
            <a:schemeClr val="accent2">
              <a:alpha val="55000"/>
            </a:schemeClr>
          </a:solidFill>
          <a:ln/>
        </p:spPr>
      </p:sp>
      <p:sp>
        <p:nvSpPr>
          <p:cNvPr id="7" name="icon circle"/>
          <p:cNvSpPr/>
          <p:nvPr/>
        </p:nvSpPr>
        <p:spPr>
          <a:xfrm>
            <a:off x="9189720" y="2423160"/>
            <a:ext cx="1828800" cy="1828800"/>
          </a:xfrm>
          <a:prstGeom prst="ellipse">
            <a:avLst/>
          </a:prstGeom>
          <a:solidFill>
            <a:schemeClr val="accent3"/>
          </a:solidFill>
          <a:ln/>
        </p:spPr>
      </p:sp>
      <p:pic>
        <p:nvPicPr>
          <p:cNvPr id="8" name="Image 0" descr="icon">    </p:cNvPr>
          <p:cNvPicPr>
            <a:picLocks noChangeAspect="1"/>
          </p:cNvPicPr>
          <p:nvPr/>
        </p:nvPicPr>
        <p:blipFill>
          <a:blip r:embed="rId1"/>
          <a:stretch>
            <a:fillRect/>
          </a:stretch>
        </p:blipFill>
        <p:spPr>
          <a:xfrm>
            <a:off x="9665208" y="2898648"/>
            <a:ext cx="877824" cy="877824"/>
          </a:xfrm>
          <a:prstGeom prst="rect">
            <a:avLst/>
          </a:prstGeom>
        </p:spPr>
      </p:pic>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D8C7"/>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Safety shouldn’t depend on a button</a:t>
            </a:r>
            <a:endParaRPr lang="en-US" sz="3600" dirty="0"/>
          </a:p>
        </p:txBody>
      </p:sp>
      <p:sp>
        <p:nvSpPr>
          <p:cNvPr id="3" name="Text 1"/>
          <p:cNvSpPr txBox="1"/>
          <p:nvPr/>
        </p:nvSpPr>
        <p:spPr>
          <a:xfrm>
            <a:off x="548640" y="1463040"/>
            <a:ext cx="11064240" cy="822960"/>
          </a:xfrm>
          <a:prstGeom prst="rect">
            <a:avLst/>
          </a:prstGeom>
          <a:noFill/>
          <a:ln/>
        </p:spPr>
        <p:txBody>
          <a:bodyPr wrap="square" lIns="0" tIns="0" rIns="0" bIns="0" rtlCol="0" anchor="t"/>
          <a:lstStyle/>
          <a:p>
            <a:pPr indent="0" marL="0">
              <a:buNone/>
            </a:pPr>
            <a:r>
              <a:rPr lang="en-US" sz="1800" dirty="0">
                <a:solidFill>
                  <a:schemeClr val="tx1"/>
                </a:solidFill>
              </a:rPr>
              <a:t>Women, students and daily commuters often travel with unfamiliar drivers. They worry about unexpected stops, route changes, and whether anyone they trust knows where they are.</a:t>
            </a:r>
            <a:endParaRPr lang="en-US" sz="1800" dirty="0"/>
          </a:p>
        </p:txBody>
      </p:sp>
      <p:sp>
        <p:nvSpPr>
          <p:cNvPr id="4" name="card"/>
          <p:cNvSpPr/>
          <p:nvPr/>
        </p:nvSpPr>
        <p:spPr>
          <a:xfrm>
            <a:off x="548640" y="2514600"/>
            <a:ext cx="3520440" cy="2377440"/>
          </a:xfrm>
          <a:prstGeom prst="roundRect">
            <a:avLst>
              <a:gd name="adj" fmla="val 4615"/>
            </a:avLst>
          </a:prstGeom>
          <a:solidFill>
            <a:schemeClr val="bg2"/>
          </a:solidFill>
          <a:ln/>
        </p:spPr>
      </p:sp>
      <p:sp>
        <p:nvSpPr>
          <p:cNvPr id="5" name="icon circle"/>
          <p:cNvSpPr/>
          <p:nvPr/>
        </p:nvSpPr>
        <p:spPr>
          <a:xfrm>
            <a:off x="822960" y="2743200"/>
            <a:ext cx="594360" cy="59436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77494" y="2897734"/>
            <a:ext cx="285293" cy="285293"/>
          </a:xfrm>
          <a:prstGeom prst="rect">
            <a:avLst/>
          </a:prstGeom>
        </p:spPr>
      </p:pic>
      <p:sp>
        <p:nvSpPr>
          <p:cNvPr id="7" name="Text 4"/>
          <p:cNvSpPr txBox="1"/>
          <p:nvPr/>
        </p:nvSpPr>
        <p:spPr>
          <a:xfrm>
            <a:off x="822960" y="3520440"/>
            <a:ext cx="2971800" cy="365760"/>
          </a:xfrm>
          <a:prstGeom prst="rect">
            <a:avLst/>
          </a:prstGeom>
          <a:noFill/>
          <a:ln/>
        </p:spPr>
        <p:txBody>
          <a:bodyPr wrap="square" lIns="0" tIns="0" rIns="0" bIns="0" rtlCol="0" anchor="t"/>
          <a:lstStyle/>
          <a:p>
            <a:pPr indent="0" marL="0">
              <a:buNone/>
            </a:pPr>
            <a:r>
              <a:rPr lang="en-US" sz="2000" b="1" dirty="0">
                <a:solidFill>
                  <a:schemeClr val="tx2"/>
                </a:solidFill>
              </a:rPr>
              <a:t>Reactive</a:t>
            </a:r>
            <a:endParaRPr lang="en-US" sz="2000" dirty="0"/>
          </a:p>
        </p:txBody>
      </p:sp>
      <p:sp>
        <p:nvSpPr>
          <p:cNvPr id="8" name="Text 5"/>
          <p:cNvSpPr txBox="1"/>
          <p:nvPr/>
        </p:nvSpPr>
        <p:spPr>
          <a:xfrm>
            <a:off x="822960" y="3931920"/>
            <a:ext cx="2971800" cy="868680"/>
          </a:xfrm>
          <a:prstGeom prst="rect">
            <a:avLst/>
          </a:prstGeom>
          <a:noFill/>
          <a:ln/>
        </p:spPr>
        <p:txBody>
          <a:bodyPr wrap="square" lIns="0" tIns="0" rIns="0" bIns="0" rtlCol="0" anchor="t"/>
          <a:lstStyle/>
          <a:p>
            <a:pPr indent="0" marL="0">
              <a:buNone/>
            </a:pPr>
            <a:r>
              <a:rPr lang="en-US" sz="1400" dirty="0">
                <a:solidFill>
                  <a:schemeClr val="tx1"/>
                </a:solidFill>
              </a:rPr>
              <a:t>A panic button only works if you are able to press it, in the very moment you are most stressed.</a:t>
            </a:r>
            <a:endParaRPr lang="en-US" sz="1400" dirty="0"/>
          </a:p>
        </p:txBody>
      </p:sp>
      <p:sp>
        <p:nvSpPr>
          <p:cNvPr id="9" name="card"/>
          <p:cNvSpPr/>
          <p:nvPr/>
        </p:nvSpPr>
        <p:spPr>
          <a:xfrm>
            <a:off x="4334256" y="2514600"/>
            <a:ext cx="3520440" cy="2377440"/>
          </a:xfrm>
          <a:prstGeom prst="roundRect">
            <a:avLst>
              <a:gd name="adj" fmla="val 4615"/>
            </a:avLst>
          </a:prstGeom>
          <a:solidFill>
            <a:schemeClr val="bg2"/>
          </a:solidFill>
          <a:ln/>
        </p:spPr>
      </p:sp>
      <p:sp>
        <p:nvSpPr>
          <p:cNvPr id="10" name="icon circle"/>
          <p:cNvSpPr/>
          <p:nvPr/>
        </p:nvSpPr>
        <p:spPr>
          <a:xfrm>
            <a:off x="4608576" y="2743200"/>
            <a:ext cx="594360" cy="59436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4763110" y="2897734"/>
            <a:ext cx="285293" cy="285293"/>
          </a:xfrm>
          <a:prstGeom prst="rect">
            <a:avLst/>
          </a:prstGeom>
        </p:spPr>
      </p:pic>
      <p:sp>
        <p:nvSpPr>
          <p:cNvPr id="12" name="Text 8"/>
          <p:cNvSpPr txBox="1"/>
          <p:nvPr/>
        </p:nvSpPr>
        <p:spPr>
          <a:xfrm>
            <a:off x="4608576" y="3520440"/>
            <a:ext cx="2971800" cy="365760"/>
          </a:xfrm>
          <a:prstGeom prst="rect">
            <a:avLst/>
          </a:prstGeom>
          <a:noFill/>
          <a:ln/>
        </p:spPr>
        <p:txBody>
          <a:bodyPr wrap="square" lIns="0" tIns="0" rIns="0" bIns="0" rtlCol="0" anchor="t"/>
          <a:lstStyle/>
          <a:p>
            <a:pPr indent="0" marL="0">
              <a:buNone/>
            </a:pPr>
            <a:r>
              <a:rPr lang="en-US" sz="2000" b="1" dirty="0">
                <a:solidFill>
                  <a:schemeClr val="tx2"/>
                </a:solidFill>
              </a:rPr>
              <a:t>Blunt</a:t>
            </a:r>
            <a:endParaRPr lang="en-US" sz="2000" dirty="0"/>
          </a:p>
        </p:txBody>
      </p:sp>
      <p:sp>
        <p:nvSpPr>
          <p:cNvPr id="13" name="Text 9"/>
          <p:cNvSpPr txBox="1"/>
          <p:nvPr/>
        </p:nvSpPr>
        <p:spPr>
          <a:xfrm>
            <a:off x="4608576" y="3931920"/>
            <a:ext cx="2971800" cy="868680"/>
          </a:xfrm>
          <a:prstGeom prst="rect">
            <a:avLst/>
          </a:prstGeom>
          <a:noFill/>
          <a:ln/>
        </p:spPr>
        <p:txBody>
          <a:bodyPr wrap="square" lIns="0" tIns="0" rIns="0" bIns="0" rtlCol="0" anchor="t"/>
          <a:lstStyle/>
          <a:p>
            <a:pPr indent="0" marL="0">
              <a:buNone/>
            </a:pPr>
            <a:r>
              <a:rPr lang="en-US" sz="1400" dirty="0">
                <a:solidFill>
                  <a:schemeClr val="tx1"/>
                </a:solidFill>
              </a:rPr>
              <a:t>Every unusual event looks the same. A phone call and a real problem trigger the same response.</a:t>
            </a:r>
            <a:endParaRPr lang="en-US" sz="1400" dirty="0"/>
          </a:p>
        </p:txBody>
      </p:sp>
      <p:sp>
        <p:nvSpPr>
          <p:cNvPr id="14" name="card"/>
          <p:cNvSpPr/>
          <p:nvPr/>
        </p:nvSpPr>
        <p:spPr>
          <a:xfrm>
            <a:off x="8119872" y="2514600"/>
            <a:ext cx="3520440" cy="2377440"/>
          </a:xfrm>
          <a:prstGeom prst="roundRect">
            <a:avLst>
              <a:gd name="adj" fmla="val 4615"/>
            </a:avLst>
          </a:prstGeom>
          <a:solidFill>
            <a:schemeClr val="bg2"/>
          </a:solidFill>
          <a:ln/>
        </p:spPr>
      </p:sp>
      <p:sp>
        <p:nvSpPr>
          <p:cNvPr id="15" name="icon circle"/>
          <p:cNvSpPr/>
          <p:nvPr/>
        </p:nvSpPr>
        <p:spPr>
          <a:xfrm>
            <a:off x="8394192" y="2743200"/>
            <a:ext cx="594360" cy="594360"/>
          </a:xfrm>
          <a:prstGeom prst="ellipse">
            <a:avLst/>
          </a:prstGeom>
          <a:solidFill>
            <a:schemeClr val="accent1"/>
          </a:solidFill>
          <a:ln/>
        </p:spPr>
      </p:sp>
      <p:pic>
        <p:nvPicPr>
          <p:cNvPr id="16" name="Image 2" descr="icon">    </p:cNvPr>
          <p:cNvPicPr>
            <a:picLocks noChangeAspect="1"/>
          </p:cNvPicPr>
          <p:nvPr/>
        </p:nvPicPr>
        <p:blipFill>
          <a:blip r:embed="rId3"/>
          <a:stretch>
            <a:fillRect/>
          </a:stretch>
        </p:blipFill>
        <p:spPr>
          <a:xfrm>
            <a:off x="8548726" y="2897734"/>
            <a:ext cx="285293" cy="285293"/>
          </a:xfrm>
          <a:prstGeom prst="rect">
            <a:avLst/>
          </a:prstGeom>
        </p:spPr>
      </p:pic>
      <p:sp>
        <p:nvSpPr>
          <p:cNvPr id="17" name="Text 12"/>
          <p:cNvSpPr txBox="1"/>
          <p:nvPr/>
        </p:nvSpPr>
        <p:spPr>
          <a:xfrm>
            <a:off x="8394192" y="3520440"/>
            <a:ext cx="2971800" cy="365760"/>
          </a:xfrm>
          <a:prstGeom prst="rect">
            <a:avLst/>
          </a:prstGeom>
          <a:noFill/>
          <a:ln/>
        </p:spPr>
        <p:txBody>
          <a:bodyPr wrap="square" lIns="0" tIns="0" rIns="0" bIns="0" rtlCol="0" anchor="t"/>
          <a:lstStyle/>
          <a:p>
            <a:pPr indent="0" marL="0">
              <a:buNone/>
            </a:pPr>
            <a:r>
              <a:rPr lang="en-US" sz="2000" b="1" dirty="0">
                <a:solidFill>
                  <a:schemeClr val="tx2"/>
                </a:solidFill>
              </a:rPr>
              <a:t>Invisible to the operator</a:t>
            </a:r>
            <a:endParaRPr lang="en-US" sz="2000" dirty="0"/>
          </a:p>
        </p:txBody>
      </p:sp>
      <p:sp>
        <p:nvSpPr>
          <p:cNvPr id="18" name="Text 13"/>
          <p:cNvSpPr txBox="1"/>
          <p:nvPr/>
        </p:nvSpPr>
        <p:spPr>
          <a:xfrm>
            <a:off x="8394192" y="3931920"/>
            <a:ext cx="2971800" cy="868680"/>
          </a:xfrm>
          <a:prstGeom prst="rect">
            <a:avLst/>
          </a:prstGeom>
          <a:noFill/>
          <a:ln/>
        </p:spPr>
        <p:txBody>
          <a:bodyPr wrap="square" lIns="0" tIns="0" rIns="0" bIns="0" rtlCol="0" anchor="t"/>
          <a:lstStyle/>
          <a:p>
            <a:pPr indent="0" marL="0">
              <a:buNone/>
            </a:pPr>
            <a:r>
              <a:rPr lang="en-US" sz="1400" dirty="0">
                <a:solidFill>
                  <a:schemeClr val="tx1"/>
                </a:solidFill>
              </a:rPr>
              <a:t>The company often learns about an incident when a complaint arrives, not when it begins.</a:t>
            </a:r>
            <a:endParaRPr lang="en-US" sz="1400" dirty="0"/>
          </a:p>
        </p:txBody>
      </p:sp>
      <p:sp>
        <p:nvSpPr>
          <p:cNvPr id="19" name="cost strip"/>
          <p:cNvSpPr/>
          <p:nvPr/>
        </p:nvSpPr>
        <p:spPr>
          <a:xfrm>
            <a:off x="548640" y="5166360"/>
            <a:ext cx="11091672" cy="914400"/>
          </a:xfrm>
          <a:prstGeom prst="roundRect">
            <a:avLst>
              <a:gd name="adj" fmla="val 12000"/>
            </a:avLst>
          </a:prstGeom>
          <a:solidFill>
            <a:schemeClr val="tx2"/>
          </a:solidFill>
          <a:ln/>
        </p:spPr>
      </p:sp>
      <p:sp>
        <p:nvSpPr>
          <p:cNvPr id="20" name="Text 15"/>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1600" dirty="0">
                <a:solidFill>
                  <a:schemeClr val="bg1"/>
                </a:solidFill>
              </a:rPr>
              <a:t>Cost matters too.  Students and commuters need cheaper travel. Shared rides can help, but only if people feel safe sharing.</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Proactive, not reactive</a:t>
            </a:r>
            <a:endParaRPr lang="en-US" sz="3600" dirty="0"/>
          </a:p>
        </p:txBody>
      </p:sp>
      <p:sp>
        <p:nvSpPr>
          <p:cNvPr id="3" name="left card"/>
          <p:cNvSpPr/>
          <p:nvPr/>
        </p:nvSpPr>
        <p:spPr>
          <a:xfrm>
            <a:off x="548640" y="1508760"/>
            <a:ext cx="5394960" cy="4572000"/>
          </a:xfrm>
          <a:prstGeom prst="roundRect">
            <a:avLst>
              <a:gd name="adj" fmla="val 2400"/>
            </a:avLst>
          </a:prstGeom>
          <a:solidFill>
            <a:schemeClr val="bg2"/>
          </a:solidFill>
          <a:ln/>
        </p:spPr>
      </p:sp>
      <p:sp>
        <p:nvSpPr>
          <p:cNvPr id="4" name="Text 2"/>
          <p:cNvSpPr txBox="1"/>
          <p:nvPr/>
        </p:nvSpPr>
        <p:spPr>
          <a:xfrm>
            <a:off x="868680" y="1783080"/>
            <a:ext cx="4754880" cy="457200"/>
          </a:xfrm>
          <a:prstGeom prst="rect">
            <a:avLst/>
          </a:prstGeom>
          <a:noFill/>
          <a:ln/>
        </p:spPr>
        <p:txBody>
          <a:bodyPr wrap="square" lIns="0" tIns="0" rIns="0" bIns="0" rtlCol="0" anchor="t"/>
          <a:lstStyle/>
          <a:p>
            <a:pPr indent="0" marL="0">
              <a:buNone/>
            </a:pPr>
            <a:r>
              <a:rPr lang="en-US" sz="2200" b="1" dirty="0">
                <a:solidFill>
                  <a:schemeClr val="accent6"/>
                </a:solidFill>
              </a:rPr>
              <a:t>A typical panic button</a:t>
            </a:r>
            <a:endParaRPr lang="en-US" sz="2200" dirty="0"/>
          </a:p>
        </p:txBody>
      </p:sp>
      <p:sp>
        <p:nvSpPr>
          <p:cNvPr id="5" name="Text 3"/>
          <p:cNvSpPr txBox="1"/>
          <p:nvPr/>
        </p:nvSpPr>
        <p:spPr>
          <a:xfrm>
            <a:off x="868680" y="2468880"/>
            <a:ext cx="4754880" cy="3474720"/>
          </a:xfrm>
          <a:prstGeom prst="rect">
            <a:avLst/>
          </a:prstGeom>
          <a:noFill/>
          <a:ln/>
        </p:spPr>
        <p:txBody>
          <a:bodyPr wrap="square" lIns="0" tIns="0" rIns="0" bIns="0" rtlCol="0" anchor="t"/>
          <a:lstStyle/>
          <a:p>
            <a:pPr marL="342900" indent="-342900">
              <a:spcAft>
                <a:spcPts val="1600"/>
              </a:spcAft>
              <a:buSzPct val="100000"/>
              <a:buChar char="•"/>
            </a:pPr>
            <a:r>
              <a:rPr lang="en-US" sz="2100" dirty="0">
                <a:solidFill>
                  <a:schemeClr val="tx1"/>
                </a:solidFill>
              </a:rPr>
              <a:t>You must notice, find the button and press it</a:t>
            </a:r>
            <a:endParaRPr lang="en-US" sz="2100" dirty="0"/>
          </a:p>
          <a:p>
            <a:pPr marL="342900" indent="-342900">
              <a:spcAft>
                <a:spcPts val="1600"/>
              </a:spcAft>
              <a:buSzPct val="100000"/>
              <a:buChar char="•"/>
            </a:pPr>
            <a:r>
              <a:rPr lang="en-US" sz="2100" dirty="0">
                <a:solidFill>
                  <a:schemeClr val="tx1"/>
                </a:solidFill>
              </a:rPr>
              <a:t>Works only if you can reach your phone</a:t>
            </a:r>
            <a:endParaRPr lang="en-US" sz="2100" dirty="0"/>
          </a:p>
          <a:p>
            <a:pPr marL="342900" indent="-342900">
              <a:spcAft>
                <a:spcPts val="1600"/>
              </a:spcAft>
              <a:buSzPct val="100000"/>
              <a:buChar char="•"/>
            </a:pPr>
            <a:r>
              <a:rPr lang="en-US" sz="2100" dirty="0">
                <a:solidFill>
                  <a:schemeClr val="tx1"/>
                </a:solidFill>
              </a:rPr>
              <a:t>Treats every unusual event the same way</a:t>
            </a:r>
            <a:endParaRPr lang="en-US" sz="2100" dirty="0"/>
          </a:p>
          <a:p>
            <a:pPr marL="342900" indent="-342900">
              <a:spcAft>
                <a:spcPts val="1600"/>
              </a:spcAft>
              <a:buSzPct val="100000"/>
              <a:buChar char="•"/>
            </a:pPr>
            <a:r>
              <a:rPr lang="en-US" sz="2100" dirty="0">
                <a:solidFill>
                  <a:schemeClr val="tx1"/>
                </a:solidFill>
              </a:rPr>
              <a:t>The operator finds out later</a:t>
            </a:r>
            <a:endParaRPr lang="en-US" sz="2100" dirty="0"/>
          </a:p>
        </p:txBody>
      </p:sp>
      <p:sp>
        <p:nvSpPr>
          <p:cNvPr id="6" name="right card"/>
          <p:cNvSpPr/>
          <p:nvPr/>
        </p:nvSpPr>
        <p:spPr>
          <a:xfrm>
            <a:off x="6245352" y="1508760"/>
            <a:ext cx="5394960" cy="4572000"/>
          </a:xfrm>
          <a:prstGeom prst="roundRect">
            <a:avLst>
              <a:gd name="adj" fmla="val 2400"/>
            </a:avLst>
          </a:prstGeom>
          <a:solidFill>
            <a:schemeClr val="tx2"/>
          </a:solidFill>
          <a:ln/>
        </p:spPr>
      </p:sp>
      <p:sp>
        <p:nvSpPr>
          <p:cNvPr id="7" name="Text 5"/>
          <p:cNvSpPr txBox="1"/>
          <p:nvPr/>
        </p:nvSpPr>
        <p:spPr>
          <a:xfrm>
            <a:off x="6565392" y="1783080"/>
            <a:ext cx="4754880" cy="457200"/>
          </a:xfrm>
          <a:prstGeom prst="rect">
            <a:avLst/>
          </a:prstGeom>
          <a:noFill/>
          <a:ln/>
        </p:spPr>
        <p:txBody>
          <a:bodyPr wrap="square" lIns="0" tIns="0" rIns="0" bIns="0" rtlCol="0" anchor="t"/>
          <a:lstStyle/>
          <a:p>
            <a:pPr indent="0" marL="0">
              <a:buNone/>
            </a:pPr>
            <a:r>
              <a:rPr lang="en-US" sz="2200" b="1" dirty="0">
                <a:solidFill>
                  <a:schemeClr val="accent3"/>
                </a:solidFill>
              </a:rPr>
              <a:t>MzansiRide SafeAI</a:t>
            </a:r>
            <a:endParaRPr lang="en-US" sz="2200" dirty="0"/>
          </a:p>
        </p:txBody>
      </p:sp>
      <p:sp>
        <p:nvSpPr>
          <p:cNvPr id="8" name="Text 6"/>
          <p:cNvSpPr txBox="1"/>
          <p:nvPr/>
        </p:nvSpPr>
        <p:spPr>
          <a:xfrm>
            <a:off x="6565392" y="2468880"/>
            <a:ext cx="4754880" cy="3474720"/>
          </a:xfrm>
          <a:prstGeom prst="rect">
            <a:avLst/>
          </a:prstGeom>
          <a:noFill/>
          <a:ln/>
        </p:spPr>
        <p:txBody>
          <a:bodyPr wrap="square" lIns="0" tIns="0" rIns="0" bIns="0" rtlCol="0" anchor="t"/>
          <a:lstStyle/>
          <a:p>
            <a:pPr marL="342900" indent="-342900">
              <a:spcAft>
                <a:spcPts val="1600"/>
              </a:spcAft>
              <a:buSzPct val="100000"/>
              <a:buChar char="•"/>
            </a:pPr>
            <a:r>
              <a:rPr lang="en-US" sz="2100" dirty="0">
                <a:solidFill>
                  <a:schemeClr val="bg1"/>
                </a:solidFill>
              </a:rPr>
              <a:t>The system watches the trip data for you</a:t>
            </a:r>
            <a:endParaRPr lang="en-US" sz="2100" dirty="0"/>
          </a:p>
          <a:p>
            <a:pPr marL="342900" indent="-342900">
              <a:spcAft>
                <a:spcPts val="1600"/>
              </a:spcAft>
              <a:buSzPct val="100000"/>
              <a:buChar char="•"/>
            </a:pPr>
            <a:r>
              <a:rPr lang="en-US" sz="2100" dirty="0">
                <a:solidFill>
                  <a:schemeClr val="bg1"/>
                </a:solidFill>
              </a:rPr>
              <a:t>Checks in on WhatsApp: one tap to answer</a:t>
            </a:r>
            <a:endParaRPr lang="en-US" sz="2100" dirty="0"/>
          </a:p>
          <a:p>
            <a:pPr marL="342900" indent="-342900">
              <a:spcAft>
                <a:spcPts val="1600"/>
              </a:spcAft>
              <a:buSzPct val="100000"/>
              <a:buChar char="•"/>
            </a:pPr>
            <a:r>
              <a:rPr lang="en-US" sz="2100" dirty="0">
                <a:solidFill>
                  <a:schemeClr val="bg1"/>
                </a:solidFill>
              </a:rPr>
              <a:t>Rules detect events, AI explains them calmly</a:t>
            </a:r>
            <a:endParaRPr lang="en-US" sz="2100" dirty="0"/>
          </a:p>
          <a:p>
            <a:pPr marL="342900" indent="-342900">
              <a:spcAft>
                <a:spcPts val="1600"/>
              </a:spcAft>
              <a:buSzPct val="100000"/>
              <a:buChar char="•"/>
            </a:pPr>
            <a:r>
              <a:rPr lang="en-US" sz="2100" dirty="0">
                <a:solidFill>
                  <a:schemeClr val="bg1"/>
                </a:solidFill>
              </a:rPr>
              <a:t>The operator sees it live and can act fast</a:t>
            </a:r>
            <a:endParaRPr lang="en-US" sz="2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How it works</a:t>
            </a:r>
            <a:endParaRPr lang="en-US" sz="3600" dirty="0"/>
          </a:p>
        </p:txBody>
      </p:sp>
      <p:sp>
        <p:nvSpPr>
          <p:cNvPr id="3" name="card"/>
          <p:cNvSpPr/>
          <p:nvPr/>
        </p:nvSpPr>
        <p:spPr>
          <a:xfrm>
            <a:off x="548640" y="1645920"/>
            <a:ext cx="2011680" cy="3429000"/>
          </a:xfrm>
          <a:prstGeom prst="roundRect">
            <a:avLst>
              <a:gd name="adj" fmla="val 5455"/>
            </a:avLst>
          </a:prstGeom>
          <a:solidFill>
            <a:schemeClr val="bg2"/>
          </a:solidFill>
          <a:ln/>
        </p:spPr>
      </p:sp>
      <p:sp>
        <p:nvSpPr>
          <p:cNvPr id="4" name="step number"/>
          <p:cNvSpPr/>
          <p:nvPr/>
        </p:nvSpPr>
        <p:spPr>
          <a:xfrm>
            <a:off x="777240" y="1874520"/>
            <a:ext cx="566928" cy="566928"/>
          </a:xfrm>
          <a:prstGeom prst="ellipse">
            <a:avLst/>
          </a:prstGeom>
          <a:solidFill>
            <a:schemeClr val="accent2"/>
          </a:solidFill>
          <a:ln/>
        </p:spPr>
      </p:sp>
      <p:sp>
        <p:nvSpPr>
          <p:cNvPr id="5" name="Text 3"/>
          <p:cNvSpPr txBox="1"/>
          <p:nvPr/>
        </p:nvSpPr>
        <p:spPr>
          <a:xfrm>
            <a:off x="77724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777240" y="2651760"/>
            <a:ext cx="1645920" cy="640080"/>
          </a:xfrm>
          <a:prstGeom prst="rect">
            <a:avLst/>
          </a:prstGeom>
          <a:noFill/>
          <a:ln/>
        </p:spPr>
        <p:txBody>
          <a:bodyPr wrap="square" lIns="0" tIns="0" rIns="0" bIns="0" rtlCol="0" anchor="t"/>
          <a:lstStyle/>
          <a:p>
            <a:pPr indent="0" marL="0">
              <a:buNone/>
            </a:pPr>
            <a:r>
              <a:rPr lang="en-US" sz="1800" b="1" dirty="0">
                <a:solidFill>
                  <a:schemeClr val="tx2"/>
                </a:solidFill>
              </a:rPr>
              <a:t>Request &amp; activate</a:t>
            </a:r>
            <a:endParaRPr lang="en-US" sz="1800" dirty="0"/>
          </a:p>
        </p:txBody>
      </p:sp>
      <p:sp>
        <p:nvSpPr>
          <p:cNvPr id="7" name="Text 5"/>
          <p:cNvSpPr txBox="1"/>
          <p:nvPr/>
        </p:nvSpPr>
        <p:spPr>
          <a:xfrm>
            <a:off x="777240" y="3337560"/>
            <a:ext cx="1645920" cy="1645920"/>
          </a:xfrm>
          <a:prstGeom prst="rect">
            <a:avLst/>
          </a:prstGeom>
          <a:noFill/>
          <a:ln/>
        </p:spPr>
        <p:txBody>
          <a:bodyPr wrap="square" lIns="0" tIns="0" rIns="0" bIns="0" rtlCol="0" anchor="t"/>
          <a:lstStyle/>
          <a:p>
            <a:pPr indent="0" marL="0">
              <a:buNone/>
            </a:pPr>
            <a:r>
              <a:rPr lang="en-US" sz="1500" dirty="0">
                <a:solidFill>
                  <a:schemeClr val="tx1"/>
                </a:solidFill>
              </a:rPr>
              <a:t>Book a ride, see the driver and vehicle, and switch on Safe Journey Mode.</a:t>
            </a:r>
            <a:endParaRPr lang="en-US" sz="1500" dirty="0"/>
          </a:p>
        </p:txBody>
      </p:sp>
      <p:sp>
        <p:nvSpPr>
          <p:cNvPr id="8" name="card"/>
          <p:cNvSpPr/>
          <p:nvPr/>
        </p:nvSpPr>
        <p:spPr>
          <a:xfrm>
            <a:off x="2816352" y="1645920"/>
            <a:ext cx="2011680" cy="3429000"/>
          </a:xfrm>
          <a:prstGeom prst="roundRect">
            <a:avLst>
              <a:gd name="adj" fmla="val 5455"/>
            </a:avLst>
          </a:prstGeom>
          <a:solidFill>
            <a:schemeClr val="bg2"/>
          </a:solidFill>
          <a:ln/>
        </p:spPr>
      </p:sp>
      <p:sp>
        <p:nvSpPr>
          <p:cNvPr id="9" name="step number"/>
          <p:cNvSpPr/>
          <p:nvPr/>
        </p:nvSpPr>
        <p:spPr>
          <a:xfrm>
            <a:off x="3044952" y="1874520"/>
            <a:ext cx="566928" cy="566928"/>
          </a:xfrm>
          <a:prstGeom prst="ellipse">
            <a:avLst/>
          </a:prstGeom>
          <a:solidFill>
            <a:schemeClr val="accent2"/>
          </a:solidFill>
          <a:ln/>
        </p:spPr>
      </p:sp>
      <p:sp>
        <p:nvSpPr>
          <p:cNvPr id="10" name="Text 8"/>
          <p:cNvSpPr txBox="1"/>
          <p:nvPr/>
        </p:nvSpPr>
        <p:spPr>
          <a:xfrm>
            <a:off x="3044952"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3044952" y="2651760"/>
            <a:ext cx="1645920" cy="640080"/>
          </a:xfrm>
          <a:prstGeom prst="rect">
            <a:avLst/>
          </a:prstGeom>
          <a:noFill/>
          <a:ln/>
        </p:spPr>
        <p:txBody>
          <a:bodyPr wrap="square" lIns="0" tIns="0" rIns="0" bIns="0" rtlCol="0" anchor="t"/>
          <a:lstStyle/>
          <a:p>
            <a:pPr indent="0" marL="0">
              <a:buNone/>
            </a:pPr>
            <a:r>
              <a:rPr lang="en-US" sz="1800" b="1" dirty="0">
                <a:solidFill>
                  <a:schemeClr val="tx2"/>
                </a:solidFill>
              </a:rPr>
              <a:t>Trip is watched</a:t>
            </a:r>
            <a:endParaRPr lang="en-US" sz="1800" dirty="0"/>
          </a:p>
        </p:txBody>
      </p:sp>
      <p:sp>
        <p:nvSpPr>
          <p:cNvPr id="12" name="Text 10"/>
          <p:cNvSpPr txBox="1"/>
          <p:nvPr/>
        </p:nvSpPr>
        <p:spPr>
          <a:xfrm>
            <a:off x="3044952" y="3337560"/>
            <a:ext cx="1645920" cy="1645920"/>
          </a:xfrm>
          <a:prstGeom prst="rect">
            <a:avLst/>
          </a:prstGeom>
          <a:noFill/>
          <a:ln/>
        </p:spPr>
        <p:txBody>
          <a:bodyPr wrap="square" lIns="0" tIns="0" rIns="0" bIns="0" rtlCol="0" anchor="t"/>
          <a:lstStyle/>
          <a:p>
            <a:pPr indent="0" marL="0">
              <a:buNone/>
            </a:pPr>
            <a:r>
              <a:rPr lang="en-US" sz="1500" dirty="0">
                <a:solidFill>
                  <a:schemeClr val="tx1"/>
                </a:solidFill>
              </a:rPr>
              <a:t>Rules look for two things: a long unexpected stop, or a big route deviation.</a:t>
            </a:r>
            <a:endParaRPr lang="en-US" sz="1500" dirty="0"/>
          </a:p>
        </p:txBody>
      </p:sp>
      <p:sp>
        <p:nvSpPr>
          <p:cNvPr id="13" name="card"/>
          <p:cNvSpPr/>
          <p:nvPr/>
        </p:nvSpPr>
        <p:spPr>
          <a:xfrm>
            <a:off x="5084064" y="1645920"/>
            <a:ext cx="2011680" cy="3429000"/>
          </a:xfrm>
          <a:prstGeom prst="roundRect">
            <a:avLst>
              <a:gd name="adj" fmla="val 5455"/>
            </a:avLst>
          </a:prstGeom>
          <a:solidFill>
            <a:schemeClr val="bg2"/>
          </a:solidFill>
          <a:ln/>
        </p:spPr>
      </p:sp>
      <p:sp>
        <p:nvSpPr>
          <p:cNvPr id="14" name="step number"/>
          <p:cNvSpPr/>
          <p:nvPr/>
        </p:nvSpPr>
        <p:spPr>
          <a:xfrm>
            <a:off x="5312664" y="1874520"/>
            <a:ext cx="566928" cy="566928"/>
          </a:xfrm>
          <a:prstGeom prst="ellipse">
            <a:avLst/>
          </a:prstGeom>
          <a:solidFill>
            <a:schemeClr val="accent3"/>
          </a:solidFill>
          <a:ln/>
        </p:spPr>
      </p:sp>
      <p:sp>
        <p:nvSpPr>
          <p:cNvPr id="15" name="Text 13"/>
          <p:cNvSpPr txBox="1"/>
          <p:nvPr/>
        </p:nvSpPr>
        <p:spPr>
          <a:xfrm>
            <a:off x="5312664" y="1874520"/>
            <a:ext cx="566928" cy="566928"/>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6" name="Text 14"/>
          <p:cNvSpPr txBox="1"/>
          <p:nvPr/>
        </p:nvSpPr>
        <p:spPr>
          <a:xfrm>
            <a:off x="5312664" y="2651760"/>
            <a:ext cx="1645920" cy="640080"/>
          </a:xfrm>
          <a:prstGeom prst="rect">
            <a:avLst/>
          </a:prstGeom>
          <a:noFill/>
          <a:ln/>
        </p:spPr>
        <p:txBody>
          <a:bodyPr wrap="square" lIns="0" tIns="0" rIns="0" bIns="0" rtlCol="0" anchor="t"/>
          <a:lstStyle/>
          <a:p>
            <a:pPr indent="0" marL="0">
              <a:buNone/>
            </a:pPr>
            <a:r>
              <a:rPr lang="en-US" sz="1800" b="1" dirty="0">
                <a:solidFill>
                  <a:schemeClr val="tx2"/>
                </a:solidFill>
              </a:rPr>
              <a:t>We check in</a:t>
            </a:r>
            <a:endParaRPr lang="en-US" sz="1800" dirty="0"/>
          </a:p>
        </p:txBody>
      </p:sp>
      <p:sp>
        <p:nvSpPr>
          <p:cNvPr id="17" name="Text 15"/>
          <p:cNvSpPr txBox="1"/>
          <p:nvPr/>
        </p:nvSpPr>
        <p:spPr>
          <a:xfrm>
            <a:off x="5312664" y="3337560"/>
            <a:ext cx="1645920" cy="1645920"/>
          </a:xfrm>
          <a:prstGeom prst="rect">
            <a:avLst/>
          </a:prstGeom>
          <a:noFill/>
          <a:ln/>
        </p:spPr>
        <p:txBody>
          <a:bodyPr wrap="square" lIns="0" tIns="0" rIns="0" bIns="0" rtlCol="0" anchor="t"/>
          <a:lstStyle/>
          <a:p>
            <a:pPr indent="0" marL="0">
              <a:buNone/>
            </a:pPr>
            <a:r>
              <a:rPr lang="en-US" sz="1500" dirty="0">
                <a:solidFill>
                  <a:schemeClr val="tx1"/>
                </a:solidFill>
              </a:rPr>
              <a:t>“Are you safe?” arrives on WhatsApp and in the app. Reply 1 for yes, 2 for help.</a:t>
            </a:r>
            <a:endParaRPr lang="en-US" sz="1500" dirty="0"/>
          </a:p>
        </p:txBody>
      </p:sp>
      <p:sp>
        <p:nvSpPr>
          <p:cNvPr id="18" name="card"/>
          <p:cNvSpPr/>
          <p:nvPr/>
        </p:nvSpPr>
        <p:spPr>
          <a:xfrm>
            <a:off x="7351776" y="1645920"/>
            <a:ext cx="2011680" cy="3429000"/>
          </a:xfrm>
          <a:prstGeom prst="roundRect">
            <a:avLst>
              <a:gd name="adj" fmla="val 5455"/>
            </a:avLst>
          </a:prstGeom>
          <a:solidFill>
            <a:schemeClr val="bg2"/>
          </a:solidFill>
          <a:ln/>
        </p:spPr>
      </p:sp>
      <p:sp>
        <p:nvSpPr>
          <p:cNvPr id="19" name="step number"/>
          <p:cNvSpPr/>
          <p:nvPr/>
        </p:nvSpPr>
        <p:spPr>
          <a:xfrm>
            <a:off x="7580376" y="1874520"/>
            <a:ext cx="566928" cy="566928"/>
          </a:xfrm>
          <a:prstGeom prst="ellipse">
            <a:avLst/>
          </a:prstGeom>
          <a:solidFill>
            <a:schemeClr val="accent2"/>
          </a:solidFill>
          <a:ln/>
        </p:spPr>
      </p:sp>
      <p:sp>
        <p:nvSpPr>
          <p:cNvPr id="20" name="Text 18"/>
          <p:cNvSpPr txBox="1"/>
          <p:nvPr/>
        </p:nvSpPr>
        <p:spPr>
          <a:xfrm>
            <a:off x="7580376"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7580376" y="2651760"/>
            <a:ext cx="1645920" cy="640080"/>
          </a:xfrm>
          <a:prstGeom prst="rect">
            <a:avLst/>
          </a:prstGeom>
          <a:noFill/>
          <a:ln/>
        </p:spPr>
        <p:txBody>
          <a:bodyPr wrap="square" lIns="0" tIns="0" rIns="0" bIns="0" rtlCol="0" anchor="t"/>
          <a:lstStyle/>
          <a:p>
            <a:pPr indent="0" marL="0">
              <a:buNone/>
            </a:pPr>
            <a:r>
              <a:rPr lang="en-US" sz="1800" b="1" dirty="0">
                <a:solidFill>
                  <a:schemeClr val="tx2"/>
                </a:solidFill>
              </a:rPr>
              <a:t>We escalate</a:t>
            </a:r>
            <a:endParaRPr lang="en-US" sz="1800" dirty="0"/>
          </a:p>
        </p:txBody>
      </p:sp>
      <p:sp>
        <p:nvSpPr>
          <p:cNvPr id="22" name="Text 20"/>
          <p:cNvSpPr txBox="1"/>
          <p:nvPr/>
        </p:nvSpPr>
        <p:spPr>
          <a:xfrm>
            <a:off x="7580376" y="3337560"/>
            <a:ext cx="1645920" cy="1645920"/>
          </a:xfrm>
          <a:prstGeom prst="rect">
            <a:avLst/>
          </a:prstGeom>
          <a:noFill/>
          <a:ln/>
        </p:spPr>
        <p:txBody>
          <a:bodyPr wrap="square" lIns="0" tIns="0" rIns="0" bIns="0" rtlCol="0" anchor="t"/>
          <a:lstStyle/>
          <a:p>
            <a:pPr indent="0" marL="0">
              <a:buNone/>
            </a:pPr>
            <a:r>
              <a:rPr lang="en-US" sz="1500" dirty="0">
                <a:solidFill>
                  <a:schemeClr val="tx1"/>
                </a:solidFill>
              </a:rPr>
              <a:t>If you reply “help”, or don’t reply, the system escalates automatically.</a:t>
            </a:r>
            <a:endParaRPr lang="en-US" sz="1500" dirty="0"/>
          </a:p>
        </p:txBody>
      </p:sp>
      <p:sp>
        <p:nvSpPr>
          <p:cNvPr id="23" name="card"/>
          <p:cNvSpPr/>
          <p:nvPr/>
        </p:nvSpPr>
        <p:spPr>
          <a:xfrm>
            <a:off x="9619488" y="1645920"/>
            <a:ext cx="2011680" cy="3429000"/>
          </a:xfrm>
          <a:prstGeom prst="roundRect">
            <a:avLst>
              <a:gd name="adj" fmla="val 5455"/>
            </a:avLst>
          </a:prstGeom>
          <a:solidFill>
            <a:schemeClr val="bg2"/>
          </a:solidFill>
          <a:ln/>
        </p:spPr>
      </p:sp>
      <p:sp>
        <p:nvSpPr>
          <p:cNvPr id="24" name="step number"/>
          <p:cNvSpPr/>
          <p:nvPr/>
        </p:nvSpPr>
        <p:spPr>
          <a:xfrm>
            <a:off x="9848088" y="1874520"/>
            <a:ext cx="566928" cy="566928"/>
          </a:xfrm>
          <a:prstGeom prst="ellipse">
            <a:avLst/>
          </a:prstGeom>
          <a:solidFill>
            <a:schemeClr val="accent2"/>
          </a:solidFill>
          <a:ln/>
        </p:spPr>
      </p:sp>
      <p:sp>
        <p:nvSpPr>
          <p:cNvPr id="25" name="Text 23"/>
          <p:cNvSpPr txBox="1"/>
          <p:nvPr/>
        </p:nvSpPr>
        <p:spPr>
          <a:xfrm>
            <a:off x="9848088"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4"/>
          <p:cNvSpPr txBox="1"/>
          <p:nvPr/>
        </p:nvSpPr>
        <p:spPr>
          <a:xfrm>
            <a:off x="9848088" y="2651760"/>
            <a:ext cx="1645920" cy="640080"/>
          </a:xfrm>
          <a:prstGeom prst="rect">
            <a:avLst/>
          </a:prstGeom>
          <a:noFill/>
          <a:ln/>
        </p:spPr>
        <p:txBody>
          <a:bodyPr wrap="square" lIns="0" tIns="0" rIns="0" bIns="0" rtlCol="0" anchor="t"/>
          <a:lstStyle/>
          <a:p>
            <a:pPr indent="0" marL="0">
              <a:buNone/>
            </a:pPr>
            <a:r>
              <a:rPr lang="en-US" sz="1800" b="1" dirty="0">
                <a:solidFill>
                  <a:schemeClr val="tx2"/>
                </a:solidFill>
              </a:rPr>
              <a:t>Operator sees it</a:t>
            </a:r>
            <a:endParaRPr lang="en-US" sz="1800" dirty="0"/>
          </a:p>
        </p:txBody>
      </p:sp>
      <p:sp>
        <p:nvSpPr>
          <p:cNvPr id="27" name="Text 25"/>
          <p:cNvSpPr txBox="1"/>
          <p:nvPr/>
        </p:nvSpPr>
        <p:spPr>
          <a:xfrm>
            <a:off x="9848088" y="3337560"/>
            <a:ext cx="1645920" cy="1645920"/>
          </a:xfrm>
          <a:prstGeom prst="rect">
            <a:avLst/>
          </a:prstGeom>
          <a:noFill/>
          <a:ln/>
        </p:spPr>
        <p:txBody>
          <a:bodyPr wrap="square" lIns="0" tIns="0" rIns="0" bIns="0" rtlCol="0" anchor="t"/>
          <a:lstStyle/>
          <a:p>
            <a:pPr indent="0" marL="0">
              <a:buNone/>
            </a:pPr>
            <a:r>
              <a:rPr lang="en-US" sz="1500" dirty="0">
                <a:solidFill>
                  <a:schemeClr val="tx1"/>
                </a:solidFill>
              </a:rPr>
              <a:t>A live dashboard shows the alert with an AI summary. Everything is recorded.</a:t>
            </a:r>
            <a:endParaRPr lang="en-US" sz="1500" dirty="0"/>
          </a:p>
        </p:txBody>
      </p:sp>
      <p:sp>
        <p:nvSpPr>
          <p:cNvPr id="28" name="Text 26"/>
          <p:cNvSpPr txBox="1"/>
          <p:nvPr/>
        </p:nvSpPr>
        <p:spPr>
          <a:xfrm>
            <a:off x="548640" y="5440680"/>
            <a:ext cx="11064240" cy="640080"/>
          </a:xfrm>
          <a:prstGeom prst="rect">
            <a:avLst/>
          </a:prstGeom>
          <a:noFill/>
          <a:ln/>
        </p:spPr>
        <p:txBody>
          <a:bodyPr wrap="square" lIns="0" tIns="0" rIns="0" bIns="0" rtlCol="0" anchor="t"/>
          <a:lstStyle/>
          <a:p>
            <a:pPr indent="0" marL="0">
              <a:buNone/>
            </a:pPr>
            <a:r>
              <a:rPr lang="en-US" sz="1800" b="1" dirty="0">
                <a:solidFill>
                  <a:schemeClr val="tx2"/>
                </a:solidFill>
              </a:rPr>
              <a:t>We never assume the driver is acting maliciously. A stop can have an innocent explanation, so the passenger is always asked first.</a:t>
            </a:r>
            <a:endParaRPr lang="en-US" sz="18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 check-in, not an alarm</a:t>
            </a:r>
            <a:endParaRPr lang="en-US" sz="3600" dirty="0"/>
          </a:p>
        </p:txBody>
      </p:sp>
      <p:sp>
        <p:nvSpPr>
          <p:cNvPr id="3" name="icon circle"/>
          <p:cNvSpPr/>
          <p:nvPr/>
        </p:nvSpPr>
        <p:spPr>
          <a:xfrm>
            <a:off x="548640" y="1554480"/>
            <a:ext cx="640080" cy="640080"/>
          </a:xfrm>
          <a:prstGeom prst="ellipse">
            <a:avLst/>
          </a:prstGeom>
          <a:solidFill>
            <a:schemeClr val="accent2"/>
          </a:solidFill>
          <a:ln/>
        </p:spPr>
      </p:sp>
      <p:pic>
        <p:nvPicPr>
          <p:cNvPr id="4" name="Image 0" descr="icon">    </p:cNvPr>
          <p:cNvPicPr>
            <a:picLocks noChangeAspect="1"/>
          </p:cNvPicPr>
          <p:nvPr/>
        </p:nvPicPr>
        <p:blipFill>
          <a:blip r:embed="rId1"/>
          <a:stretch>
            <a:fillRect/>
          </a:stretch>
        </p:blipFill>
        <p:spPr>
          <a:xfrm>
            <a:off x="715061" y="1720901"/>
            <a:ext cx="307238" cy="307238"/>
          </a:xfrm>
          <a:prstGeom prst="rect">
            <a:avLst/>
          </a:prstGeom>
        </p:spPr>
      </p:pic>
      <p:sp>
        <p:nvSpPr>
          <p:cNvPr id="5" name="Text 2"/>
          <p:cNvSpPr txBox="1"/>
          <p:nvPr/>
        </p:nvSpPr>
        <p:spPr>
          <a:xfrm>
            <a:off x="1463040" y="1554480"/>
            <a:ext cx="5852160" cy="365760"/>
          </a:xfrm>
          <a:prstGeom prst="rect">
            <a:avLst/>
          </a:prstGeom>
          <a:noFill/>
          <a:ln/>
        </p:spPr>
        <p:txBody>
          <a:bodyPr wrap="square" lIns="0" tIns="0" rIns="0" bIns="0" rtlCol="0" anchor="t"/>
          <a:lstStyle/>
          <a:p>
            <a:pPr indent="0" marL="0">
              <a:buNone/>
            </a:pPr>
            <a:r>
              <a:rPr lang="en-US" sz="2000" b="1" dirty="0">
                <a:solidFill>
                  <a:schemeClr val="tx2"/>
                </a:solidFill>
              </a:rPr>
              <a:t>Works outside our app</a:t>
            </a:r>
            <a:endParaRPr lang="en-US" sz="2000" dirty="0"/>
          </a:p>
        </p:txBody>
      </p:sp>
      <p:sp>
        <p:nvSpPr>
          <p:cNvPr id="6" name="Text 3"/>
          <p:cNvSpPr txBox="1"/>
          <p:nvPr/>
        </p:nvSpPr>
        <p:spPr>
          <a:xfrm>
            <a:off x="1463040" y="1965960"/>
            <a:ext cx="5852160" cy="594360"/>
          </a:xfrm>
          <a:prstGeom prst="rect">
            <a:avLst/>
          </a:prstGeom>
          <a:noFill/>
          <a:ln/>
        </p:spPr>
        <p:txBody>
          <a:bodyPr wrap="square" lIns="0" tIns="0" rIns="0" bIns="0" rtlCol="0" anchor="t"/>
          <a:lstStyle/>
          <a:p>
            <a:pPr indent="0" marL="0">
              <a:buNone/>
            </a:pPr>
            <a:r>
              <a:rPr lang="en-US" sz="1500" dirty="0">
                <a:solidFill>
                  <a:schemeClr val="tx1"/>
                </a:solidFill>
              </a:rPr>
              <a:t>You don’t need to open anything. The message simply arrives.</a:t>
            </a:r>
            <a:endParaRPr lang="en-US" sz="1500" dirty="0"/>
          </a:p>
        </p:txBody>
      </p:sp>
      <p:sp>
        <p:nvSpPr>
          <p:cNvPr id="7" name="icon circle"/>
          <p:cNvSpPr/>
          <p:nvPr/>
        </p:nvSpPr>
        <p:spPr>
          <a:xfrm>
            <a:off x="548640" y="2743200"/>
            <a:ext cx="640080" cy="640080"/>
          </a:xfrm>
          <a:prstGeom prst="ellipse">
            <a:avLst/>
          </a:prstGeom>
          <a:solidFill>
            <a:schemeClr val="accent2"/>
          </a:solidFill>
          <a:ln/>
        </p:spPr>
      </p:sp>
      <p:pic>
        <p:nvPicPr>
          <p:cNvPr id="8" name="Image 1" descr="icon">    </p:cNvPr>
          <p:cNvPicPr>
            <a:picLocks noChangeAspect="1"/>
          </p:cNvPicPr>
          <p:nvPr/>
        </p:nvPicPr>
        <p:blipFill>
          <a:blip r:embed="rId2"/>
          <a:stretch>
            <a:fillRect/>
          </a:stretch>
        </p:blipFill>
        <p:spPr>
          <a:xfrm>
            <a:off x="715061" y="2909621"/>
            <a:ext cx="307238" cy="307238"/>
          </a:xfrm>
          <a:prstGeom prst="rect">
            <a:avLst/>
          </a:prstGeom>
        </p:spPr>
      </p:pic>
      <p:sp>
        <p:nvSpPr>
          <p:cNvPr id="9" name="Text 5"/>
          <p:cNvSpPr txBox="1"/>
          <p:nvPr/>
        </p:nvSpPr>
        <p:spPr>
          <a:xfrm>
            <a:off x="1463040" y="2743200"/>
            <a:ext cx="5852160" cy="365760"/>
          </a:xfrm>
          <a:prstGeom prst="rect">
            <a:avLst/>
          </a:prstGeom>
          <a:noFill/>
          <a:ln/>
        </p:spPr>
        <p:txBody>
          <a:bodyPr wrap="square" lIns="0" tIns="0" rIns="0" bIns="0" rtlCol="0" anchor="t"/>
          <a:lstStyle/>
          <a:p>
            <a:pPr indent="0" marL="0">
              <a:buNone/>
            </a:pPr>
            <a:r>
              <a:rPr lang="en-US" sz="2000" b="1" dirty="0">
                <a:solidFill>
                  <a:schemeClr val="tx2"/>
                </a:solidFill>
              </a:rPr>
              <a:t>Already on every phone</a:t>
            </a:r>
            <a:endParaRPr lang="en-US" sz="2000" dirty="0"/>
          </a:p>
        </p:txBody>
      </p:sp>
      <p:sp>
        <p:nvSpPr>
          <p:cNvPr id="10" name="Text 6"/>
          <p:cNvSpPr txBox="1"/>
          <p:nvPr/>
        </p:nvSpPr>
        <p:spPr>
          <a:xfrm>
            <a:off x="1463040" y="3154680"/>
            <a:ext cx="5852160" cy="594360"/>
          </a:xfrm>
          <a:prstGeom prst="rect">
            <a:avLst/>
          </a:prstGeom>
          <a:noFill/>
          <a:ln/>
        </p:spPr>
        <p:txBody>
          <a:bodyPr wrap="square" lIns="0" tIns="0" rIns="0" bIns="0" rtlCol="0" anchor="t"/>
          <a:lstStyle/>
          <a:p>
            <a:pPr indent="0" marL="0">
              <a:buNone/>
            </a:pPr>
            <a:r>
              <a:rPr lang="en-US" sz="1500" dirty="0">
                <a:solidFill>
                  <a:schemeClr val="tx1"/>
                </a:solidFill>
              </a:rPr>
              <a:t>Familiar and trusted, with no extra app to install.</a:t>
            </a:r>
            <a:endParaRPr lang="en-US" sz="1500" dirty="0"/>
          </a:p>
        </p:txBody>
      </p:sp>
      <p:sp>
        <p:nvSpPr>
          <p:cNvPr id="11" name="icon circle"/>
          <p:cNvSpPr/>
          <p:nvPr/>
        </p:nvSpPr>
        <p:spPr>
          <a:xfrm>
            <a:off x="548640" y="3931920"/>
            <a:ext cx="640080" cy="640080"/>
          </a:xfrm>
          <a:prstGeom prst="ellipse">
            <a:avLst/>
          </a:prstGeom>
          <a:solidFill>
            <a:schemeClr val="accent2"/>
          </a:solidFill>
          <a:ln/>
        </p:spPr>
      </p:sp>
      <p:pic>
        <p:nvPicPr>
          <p:cNvPr id="12" name="Image 2" descr="icon">    </p:cNvPr>
          <p:cNvPicPr>
            <a:picLocks noChangeAspect="1"/>
          </p:cNvPicPr>
          <p:nvPr/>
        </p:nvPicPr>
        <p:blipFill>
          <a:blip r:embed="rId3"/>
          <a:stretch>
            <a:fillRect/>
          </a:stretch>
        </p:blipFill>
        <p:spPr>
          <a:xfrm>
            <a:off x="715061" y="4098341"/>
            <a:ext cx="307238" cy="307238"/>
          </a:xfrm>
          <a:prstGeom prst="rect">
            <a:avLst/>
          </a:prstGeom>
        </p:spPr>
      </p:pic>
      <p:sp>
        <p:nvSpPr>
          <p:cNvPr id="13" name="Text 8"/>
          <p:cNvSpPr txBox="1"/>
          <p:nvPr/>
        </p:nvSpPr>
        <p:spPr>
          <a:xfrm>
            <a:off x="1463040" y="3931920"/>
            <a:ext cx="5852160" cy="365760"/>
          </a:xfrm>
          <a:prstGeom prst="rect">
            <a:avLst/>
          </a:prstGeom>
          <a:noFill/>
          <a:ln/>
        </p:spPr>
        <p:txBody>
          <a:bodyPr wrap="square" lIns="0" tIns="0" rIns="0" bIns="0" rtlCol="0" anchor="t"/>
          <a:lstStyle/>
          <a:p>
            <a:pPr indent="0" marL="0">
              <a:buNone/>
            </a:pPr>
            <a:r>
              <a:rPr lang="en-US" sz="2000" b="1" dirty="0">
                <a:solidFill>
                  <a:schemeClr val="tx2"/>
                </a:solidFill>
              </a:rPr>
              <a:t>One tap, not a search</a:t>
            </a:r>
            <a:endParaRPr lang="en-US" sz="2000" dirty="0"/>
          </a:p>
        </p:txBody>
      </p:sp>
      <p:sp>
        <p:nvSpPr>
          <p:cNvPr id="14" name="Text 9"/>
          <p:cNvSpPr txBox="1"/>
          <p:nvPr/>
        </p:nvSpPr>
        <p:spPr>
          <a:xfrm>
            <a:off x="1463040" y="4343400"/>
            <a:ext cx="5852160" cy="594360"/>
          </a:xfrm>
          <a:prstGeom prst="rect">
            <a:avLst/>
          </a:prstGeom>
          <a:noFill/>
          <a:ln/>
        </p:spPr>
        <p:txBody>
          <a:bodyPr wrap="square" lIns="0" tIns="0" rIns="0" bIns="0" rtlCol="0" anchor="t"/>
          <a:lstStyle/>
          <a:p>
            <a:pPr indent="0" marL="0">
              <a:buNone/>
            </a:pPr>
            <a:r>
              <a:rPr lang="en-US" sz="1500" dirty="0">
                <a:solidFill>
                  <a:schemeClr val="tx1"/>
                </a:solidFill>
              </a:rPr>
              <a:t>In a stressful moment you answer “1” or “2”. No hunting for a button.</a:t>
            </a:r>
            <a:endParaRPr lang="en-US" sz="1500" dirty="0"/>
          </a:p>
        </p:txBody>
      </p:sp>
      <p:sp>
        <p:nvSpPr>
          <p:cNvPr id="15" name="rule note"/>
          <p:cNvSpPr/>
          <p:nvPr/>
        </p:nvSpPr>
        <p:spPr>
          <a:xfrm>
            <a:off x="548640" y="5212080"/>
            <a:ext cx="6766560" cy="1005840"/>
          </a:xfrm>
          <a:prstGeom prst="roundRect">
            <a:avLst>
              <a:gd name="adj" fmla="val 10909"/>
            </a:avLst>
          </a:prstGeom>
          <a:solidFill>
            <a:schemeClr val="bg2"/>
          </a:solidFill>
          <a:ln/>
        </p:spPr>
      </p:sp>
      <p:sp>
        <p:nvSpPr>
          <p:cNvPr id="16" name="Text 11"/>
          <p:cNvSpPr txBox="1"/>
          <p:nvPr/>
        </p:nvSpPr>
        <p:spPr>
          <a:xfrm>
            <a:off x="777240" y="5212080"/>
            <a:ext cx="6309360" cy="1005840"/>
          </a:xfrm>
          <a:prstGeom prst="rect">
            <a:avLst/>
          </a:prstGeom>
          <a:noFill/>
          <a:ln/>
        </p:spPr>
        <p:txBody>
          <a:bodyPr wrap="square" lIns="0" tIns="0" rIns="0" bIns="0" rtlCol="0" anchor="ctr"/>
          <a:lstStyle/>
          <a:p>
            <a:pPr indent="0" marL="0">
              <a:buNone/>
            </a:pPr>
            <a:r>
              <a:rPr lang="en-US" sz="1500" b="1" dirty="0">
                <a:solidFill>
                  <a:schemeClr val="tx2"/>
                </a:solidFill>
              </a:rPr>
              <a:t>Reply 1: the alert closes.  Reply 2, or no reply: escalation begins. Silence is recorded as a fact, never as a conclusion.</a:t>
            </a:r>
            <a:endParaRPr lang="en-US" sz="1500" dirty="0"/>
          </a:p>
        </p:txBody>
      </p:sp>
      <p:sp>
        <p:nvSpPr>
          <p:cNvPr id="17" name="phone body"/>
          <p:cNvSpPr/>
          <p:nvPr/>
        </p:nvSpPr>
        <p:spPr>
          <a:xfrm>
            <a:off x="8229600" y="1188720"/>
            <a:ext cx="3383280" cy="5074920"/>
          </a:xfrm>
          <a:prstGeom prst="roundRect">
            <a:avLst>
              <a:gd name="adj" fmla="val 8108"/>
            </a:avLst>
          </a:prstGeom>
          <a:solidFill>
            <a:schemeClr val="tx2"/>
          </a:solidFill>
          <a:ln/>
        </p:spPr>
      </p:sp>
      <p:sp>
        <p:nvSpPr>
          <p:cNvPr id="18" name="phone screen"/>
          <p:cNvSpPr/>
          <p:nvPr/>
        </p:nvSpPr>
        <p:spPr>
          <a:xfrm>
            <a:off x="8366760" y="1417320"/>
            <a:ext cx="3108960" cy="4617720"/>
          </a:xfrm>
          <a:prstGeom prst="roundRect">
            <a:avLst>
              <a:gd name="adj" fmla="val 5882"/>
            </a:avLst>
          </a:prstGeom>
          <a:solidFill>
            <a:schemeClr val="bg2"/>
          </a:solidFill>
          <a:ln/>
        </p:spPr>
      </p:sp>
      <p:sp>
        <p:nvSpPr>
          <p:cNvPr id="19" name="Text 14"/>
          <p:cNvSpPr txBox="1"/>
          <p:nvPr/>
        </p:nvSpPr>
        <p:spPr>
          <a:xfrm>
            <a:off x="8595360" y="1600200"/>
            <a:ext cx="2651760" cy="274320"/>
          </a:xfrm>
          <a:prstGeom prst="rect">
            <a:avLst/>
          </a:prstGeom>
          <a:noFill/>
          <a:ln/>
        </p:spPr>
        <p:txBody>
          <a:bodyPr wrap="square" lIns="0" tIns="0" rIns="0" bIns="0" rtlCol="0" anchor="t"/>
          <a:lstStyle/>
          <a:p>
            <a:pPr indent="0" marL="0">
              <a:buNone/>
            </a:pPr>
            <a:r>
              <a:rPr lang="en-US" sz="1200" b="1" dirty="0">
                <a:solidFill>
                  <a:schemeClr val="accent6"/>
                </a:solidFill>
              </a:rPr>
              <a:t>MzansiRide SafeAI</a:t>
            </a:r>
            <a:endParaRPr lang="en-US" sz="1200" dirty="0"/>
          </a:p>
        </p:txBody>
      </p:sp>
      <p:sp>
        <p:nvSpPr>
          <p:cNvPr id="20" name="message bubble"/>
          <p:cNvSpPr/>
          <p:nvPr/>
        </p:nvSpPr>
        <p:spPr>
          <a:xfrm>
            <a:off x="8549640" y="2011680"/>
            <a:ext cx="2606040" cy="1645920"/>
          </a:xfrm>
          <a:prstGeom prst="roundRect">
            <a:avLst>
              <a:gd name="adj" fmla="val 8333"/>
            </a:avLst>
          </a:prstGeom>
          <a:solidFill>
            <a:schemeClr val="bg1"/>
          </a:solidFill>
          <a:ln/>
        </p:spPr>
      </p:sp>
      <p:sp>
        <p:nvSpPr>
          <p:cNvPr id="21" name="Text 16"/>
          <p:cNvSpPr txBox="1"/>
          <p:nvPr/>
        </p:nvSpPr>
        <p:spPr>
          <a:xfrm>
            <a:off x="8732520" y="2148840"/>
            <a:ext cx="2240280" cy="1371600"/>
          </a:xfrm>
          <a:prstGeom prst="rect">
            <a:avLst/>
          </a:prstGeom>
          <a:noFill/>
          <a:ln/>
        </p:spPr>
        <p:txBody>
          <a:bodyPr wrap="square" lIns="0" tIns="0" rIns="0" bIns="0" rtlCol="0" anchor="t"/>
          <a:lstStyle/>
          <a:p>
            <a:pPr indent="0" marL="0">
              <a:buNone/>
            </a:pPr>
            <a:r>
              <a:rPr lang="en-US" sz="1400" dirty="0">
                <a:solidFill>
                  <a:schemeClr val="tx1"/>
                </a:solidFill>
              </a:rPr>
              <a:t>⚠️ Sarah, your trip has stopped off-route. Are you safe?</a:t>
            </a:r>
            <a:endParaRPr lang="en-US" sz="1400" dirty="0"/>
          </a:p>
          <a:p>
            <a:pPr indent="0" marL="0">
              <a:buNone/>
            </a:pPr>
            <a:r>
              <a:rPr lang="en-US" sz="1400" dirty="0">
                <a:solidFill>
                  <a:schemeClr val="tx1"/>
                </a:solidFill>
              </a:rPr>
              <a:t>Reply 1 = Safe   2 = Help</a:t>
            </a:r>
            <a:endParaRPr lang="en-US" sz="1400" dirty="0"/>
          </a:p>
        </p:txBody>
      </p:sp>
      <p:sp>
        <p:nvSpPr>
          <p:cNvPr id="22" name="reply bubble"/>
          <p:cNvSpPr/>
          <p:nvPr/>
        </p:nvSpPr>
        <p:spPr>
          <a:xfrm>
            <a:off x="10561320" y="3886200"/>
            <a:ext cx="594360" cy="502920"/>
          </a:xfrm>
          <a:prstGeom prst="roundRect">
            <a:avLst>
              <a:gd name="adj" fmla="val 27273"/>
            </a:avLst>
          </a:prstGeom>
          <a:solidFill>
            <a:schemeClr val="accent2"/>
          </a:solidFill>
          <a:ln/>
        </p:spPr>
      </p:sp>
      <p:sp>
        <p:nvSpPr>
          <p:cNvPr id="23" name="Text 18"/>
          <p:cNvSpPr txBox="1"/>
          <p:nvPr/>
        </p:nvSpPr>
        <p:spPr>
          <a:xfrm>
            <a:off x="10561320" y="3886200"/>
            <a:ext cx="59436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4" name="Text 19"/>
          <p:cNvSpPr txBox="1"/>
          <p:nvPr/>
        </p:nvSpPr>
        <p:spPr>
          <a:xfrm>
            <a:off x="8595360" y="5577840"/>
            <a:ext cx="2651760" cy="274320"/>
          </a:xfrm>
          <a:prstGeom prst="rect">
            <a:avLst/>
          </a:prstGeom>
          <a:noFill/>
          <a:ln/>
        </p:spPr>
        <p:txBody>
          <a:bodyPr wrap="square" lIns="0" tIns="0" rIns="0" bIns="0" rtlCol="0" anchor="t"/>
          <a:lstStyle/>
          <a:p>
            <a:pPr algn="ctr" indent="0" marL="0">
              <a:buNone/>
            </a:pPr>
            <a:r>
              <a:rPr lang="en-US" sz="1100" i="1" dirty="0">
                <a:solidFill>
                  <a:schemeClr val="accent6"/>
                </a:solidFill>
              </a:rPr>
              <a:t>Example message</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If you don’t answer</a:t>
            </a:r>
            <a:endParaRPr lang="en-US" sz="3600" dirty="0"/>
          </a:p>
        </p:txBody>
      </p:sp>
      <p:sp>
        <p:nvSpPr>
          <p:cNvPr id="3" name="status pill"/>
          <p:cNvSpPr/>
          <p:nvPr/>
        </p:nvSpPr>
        <p:spPr>
          <a:xfrm>
            <a:off x="9601200" y="658368"/>
            <a:ext cx="2011680" cy="329184"/>
          </a:xfrm>
          <a:prstGeom prst="roundRect">
            <a:avLst>
              <a:gd name="adj" fmla="val 50000"/>
            </a:avLst>
          </a:prstGeom>
          <a:solidFill>
            <a:schemeClr val="accent4"/>
          </a:solidFill>
          <a:ln/>
        </p:spPr>
      </p:sp>
      <p:sp>
        <p:nvSpPr>
          <p:cNvPr id="4" name="Text 2"/>
          <p:cNvSpPr txBox="1"/>
          <p:nvPr/>
        </p:nvSpPr>
        <p:spPr>
          <a:xfrm>
            <a:off x="9601200" y="658368"/>
            <a:ext cx="2011680" cy="329184"/>
          </a:xfrm>
          <a:prstGeom prst="rect">
            <a:avLst/>
          </a:prstGeom>
          <a:noFill/>
          <a:ln/>
        </p:spPr>
        <p:txBody>
          <a:bodyPr wrap="square" lIns="0" tIns="0" rIns="0" bIns="0" rtlCol="0" anchor="ctr"/>
          <a:lstStyle/>
          <a:p>
            <a:pPr algn="ctr" indent="0" marL="0">
              <a:buNone/>
            </a:pPr>
            <a:r>
              <a:rPr lang="en-US" sz="1100" b="1" dirty="0">
                <a:solidFill>
                  <a:schemeClr val="bg1"/>
                </a:solidFill>
              </a:rPr>
              <a:t>WORKING IN PROTOTYPE</a:t>
            </a:r>
            <a:endParaRPr lang="en-US" sz="1100" dirty="0"/>
          </a:p>
        </p:txBody>
      </p:sp>
      <p:sp>
        <p:nvSpPr>
          <p:cNvPr id="5" name="card"/>
          <p:cNvSpPr/>
          <p:nvPr/>
        </p:nvSpPr>
        <p:spPr>
          <a:xfrm>
            <a:off x="548640" y="1645920"/>
            <a:ext cx="1920240" cy="3017520"/>
          </a:xfrm>
          <a:prstGeom prst="roundRect">
            <a:avLst>
              <a:gd name="adj" fmla="val 5714"/>
            </a:avLst>
          </a:prstGeom>
          <a:solidFill>
            <a:schemeClr val="bg2"/>
          </a:solidFill>
          <a:ln/>
        </p:spPr>
      </p:sp>
      <p:sp>
        <p:nvSpPr>
          <p:cNvPr id="6" name="step number"/>
          <p:cNvSpPr/>
          <p:nvPr/>
        </p:nvSpPr>
        <p:spPr>
          <a:xfrm>
            <a:off x="777240" y="1874520"/>
            <a:ext cx="566928" cy="566928"/>
          </a:xfrm>
          <a:prstGeom prst="ellipse">
            <a:avLst/>
          </a:prstGeom>
          <a:solidFill>
            <a:schemeClr val="accent2"/>
          </a:solidFill>
          <a:ln/>
        </p:spPr>
      </p:sp>
      <p:sp>
        <p:nvSpPr>
          <p:cNvPr id="7" name="Text 5"/>
          <p:cNvSpPr txBox="1"/>
          <p:nvPr/>
        </p:nvSpPr>
        <p:spPr>
          <a:xfrm>
            <a:off x="77724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6"/>
          <p:cNvSpPr txBox="1"/>
          <p:nvPr/>
        </p:nvSpPr>
        <p:spPr>
          <a:xfrm>
            <a:off x="777240" y="2651760"/>
            <a:ext cx="1554480" cy="640080"/>
          </a:xfrm>
          <a:prstGeom prst="rect">
            <a:avLst/>
          </a:prstGeom>
          <a:noFill/>
          <a:ln/>
        </p:spPr>
        <p:txBody>
          <a:bodyPr wrap="square" lIns="0" tIns="0" rIns="0" bIns="0" rtlCol="0" anchor="t"/>
          <a:lstStyle/>
          <a:p>
            <a:pPr indent="0" marL="0">
              <a:buNone/>
            </a:pPr>
            <a:r>
              <a:rPr lang="en-US" sz="1700" b="1" dirty="0">
                <a:solidFill>
                  <a:schemeClr val="tx2"/>
                </a:solidFill>
              </a:rPr>
              <a:t>Check-in sent</a:t>
            </a:r>
            <a:endParaRPr lang="en-US" sz="1700" dirty="0"/>
          </a:p>
        </p:txBody>
      </p:sp>
      <p:sp>
        <p:nvSpPr>
          <p:cNvPr id="9" name="Text 7"/>
          <p:cNvSpPr txBox="1"/>
          <p:nvPr/>
        </p:nvSpPr>
        <p:spPr>
          <a:xfrm>
            <a:off x="777240" y="3337560"/>
            <a:ext cx="1554480" cy="1280160"/>
          </a:xfrm>
          <a:prstGeom prst="rect">
            <a:avLst/>
          </a:prstGeom>
          <a:noFill/>
          <a:ln/>
        </p:spPr>
        <p:txBody>
          <a:bodyPr wrap="square" lIns="0" tIns="0" rIns="0" bIns="0" rtlCol="0" anchor="t"/>
          <a:lstStyle/>
          <a:p>
            <a:pPr indent="0" marL="0">
              <a:buNone/>
            </a:pPr>
            <a:r>
              <a:rPr lang="en-US" sz="1400" dirty="0">
                <a:solidFill>
                  <a:schemeClr val="tx1"/>
                </a:solidFill>
              </a:rPr>
              <a:t>A WhatsApp message and an in-app prompt: “Are you safe? Reply 1 or 2.”</a:t>
            </a:r>
            <a:endParaRPr lang="en-US" sz="1400" dirty="0"/>
          </a:p>
        </p:txBody>
      </p:sp>
      <p:sp>
        <p:nvSpPr>
          <p:cNvPr id="10" name="arrow"/>
          <p:cNvSpPr/>
          <p:nvPr/>
        </p:nvSpPr>
        <p:spPr>
          <a:xfrm>
            <a:off x="2468880" y="3154680"/>
            <a:ext cx="365760" cy="0"/>
          </a:xfrm>
          <a:prstGeom prst="line">
            <a:avLst/>
          </a:prstGeom>
          <a:noFill/>
          <a:ln w="25400">
            <a:solidFill>
              <a:schemeClr val="accent6"/>
            </a:solidFill>
            <a:prstDash val="solid"/>
            <a:tailEnd type="triangle"/>
          </a:ln>
        </p:spPr>
      </p:sp>
      <p:sp>
        <p:nvSpPr>
          <p:cNvPr id="11" name="card"/>
          <p:cNvSpPr/>
          <p:nvPr/>
        </p:nvSpPr>
        <p:spPr>
          <a:xfrm>
            <a:off x="2834640" y="1645920"/>
            <a:ext cx="1920240" cy="3017520"/>
          </a:xfrm>
          <a:prstGeom prst="roundRect">
            <a:avLst>
              <a:gd name="adj" fmla="val 5714"/>
            </a:avLst>
          </a:prstGeom>
          <a:solidFill>
            <a:schemeClr val="bg2"/>
          </a:solidFill>
          <a:ln/>
        </p:spPr>
      </p:sp>
      <p:sp>
        <p:nvSpPr>
          <p:cNvPr id="12" name="step number"/>
          <p:cNvSpPr/>
          <p:nvPr/>
        </p:nvSpPr>
        <p:spPr>
          <a:xfrm>
            <a:off x="3063240" y="1874520"/>
            <a:ext cx="566928" cy="566928"/>
          </a:xfrm>
          <a:prstGeom prst="ellipse">
            <a:avLst/>
          </a:prstGeom>
          <a:solidFill>
            <a:schemeClr val="accent2"/>
          </a:solidFill>
          <a:ln/>
        </p:spPr>
      </p:sp>
      <p:sp>
        <p:nvSpPr>
          <p:cNvPr id="13" name="Text 11"/>
          <p:cNvSpPr txBox="1"/>
          <p:nvPr/>
        </p:nvSpPr>
        <p:spPr>
          <a:xfrm>
            <a:off x="306324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2"/>
          <p:cNvSpPr txBox="1"/>
          <p:nvPr/>
        </p:nvSpPr>
        <p:spPr>
          <a:xfrm>
            <a:off x="3063240" y="2651760"/>
            <a:ext cx="1554480" cy="640080"/>
          </a:xfrm>
          <a:prstGeom prst="rect">
            <a:avLst/>
          </a:prstGeom>
          <a:noFill/>
          <a:ln/>
        </p:spPr>
        <p:txBody>
          <a:bodyPr wrap="square" lIns="0" tIns="0" rIns="0" bIns="0" rtlCol="0" anchor="t"/>
          <a:lstStyle/>
          <a:p>
            <a:pPr indent="0" marL="0">
              <a:buNone/>
            </a:pPr>
            <a:r>
              <a:rPr lang="en-US" sz="1700" b="1" dirty="0">
                <a:solidFill>
                  <a:schemeClr val="tx2"/>
                </a:solidFill>
              </a:rPr>
              <a:t>Wait window</a:t>
            </a:r>
            <a:endParaRPr lang="en-US" sz="1700" dirty="0"/>
          </a:p>
        </p:txBody>
      </p:sp>
      <p:sp>
        <p:nvSpPr>
          <p:cNvPr id="15" name="Text 13"/>
          <p:cNvSpPr txBox="1"/>
          <p:nvPr/>
        </p:nvSpPr>
        <p:spPr>
          <a:xfrm>
            <a:off x="3063240" y="3337560"/>
            <a:ext cx="1554480" cy="1280160"/>
          </a:xfrm>
          <a:prstGeom prst="rect">
            <a:avLst/>
          </a:prstGeom>
          <a:noFill/>
          <a:ln/>
        </p:spPr>
        <p:txBody>
          <a:bodyPr wrap="square" lIns="0" tIns="0" rIns="0" bIns="0" rtlCol="0" anchor="t"/>
          <a:lstStyle/>
          <a:p>
            <a:pPr indent="0" marL="0">
              <a:buNone/>
            </a:pPr>
            <a:r>
              <a:rPr lang="en-US" sz="1400" dirty="0">
                <a:solidFill>
                  <a:schemeClr val="tx1"/>
                </a:solidFill>
              </a:rPr>
              <a:t>The operator sets it (1–5 min). A reminder goes out halfway.</a:t>
            </a:r>
            <a:endParaRPr lang="en-US" sz="1400" dirty="0"/>
          </a:p>
        </p:txBody>
      </p:sp>
      <p:sp>
        <p:nvSpPr>
          <p:cNvPr id="16" name="arrow"/>
          <p:cNvSpPr/>
          <p:nvPr/>
        </p:nvSpPr>
        <p:spPr>
          <a:xfrm>
            <a:off x="4754880" y="3154680"/>
            <a:ext cx="365760" cy="0"/>
          </a:xfrm>
          <a:prstGeom prst="line">
            <a:avLst/>
          </a:prstGeom>
          <a:noFill/>
          <a:ln w="25400">
            <a:solidFill>
              <a:schemeClr val="accent6"/>
            </a:solidFill>
            <a:prstDash val="solid"/>
            <a:tailEnd type="triangle"/>
          </a:ln>
        </p:spPr>
      </p:sp>
      <p:sp>
        <p:nvSpPr>
          <p:cNvPr id="17" name="card"/>
          <p:cNvSpPr/>
          <p:nvPr/>
        </p:nvSpPr>
        <p:spPr>
          <a:xfrm>
            <a:off x="5120640" y="1645920"/>
            <a:ext cx="1920240" cy="3017520"/>
          </a:xfrm>
          <a:prstGeom prst="roundRect">
            <a:avLst>
              <a:gd name="adj" fmla="val 5714"/>
            </a:avLst>
          </a:prstGeom>
          <a:solidFill>
            <a:schemeClr val="bg2"/>
          </a:solidFill>
          <a:ln/>
        </p:spPr>
      </p:sp>
      <p:sp>
        <p:nvSpPr>
          <p:cNvPr id="18" name="step number"/>
          <p:cNvSpPr/>
          <p:nvPr/>
        </p:nvSpPr>
        <p:spPr>
          <a:xfrm>
            <a:off x="5349240" y="1874520"/>
            <a:ext cx="566928" cy="566928"/>
          </a:xfrm>
          <a:prstGeom prst="ellipse">
            <a:avLst/>
          </a:prstGeom>
          <a:solidFill>
            <a:schemeClr val="accent3"/>
          </a:solidFill>
          <a:ln/>
        </p:spPr>
      </p:sp>
      <p:sp>
        <p:nvSpPr>
          <p:cNvPr id="19" name="Text 17"/>
          <p:cNvSpPr txBox="1"/>
          <p:nvPr/>
        </p:nvSpPr>
        <p:spPr>
          <a:xfrm>
            <a:off x="5349240" y="1874520"/>
            <a:ext cx="566928" cy="566928"/>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20" name="Text 18"/>
          <p:cNvSpPr txBox="1"/>
          <p:nvPr/>
        </p:nvSpPr>
        <p:spPr>
          <a:xfrm>
            <a:off x="5349240" y="2651760"/>
            <a:ext cx="1554480" cy="640080"/>
          </a:xfrm>
          <a:prstGeom prst="rect">
            <a:avLst/>
          </a:prstGeom>
          <a:noFill/>
          <a:ln/>
        </p:spPr>
        <p:txBody>
          <a:bodyPr wrap="square" lIns="0" tIns="0" rIns="0" bIns="0" rtlCol="0" anchor="t"/>
          <a:lstStyle/>
          <a:p>
            <a:pPr indent="0" marL="0">
              <a:buNone/>
            </a:pPr>
            <a:r>
              <a:rPr lang="en-US" sz="1700" b="1" dirty="0">
                <a:solidFill>
                  <a:schemeClr val="tx2"/>
                </a:solidFill>
              </a:rPr>
              <a:t>Trusted contact told</a:t>
            </a:r>
            <a:endParaRPr lang="en-US" sz="1700" dirty="0"/>
          </a:p>
        </p:txBody>
      </p:sp>
      <p:sp>
        <p:nvSpPr>
          <p:cNvPr id="21" name="Text 19"/>
          <p:cNvSpPr txBox="1"/>
          <p:nvPr/>
        </p:nvSpPr>
        <p:spPr>
          <a:xfrm>
            <a:off x="5349240" y="3337560"/>
            <a:ext cx="1554480" cy="1280160"/>
          </a:xfrm>
          <a:prstGeom prst="rect">
            <a:avLst/>
          </a:prstGeom>
          <a:noFill/>
          <a:ln/>
        </p:spPr>
        <p:txBody>
          <a:bodyPr wrap="square" lIns="0" tIns="0" rIns="0" bIns="0" rtlCol="0" anchor="t"/>
          <a:lstStyle/>
          <a:p>
            <a:pPr indent="0" marL="0">
              <a:buNone/>
            </a:pPr>
            <a:r>
              <a:rPr lang="en-US" sz="1400" dirty="0">
                <a:solidFill>
                  <a:schemeClr val="tx1"/>
                </a:solidFill>
              </a:rPr>
              <a:t>No reply, or a “2”? Her trusted contact is messaged.</a:t>
            </a:r>
            <a:endParaRPr lang="en-US" sz="1400" dirty="0"/>
          </a:p>
        </p:txBody>
      </p:sp>
      <p:sp>
        <p:nvSpPr>
          <p:cNvPr id="22" name="arrow"/>
          <p:cNvSpPr/>
          <p:nvPr/>
        </p:nvSpPr>
        <p:spPr>
          <a:xfrm>
            <a:off x="7040880" y="3154680"/>
            <a:ext cx="365760" cy="0"/>
          </a:xfrm>
          <a:prstGeom prst="line">
            <a:avLst/>
          </a:prstGeom>
          <a:noFill/>
          <a:ln w="25400">
            <a:solidFill>
              <a:schemeClr val="accent6"/>
            </a:solidFill>
            <a:prstDash val="solid"/>
            <a:tailEnd type="triangle"/>
          </a:ln>
        </p:spPr>
      </p:sp>
      <p:sp>
        <p:nvSpPr>
          <p:cNvPr id="23" name="card"/>
          <p:cNvSpPr/>
          <p:nvPr/>
        </p:nvSpPr>
        <p:spPr>
          <a:xfrm>
            <a:off x="7406640" y="1645920"/>
            <a:ext cx="1920240" cy="3017520"/>
          </a:xfrm>
          <a:prstGeom prst="roundRect">
            <a:avLst>
              <a:gd name="adj" fmla="val 5714"/>
            </a:avLst>
          </a:prstGeom>
          <a:solidFill>
            <a:schemeClr val="bg2"/>
          </a:solidFill>
          <a:ln/>
        </p:spPr>
      </p:sp>
      <p:sp>
        <p:nvSpPr>
          <p:cNvPr id="24" name="step number"/>
          <p:cNvSpPr/>
          <p:nvPr/>
        </p:nvSpPr>
        <p:spPr>
          <a:xfrm>
            <a:off x="7635240" y="1874520"/>
            <a:ext cx="566928" cy="566928"/>
          </a:xfrm>
          <a:prstGeom prst="ellipse">
            <a:avLst/>
          </a:prstGeom>
          <a:solidFill>
            <a:schemeClr val="accent2"/>
          </a:solidFill>
          <a:ln/>
        </p:spPr>
      </p:sp>
      <p:sp>
        <p:nvSpPr>
          <p:cNvPr id="25" name="Text 23"/>
          <p:cNvSpPr txBox="1"/>
          <p:nvPr/>
        </p:nvSpPr>
        <p:spPr>
          <a:xfrm>
            <a:off x="763524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4"/>
          <p:cNvSpPr txBox="1"/>
          <p:nvPr/>
        </p:nvSpPr>
        <p:spPr>
          <a:xfrm>
            <a:off x="7635240" y="2651760"/>
            <a:ext cx="1554480" cy="640080"/>
          </a:xfrm>
          <a:prstGeom prst="rect">
            <a:avLst/>
          </a:prstGeom>
          <a:noFill/>
          <a:ln/>
        </p:spPr>
        <p:txBody>
          <a:bodyPr wrap="square" lIns="0" tIns="0" rIns="0" bIns="0" rtlCol="0" anchor="t"/>
          <a:lstStyle/>
          <a:p>
            <a:pPr indent="0" marL="0">
              <a:buNone/>
            </a:pPr>
            <a:r>
              <a:rPr lang="en-US" sz="1700" b="1" dirty="0">
                <a:solidFill>
                  <a:schemeClr val="tx2"/>
                </a:solidFill>
              </a:rPr>
              <a:t>Operator alerted</a:t>
            </a:r>
            <a:endParaRPr lang="en-US" sz="1700" dirty="0"/>
          </a:p>
        </p:txBody>
      </p:sp>
      <p:sp>
        <p:nvSpPr>
          <p:cNvPr id="27" name="Text 25"/>
          <p:cNvSpPr txBox="1"/>
          <p:nvPr/>
        </p:nvSpPr>
        <p:spPr>
          <a:xfrm>
            <a:off x="7635240" y="3337560"/>
            <a:ext cx="1554480" cy="1280160"/>
          </a:xfrm>
          <a:prstGeom prst="rect">
            <a:avLst/>
          </a:prstGeom>
          <a:noFill/>
          <a:ln/>
        </p:spPr>
        <p:txBody>
          <a:bodyPr wrap="square" lIns="0" tIns="0" rIns="0" bIns="0" rtlCol="0" anchor="t"/>
          <a:lstStyle/>
          <a:p>
            <a:pPr indent="0" marL="0">
              <a:buNone/>
            </a:pPr>
            <a:r>
              <a:rPr lang="en-US" sz="1400" dirty="0">
                <a:solidFill>
                  <a:schemeClr val="tx1"/>
                </a:solidFill>
              </a:rPr>
              <a:t>The trip turns red, with the AI’s one-line next step.</a:t>
            </a:r>
            <a:endParaRPr lang="en-US" sz="1400" dirty="0"/>
          </a:p>
        </p:txBody>
      </p:sp>
      <p:sp>
        <p:nvSpPr>
          <p:cNvPr id="28" name="arrow"/>
          <p:cNvSpPr/>
          <p:nvPr/>
        </p:nvSpPr>
        <p:spPr>
          <a:xfrm>
            <a:off x="9326880" y="3154680"/>
            <a:ext cx="365760" cy="0"/>
          </a:xfrm>
          <a:prstGeom prst="line">
            <a:avLst/>
          </a:prstGeom>
          <a:noFill/>
          <a:ln w="25400">
            <a:solidFill>
              <a:schemeClr val="accent6"/>
            </a:solidFill>
            <a:prstDash val="solid"/>
            <a:tailEnd type="triangle"/>
          </a:ln>
        </p:spPr>
      </p:sp>
      <p:sp>
        <p:nvSpPr>
          <p:cNvPr id="29" name="card"/>
          <p:cNvSpPr/>
          <p:nvPr/>
        </p:nvSpPr>
        <p:spPr>
          <a:xfrm>
            <a:off x="9692640" y="1645920"/>
            <a:ext cx="1920240" cy="3017520"/>
          </a:xfrm>
          <a:prstGeom prst="roundRect">
            <a:avLst>
              <a:gd name="adj" fmla="val 5714"/>
            </a:avLst>
          </a:prstGeom>
          <a:solidFill>
            <a:schemeClr val="bg2"/>
          </a:solidFill>
          <a:ln/>
        </p:spPr>
      </p:sp>
      <p:sp>
        <p:nvSpPr>
          <p:cNvPr id="30" name="step number"/>
          <p:cNvSpPr/>
          <p:nvPr/>
        </p:nvSpPr>
        <p:spPr>
          <a:xfrm>
            <a:off x="9921240" y="1874520"/>
            <a:ext cx="566928" cy="566928"/>
          </a:xfrm>
          <a:prstGeom prst="ellipse">
            <a:avLst/>
          </a:prstGeom>
          <a:solidFill>
            <a:schemeClr val="accent2"/>
          </a:solidFill>
          <a:ln/>
        </p:spPr>
      </p:sp>
      <p:sp>
        <p:nvSpPr>
          <p:cNvPr id="31" name="Text 29"/>
          <p:cNvSpPr txBox="1"/>
          <p:nvPr/>
        </p:nvSpPr>
        <p:spPr>
          <a:xfrm>
            <a:off x="992124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30"/>
          <p:cNvSpPr txBox="1"/>
          <p:nvPr/>
        </p:nvSpPr>
        <p:spPr>
          <a:xfrm>
            <a:off x="9921240" y="2651760"/>
            <a:ext cx="1554480" cy="640080"/>
          </a:xfrm>
          <a:prstGeom prst="rect">
            <a:avLst/>
          </a:prstGeom>
          <a:noFill/>
          <a:ln/>
        </p:spPr>
        <p:txBody>
          <a:bodyPr wrap="square" lIns="0" tIns="0" rIns="0" bIns="0" rtlCol="0" anchor="t"/>
          <a:lstStyle/>
          <a:p>
            <a:pPr indent="0" marL="0">
              <a:buNone/>
            </a:pPr>
            <a:r>
              <a:rPr lang="en-US" sz="1700" b="1" dirty="0">
                <a:solidFill>
                  <a:schemeClr val="tx2"/>
                </a:solidFill>
              </a:rPr>
              <a:t>A person acts</a:t>
            </a:r>
            <a:endParaRPr lang="en-US" sz="1700" dirty="0"/>
          </a:p>
        </p:txBody>
      </p:sp>
      <p:sp>
        <p:nvSpPr>
          <p:cNvPr id="33" name="Text 31"/>
          <p:cNvSpPr txBox="1"/>
          <p:nvPr/>
        </p:nvSpPr>
        <p:spPr>
          <a:xfrm>
            <a:off x="9921240" y="3337560"/>
            <a:ext cx="1554480" cy="1280160"/>
          </a:xfrm>
          <a:prstGeom prst="rect">
            <a:avLst/>
          </a:prstGeom>
          <a:noFill/>
          <a:ln/>
        </p:spPr>
        <p:txBody>
          <a:bodyPr wrap="square" lIns="0" tIns="0" rIns="0" bIns="0" rtlCol="0" anchor="t"/>
          <a:lstStyle/>
          <a:p>
            <a:pPr indent="0" marL="0">
              <a:buNone/>
            </a:pPr>
            <a:r>
              <a:rPr lang="en-US" sz="1400" dirty="0">
                <a:solidFill>
                  <a:schemeClr val="tx1"/>
                </a:solidFill>
              </a:rPr>
              <a:t>The operator calls the driver. Everything is logged.</a:t>
            </a:r>
            <a:endParaRPr lang="en-US" sz="1400" dirty="0"/>
          </a:p>
        </p:txBody>
      </p:sp>
      <p:sp>
        <p:nvSpPr>
          <p:cNvPr id="34" name="reply note"/>
          <p:cNvSpPr/>
          <p:nvPr/>
        </p:nvSpPr>
        <p:spPr>
          <a:xfrm>
            <a:off x="548640" y="4937760"/>
            <a:ext cx="11091672" cy="594360"/>
          </a:xfrm>
          <a:prstGeom prst="roundRect">
            <a:avLst>
              <a:gd name="adj" fmla="val 18462"/>
            </a:avLst>
          </a:prstGeom>
          <a:solidFill>
            <a:schemeClr val="bg2"/>
          </a:solidFill>
          <a:ln/>
        </p:spPr>
      </p:sp>
      <p:sp>
        <p:nvSpPr>
          <p:cNvPr id="35" name="Text 33"/>
          <p:cNvSpPr txBox="1"/>
          <p:nvPr/>
        </p:nvSpPr>
        <p:spPr>
          <a:xfrm>
            <a:off x="822960" y="4937760"/>
            <a:ext cx="10515600" cy="594360"/>
          </a:xfrm>
          <a:prstGeom prst="rect">
            <a:avLst/>
          </a:prstGeom>
          <a:noFill/>
          <a:ln/>
        </p:spPr>
        <p:txBody>
          <a:bodyPr wrap="square" lIns="0" tIns="0" rIns="0" bIns="0" rtlCol="0" anchor="ctr"/>
          <a:lstStyle/>
          <a:p>
            <a:pPr indent="0" marL="0">
              <a:buNone/>
            </a:pPr>
            <a:r>
              <a:rPr lang="en-US" sz="1600" b="1" dirty="0">
                <a:solidFill>
                  <a:schemeClr val="tx2"/>
                </a:solidFill>
              </a:rPr>
              <a:t>Reply 1 at any point and the alert closes. Silence is recorded as a fact, never as a conclusion.</a:t>
            </a:r>
            <a:endParaRPr lang="en-US" sz="1600" dirty="0"/>
          </a:p>
        </p:txBody>
      </p:sp>
      <p:sp>
        <p:nvSpPr>
          <p:cNvPr id="36" name="claims strip"/>
          <p:cNvSpPr/>
          <p:nvPr/>
        </p:nvSpPr>
        <p:spPr>
          <a:xfrm>
            <a:off x="548640" y="5623560"/>
            <a:ext cx="11091672" cy="640080"/>
          </a:xfrm>
          <a:prstGeom prst="roundRect">
            <a:avLst>
              <a:gd name="adj" fmla="val 17143"/>
            </a:avLst>
          </a:prstGeom>
          <a:solidFill>
            <a:schemeClr val="tx2"/>
          </a:solidFill>
          <a:ln/>
        </p:spPr>
      </p:sp>
      <p:sp>
        <p:nvSpPr>
          <p:cNvPr id="37" name="Text 35"/>
          <p:cNvSpPr txBox="1"/>
          <p:nvPr/>
        </p:nvSpPr>
        <p:spPr>
          <a:xfrm>
            <a:off x="822960" y="5623560"/>
            <a:ext cx="10515600" cy="640080"/>
          </a:xfrm>
          <a:prstGeom prst="rect">
            <a:avLst/>
          </a:prstGeom>
          <a:noFill/>
          <a:ln/>
        </p:spPr>
        <p:txBody>
          <a:bodyPr wrap="square" lIns="0" tIns="0" rIns="0" bIns="0" rtlCol="0" anchor="ctr"/>
          <a:lstStyle/>
          <a:p>
            <a:pPr indent="0" marL="0">
              <a:buNone/>
            </a:pPr>
            <a:r>
              <a:rPr lang="en-US" sz="1600" b="1" dirty="0">
                <a:solidFill>
                  <a:schemeClr val="bg1"/>
                </a:solidFill>
              </a:rPr>
              <a:t>We never auto-call emergency services or assume wrongdoing. People make those decisions.</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WhatsApp: a safety line, not just an alert</a:t>
            </a:r>
            <a:endParaRPr lang="en-US" sz="3600" dirty="0"/>
          </a:p>
        </p:txBody>
      </p:sp>
      <p:sp>
        <p:nvSpPr>
          <p:cNvPr id="3" name="commands card"/>
          <p:cNvSpPr/>
          <p:nvPr/>
        </p:nvSpPr>
        <p:spPr>
          <a:xfrm>
            <a:off x="548640" y="1463040"/>
            <a:ext cx="4937760" cy="4663440"/>
          </a:xfrm>
          <a:prstGeom prst="roundRect">
            <a:avLst>
              <a:gd name="adj" fmla="val 2353"/>
            </a:avLst>
          </a:prstGeom>
          <a:solidFill>
            <a:schemeClr val="bg2"/>
          </a:solidFill>
          <a:ln/>
        </p:spPr>
      </p:sp>
      <p:sp>
        <p:nvSpPr>
          <p:cNvPr id="4" name="Text 2"/>
          <p:cNvSpPr txBox="1"/>
          <p:nvPr/>
        </p:nvSpPr>
        <p:spPr>
          <a:xfrm>
            <a:off x="822960" y="1645920"/>
            <a:ext cx="4389120" cy="411480"/>
          </a:xfrm>
          <a:prstGeom prst="rect">
            <a:avLst/>
          </a:prstGeom>
          <a:noFill/>
          <a:ln/>
        </p:spPr>
        <p:txBody>
          <a:bodyPr wrap="square" lIns="0" tIns="0" rIns="0" bIns="0" rtlCol="0" anchor="t"/>
          <a:lstStyle/>
          <a:p>
            <a:pPr indent="0" marL="0">
              <a:buNone/>
            </a:pPr>
            <a:r>
              <a:rPr lang="en-US" sz="2000" b="1" dirty="0">
                <a:solidFill>
                  <a:schemeClr val="tx2"/>
                </a:solidFill>
              </a:rPr>
              <a:t>Say it on WhatsApp</a:t>
            </a:r>
            <a:endParaRPr lang="en-US" sz="2000" dirty="0"/>
          </a:p>
        </p:txBody>
      </p:sp>
      <p:sp>
        <p:nvSpPr>
          <p:cNvPr id="5" name="Text 3"/>
          <p:cNvSpPr txBox="1"/>
          <p:nvPr/>
        </p:nvSpPr>
        <p:spPr>
          <a:xfrm>
            <a:off x="822960" y="224028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CHECK &lt;plate&gt;</a:t>
            </a:r>
            <a:endParaRPr lang="en-US" sz="1400" dirty="0"/>
          </a:p>
        </p:txBody>
      </p:sp>
      <p:sp>
        <p:nvSpPr>
          <p:cNvPr id="6" name="Text 4"/>
          <p:cNvSpPr txBox="1"/>
          <p:nvPr/>
        </p:nvSpPr>
        <p:spPr>
          <a:xfrm>
            <a:off x="2651760" y="2240280"/>
            <a:ext cx="2697480" cy="548640"/>
          </a:xfrm>
          <a:prstGeom prst="rect">
            <a:avLst/>
          </a:prstGeom>
          <a:noFill/>
          <a:ln/>
        </p:spPr>
        <p:txBody>
          <a:bodyPr wrap="square" lIns="0" tIns="0" rIns="0" bIns="0" rtlCol="0" anchor="ctr"/>
          <a:lstStyle/>
          <a:p>
            <a:pPr indent="0" marL="0">
              <a:buNone/>
            </a:pPr>
            <a:r>
              <a:rPr lang="en-US" sz="1400" dirty="0">
                <a:solidFill>
                  <a:schemeClr val="tx1"/>
                </a:solidFill>
              </a:rPr>
              <a:t>Look up a driver by plate or name (simulated)</a:t>
            </a:r>
            <a:endParaRPr lang="en-US" sz="1400" dirty="0"/>
          </a:p>
        </p:txBody>
      </p:sp>
      <p:sp>
        <p:nvSpPr>
          <p:cNvPr id="7" name="Text 5"/>
          <p:cNvSpPr txBox="1"/>
          <p:nvPr/>
        </p:nvSpPr>
        <p:spPr>
          <a:xfrm>
            <a:off x="822960" y="288036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TRIP &lt;code&gt;</a:t>
            </a:r>
            <a:endParaRPr lang="en-US" sz="1400" dirty="0"/>
          </a:p>
        </p:txBody>
      </p:sp>
      <p:sp>
        <p:nvSpPr>
          <p:cNvPr id="8" name="Text 6"/>
          <p:cNvSpPr txBox="1"/>
          <p:nvPr/>
        </p:nvSpPr>
        <p:spPr>
          <a:xfrm>
            <a:off x="2651760" y="2880360"/>
            <a:ext cx="2697480" cy="548640"/>
          </a:xfrm>
          <a:prstGeom prst="rect">
            <a:avLst/>
          </a:prstGeom>
          <a:noFill/>
          <a:ln/>
        </p:spPr>
        <p:txBody>
          <a:bodyPr wrap="square" lIns="0" tIns="0" rIns="0" bIns="0" rtlCol="0" anchor="ctr"/>
          <a:lstStyle/>
          <a:p>
            <a:pPr indent="0" marL="0">
              <a:buNone/>
            </a:pPr>
            <a:r>
              <a:rPr lang="en-US" sz="1400" dirty="0">
                <a:solidFill>
                  <a:schemeClr val="tx1"/>
                </a:solidFill>
              </a:rPr>
              <a:t>Link this chat to your trip</a:t>
            </a:r>
            <a:endParaRPr lang="en-US" sz="1400" dirty="0"/>
          </a:p>
        </p:txBody>
      </p:sp>
      <p:sp>
        <p:nvSpPr>
          <p:cNvPr id="9" name="Text 7"/>
          <p:cNvSpPr txBox="1"/>
          <p:nvPr/>
        </p:nvSpPr>
        <p:spPr>
          <a:xfrm>
            <a:off x="822960" y="352044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STATUS</a:t>
            </a:r>
            <a:endParaRPr lang="en-US" sz="1400" dirty="0"/>
          </a:p>
        </p:txBody>
      </p:sp>
      <p:sp>
        <p:nvSpPr>
          <p:cNvPr id="10" name="Text 8"/>
          <p:cNvSpPr txBox="1"/>
          <p:nvPr/>
        </p:nvSpPr>
        <p:spPr>
          <a:xfrm>
            <a:off x="2651760" y="3520440"/>
            <a:ext cx="2697480" cy="548640"/>
          </a:xfrm>
          <a:prstGeom prst="rect">
            <a:avLst/>
          </a:prstGeom>
          <a:noFill/>
          <a:ln/>
        </p:spPr>
        <p:txBody>
          <a:bodyPr wrap="square" lIns="0" tIns="0" rIns="0" bIns="0" rtlCol="0" anchor="ctr"/>
          <a:lstStyle/>
          <a:p>
            <a:pPr indent="0" marL="0">
              <a:buNone/>
            </a:pPr>
            <a:r>
              <a:rPr lang="en-US" sz="1400" dirty="0">
                <a:solidFill>
                  <a:schemeClr val="tx1"/>
                </a:solidFill>
              </a:rPr>
              <a:t>See your linked trip</a:t>
            </a:r>
            <a:endParaRPr lang="en-US" sz="1400" dirty="0"/>
          </a:p>
        </p:txBody>
      </p:sp>
      <p:sp>
        <p:nvSpPr>
          <p:cNvPr id="11" name="Text 9"/>
          <p:cNvSpPr txBox="1"/>
          <p:nvPr/>
        </p:nvSpPr>
        <p:spPr>
          <a:xfrm>
            <a:off x="822960" y="416052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SOS</a:t>
            </a:r>
            <a:endParaRPr lang="en-US" sz="1400" dirty="0"/>
          </a:p>
        </p:txBody>
      </p:sp>
      <p:sp>
        <p:nvSpPr>
          <p:cNvPr id="12" name="Text 10"/>
          <p:cNvSpPr txBox="1"/>
          <p:nvPr/>
        </p:nvSpPr>
        <p:spPr>
          <a:xfrm>
            <a:off x="2651760" y="4160520"/>
            <a:ext cx="2697480" cy="548640"/>
          </a:xfrm>
          <a:prstGeom prst="rect">
            <a:avLst/>
          </a:prstGeom>
          <a:noFill/>
          <a:ln/>
        </p:spPr>
        <p:txBody>
          <a:bodyPr wrap="square" lIns="0" tIns="0" rIns="0" bIns="0" rtlCol="0" anchor="ctr"/>
          <a:lstStyle/>
          <a:p>
            <a:pPr indent="0" marL="0">
              <a:buNone/>
            </a:pPr>
            <a:r>
              <a:rPr lang="en-US" sz="1400" dirty="0">
                <a:solidFill>
                  <a:schemeClr val="tx1"/>
                </a:solidFill>
              </a:rPr>
              <a:t>Alert your trusted contact now</a:t>
            </a:r>
            <a:endParaRPr lang="en-US" sz="1400" dirty="0"/>
          </a:p>
        </p:txBody>
      </p:sp>
      <p:sp>
        <p:nvSpPr>
          <p:cNvPr id="13" name="Text 11"/>
          <p:cNvSpPr txBox="1"/>
          <p:nvPr/>
        </p:nvSpPr>
        <p:spPr>
          <a:xfrm>
            <a:off x="822960" y="480060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1  /  2</a:t>
            </a:r>
            <a:endParaRPr lang="en-US" sz="1400" dirty="0"/>
          </a:p>
        </p:txBody>
      </p:sp>
      <p:sp>
        <p:nvSpPr>
          <p:cNvPr id="14" name="Text 12"/>
          <p:cNvSpPr txBox="1"/>
          <p:nvPr/>
        </p:nvSpPr>
        <p:spPr>
          <a:xfrm>
            <a:off x="2651760" y="4800600"/>
            <a:ext cx="2697480" cy="548640"/>
          </a:xfrm>
          <a:prstGeom prst="rect">
            <a:avLst/>
          </a:prstGeom>
          <a:noFill/>
          <a:ln/>
        </p:spPr>
        <p:txBody>
          <a:bodyPr wrap="square" lIns="0" tIns="0" rIns="0" bIns="0" rtlCol="0" anchor="ctr"/>
          <a:lstStyle/>
          <a:p>
            <a:pPr indent="0" marL="0">
              <a:buNone/>
            </a:pPr>
            <a:r>
              <a:rPr lang="en-US" sz="1400" dirty="0">
                <a:solidFill>
                  <a:schemeClr val="tx1"/>
                </a:solidFill>
              </a:rPr>
              <a:t>Answer a check-in: OK, or need help</a:t>
            </a:r>
            <a:endParaRPr lang="en-US" sz="1400" dirty="0"/>
          </a:p>
        </p:txBody>
      </p:sp>
      <p:sp>
        <p:nvSpPr>
          <p:cNvPr id="15" name="Text 13"/>
          <p:cNvSpPr txBox="1"/>
          <p:nvPr/>
        </p:nvSpPr>
        <p:spPr>
          <a:xfrm>
            <a:off x="822960" y="5440680"/>
            <a:ext cx="1783080" cy="54864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Just type</a:t>
            </a:r>
            <a:endParaRPr lang="en-US" sz="1400" dirty="0"/>
          </a:p>
        </p:txBody>
      </p:sp>
      <p:sp>
        <p:nvSpPr>
          <p:cNvPr id="16" name="Text 14"/>
          <p:cNvSpPr txBox="1"/>
          <p:nvPr/>
        </p:nvSpPr>
        <p:spPr>
          <a:xfrm>
            <a:off x="2651760" y="5440680"/>
            <a:ext cx="2697480" cy="548640"/>
          </a:xfrm>
          <a:prstGeom prst="rect">
            <a:avLst/>
          </a:prstGeom>
          <a:noFill/>
          <a:ln/>
        </p:spPr>
        <p:txBody>
          <a:bodyPr wrap="square" lIns="0" tIns="0" rIns="0" bIns="0" rtlCol="0" anchor="ctr"/>
          <a:lstStyle/>
          <a:p>
            <a:pPr indent="0" marL="0">
              <a:buNone/>
            </a:pPr>
            <a:r>
              <a:rPr lang="en-US" sz="1400" dirty="0">
                <a:solidFill>
                  <a:schemeClr val="tx1"/>
                </a:solidFill>
              </a:rPr>
              <a:t>Describe your situation and the AI guides you</a:t>
            </a:r>
            <a:endParaRPr lang="en-US" sz="1400" dirty="0"/>
          </a:p>
        </p:txBody>
      </p:sp>
      <p:sp>
        <p:nvSpPr>
          <p:cNvPr id="17" name="screenshot frame"/>
          <p:cNvSpPr/>
          <p:nvPr/>
        </p:nvSpPr>
        <p:spPr>
          <a:xfrm>
            <a:off x="5916168" y="1481328"/>
            <a:ext cx="5724144" cy="2162020"/>
          </a:xfrm>
          <a:prstGeom prst="roundRect">
            <a:avLst>
              <a:gd name="adj" fmla="val 5075"/>
            </a:avLst>
          </a:prstGeom>
          <a:solidFill>
            <a:schemeClr val="bg2"/>
          </a:solidFill>
          <a:ln/>
        </p:spPr>
      </p:sp>
      <p:pic>
        <p:nvPicPr>
          <p:cNvPr id="18" name="Image 0" descr="Real WhatsApp chat with the MzansiRide SafeAI assistant">    </p:cNvPr>
          <p:cNvPicPr>
            <a:picLocks noChangeAspect="1"/>
          </p:cNvPicPr>
          <p:nvPr/>
        </p:nvPicPr>
        <p:blipFill>
          <a:blip r:embed="rId1"/>
          <a:stretch>
            <a:fillRect/>
          </a:stretch>
        </p:blipFill>
        <p:spPr>
          <a:xfrm>
            <a:off x="5989320" y="1554480"/>
            <a:ext cx="5577840" cy="2015716"/>
          </a:xfrm>
          <a:prstGeom prst="rect">
            <a:avLst/>
          </a:prstGeom>
        </p:spPr>
      </p:pic>
      <p:sp>
        <p:nvSpPr>
          <p:cNvPr id="19" name="Text 16"/>
          <p:cNvSpPr txBox="1"/>
          <p:nvPr/>
        </p:nvSpPr>
        <p:spPr>
          <a:xfrm>
            <a:off x="5989320" y="3707356"/>
            <a:ext cx="5577840" cy="274320"/>
          </a:xfrm>
          <a:prstGeom prst="rect">
            <a:avLst/>
          </a:prstGeom>
          <a:noFill/>
          <a:ln/>
        </p:spPr>
        <p:txBody>
          <a:bodyPr wrap="square" lIns="0" tIns="0" rIns="0" bIns="0" rtlCol="0" anchor="t"/>
          <a:lstStyle/>
          <a:p>
            <a:pPr indent="0" marL="0">
              <a:buNone/>
            </a:pPr>
            <a:r>
              <a:rPr lang="en-US" sz="1100" i="1" dirty="0">
                <a:solidFill>
                  <a:schemeClr val="accent6"/>
                </a:solidFill>
              </a:rPr>
              <a:t>A real chat with our prototype number</a:t>
            </a:r>
            <a:endParaRPr lang="en-US" sz="1100" dirty="0"/>
          </a:p>
        </p:txBody>
      </p:sp>
      <p:sp>
        <p:nvSpPr>
          <p:cNvPr id="20" name="guardrail note"/>
          <p:cNvSpPr/>
          <p:nvPr/>
        </p:nvSpPr>
        <p:spPr>
          <a:xfrm>
            <a:off x="5916168" y="4251960"/>
            <a:ext cx="5724144" cy="1874520"/>
          </a:xfrm>
          <a:prstGeom prst="roundRect">
            <a:avLst>
              <a:gd name="adj" fmla="val 5854"/>
            </a:avLst>
          </a:prstGeom>
          <a:solidFill>
            <a:schemeClr val="tx2"/>
          </a:solidFill>
          <a:ln/>
        </p:spPr>
      </p:sp>
      <p:sp>
        <p:nvSpPr>
          <p:cNvPr id="21" name="Text 18"/>
          <p:cNvSpPr txBox="1"/>
          <p:nvPr/>
        </p:nvSpPr>
        <p:spPr>
          <a:xfrm>
            <a:off x="6172200" y="4251960"/>
            <a:ext cx="5212080" cy="1874520"/>
          </a:xfrm>
          <a:prstGeom prst="rect">
            <a:avLst/>
          </a:prstGeom>
          <a:noFill/>
          <a:ln/>
        </p:spPr>
        <p:txBody>
          <a:bodyPr wrap="square" lIns="0" tIns="0" rIns="0" bIns="0" rtlCol="0" anchor="ctr"/>
          <a:lstStyle/>
          <a:p>
            <a:pPr indent="0" marL="0">
              <a:buNone/>
            </a:pPr>
            <a:r>
              <a:rPr lang="en-US" sz="1600" b="1" dirty="0">
                <a:solidFill>
                  <a:schemeClr val="accent3"/>
                </a:solidFill>
              </a:rPr>
              <a:t>Stays on topic.  </a:t>
            </a:r>
            <a:pPr indent="0" marL="0">
              <a:buNone/>
            </a:pPr>
            <a:r>
              <a:rPr lang="en-US" sz="1600" dirty="0">
                <a:solidFill>
                  <a:schemeClr val="bg1"/>
                </a:solidFill>
              </a:rPr>
              <a:t>The AI, running on Amazon Bedrock, helps with trip safety and the app only. It says it’s a prototype, points to 10111 or 112 in danger, and even greets in isiZulu.</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Know your driver before you get in</a:t>
            </a:r>
            <a:endParaRPr lang="en-US" sz="3600" dirty="0"/>
          </a:p>
        </p:txBody>
      </p:sp>
      <p:sp>
        <p:nvSpPr>
          <p:cNvPr id="3" name="status pill"/>
          <p:cNvSpPr/>
          <p:nvPr/>
        </p:nvSpPr>
        <p:spPr>
          <a:xfrm>
            <a:off x="9601200" y="658368"/>
            <a:ext cx="2011680" cy="329184"/>
          </a:xfrm>
          <a:prstGeom prst="roundRect">
            <a:avLst>
              <a:gd name="adj" fmla="val 50000"/>
            </a:avLst>
          </a:prstGeom>
          <a:solidFill>
            <a:schemeClr val="accent4"/>
          </a:solidFill>
          <a:ln/>
        </p:spPr>
      </p:sp>
      <p:sp>
        <p:nvSpPr>
          <p:cNvPr id="4" name="Text 2"/>
          <p:cNvSpPr txBox="1"/>
          <p:nvPr/>
        </p:nvSpPr>
        <p:spPr>
          <a:xfrm>
            <a:off x="9601200" y="658368"/>
            <a:ext cx="2011680" cy="329184"/>
          </a:xfrm>
          <a:prstGeom prst="rect">
            <a:avLst/>
          </a:prstGeom>
          <a:noFill/>
          <a:ln/>
        </p:spPr>
        <p:txBody>
          <a:bodyPr wrap="square" lIns="0" tIns="0" rIns="0" bIns="0" rtlCol="0" anchor="ctr"/>
          <a:lstStyle/>
          <a:p>
            <a:pPr algn="ctr" indent="0" marL="0">
              <a:buNone/>
            </a:pPr>
            <a:r>
              <a:rPr lang="en-US" sz="1100" b="1" dirty="0">
                <a:solidFill>
                  <a:schemeClr val="bg1"/>
                </a:solidFill>
              </a:rPr>
              <a:t>SIMULATED IN DEMO</a:t>
            </a:r>
            <a:endParaRPr lang="en-US" sz="1100" dirty="0"/>
          </a:p>
        </p:txBody>
      </p:sp>
      <p:sp>
        <p:nvSpPr>
          <p:cNvPr id="5" name="card"/>
          <p:cNvSpPr/>
          <p:nvPr/>
        </p:nvSpPr>
        <p:spPr>
          <a:xfrm>
            <a:off x="548640" y="1508760"/>
            <a:ext cx="3520440" cy="2148840"/>
          </a:xfrm>
          <a:prstGeom prst="roundRect">
            <a:avLst>
              <a:gd name="adj" fmla="val 5106"/>
            </a:avLst>
          </a:prstGeom>
          <a:solidFill>
            <a:schemeClr val="bg2"/>
          </a:solidFill>
          <a:ln/>
        </p:spPr>
      </p:sp>
      <p:sp>
        <p:nvSpPr>
          <p:cNvPr id="6" name="icon circle"/>
          <p:cNvSpPr/>
          <p:nvPr/>
        </p:nvSpPr>
        <p:spPr>
          <a:xfrm>
            <a:off x="822960" y="1691640"/>
            <a:ext cx="548640" cy="548640"/>
          </a:xfrm>
          <a:prstGeom prst="ellipse">
            <a:avLst/>
          </a:prstGeom>
          <a:solidFill>
            <a:schemeClr val="accent2"/>
          </a:solidFill>
          <a:ln/>
        </p:spPr>
      </p:sp>
      <p:pic>
        <p:nvPicPr>
          <p:cNvPr id="7" name="Image 0" descr="icon">    </p:cNvPr>
          <p:cNvPicPr>
            <a:picLocks noChangeAspect="1"/>
          </p:cNvPicPr>
          <p:nvPr/>
        </p:nvPicPr>
        <p:blipFill>
          <a:blip r:embed="rId1"/>
          <a:stretch>
            <a:fillRect/>
          </a:stretch>
        </p:blipFill>
        <p:spPr>
          <a:xfrm>
            <a:off x="965606" y="1834286"/>
            <a:ext cx="263347" cy="263347"/>
          </a:xfrm>
          <a:prstGeom prst="rect">
            <a:avLst/>
          </a:prstGeom>
        </p:spPr>
      </p:pic>
      <p:sp>
        <p:nvSpPr>
          <p:cNvPr id="8" name="Text 5"/>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Driver unlocks the app</a:t>
            </a:r>
            <a:endParaRPr lang="en-US" sz="1800" dirty="0"/>
          </a:p>
        </p:txBody>
      </p:sp>
      <p:sp>
        <p:nvSpPr>
          <p:cNvPr id="9" name="Text 6"/>
          <p:cNvSpPr txBox="1"/>
          <p:nvPr/>
        </p:nvSpPr>
        <p:spPr>
          <a:xfrm>
            <a:off x="822960" y="2423160"/>
            <a:ext cx="2971800" cy="1143000"/>
          </a:xfrm>
          <a:prstGeom prst="rect">
            <a:avLst/>
          </a:prstGeom>
          <a:noFill/>
          <a:ln/>
        </p:spPr>
        <p:txBody>
          <a:bodyPr wrap="square" lIns="0" tIns="0" rIns="0" bIns="0" rtlCol="0" anchor="t"/>
          <a:lstStyle/>
          <a:p>
            <a:pPr indent="0" marL="0">
              <a:buNone/>
            </a:pPr>
            <a:r>
              <a:rPr lang="en-US" sz="1500" dirty="0">
                <a:solidFill>
                  <a:schemeClr val="tx1"/>
                </a:solidFill>
              </a:rPr>
              <a:t>Face ID or fingerprint, on the driver’s own phone, at the start of every ride.</a:t>
            </a:r>
            <a:endParaRPr lang="en-US" sz="1500" dirty="0"/>
          </a:p>
        </p:txBody>
      </p:sp>
      <p:sp>
        <p:nvSpPr>
          <p:cNvPr id="10" name="card"/>
          <p:cNvSpPr/>
          <p:nvPr/>
        </p:nvSpPr>
        <p:spPr>
          <a:xfrm>
            <a:off x="4334256" y="1508760"/>
            <a:ext cx="3520440" cy="2148840"/>
          </a:xfrm>
          <a:prstGeom prst="roundRect">
            <a:avLst>
              <a:gd name="adj" fmla="val 5106"/>
            </a:avLst>
          </a:prstGeom>
          <a:solidFill>
            <a:schemeClr val="bg2"/>
          </a:solidFill>
          <a:ln/>
        </p:spPr>
      </p:sp>
      <p:sp>
        <p:nvSpPr>
          <p:cNvPr id="11" name="icon circle"/>
          <p:cNvSpPr/>
          <p:nvPr/>
        </p:nvSpPr>
        <p:spPr>
          <a:xfrm>
            <a:off x="4608576" y="1691640"/>
            <a:ext cx="548640" cy="548640"/>
          </a:xfrm>
          <a:prstGeom prst="ellipse">
            <a:avLst/>
          </a:prstGeom>
          <a:solidFill>
            <a:schemeClr val="accent2"/>
          </a:solidFill>
          <a:ln/>
        </p:spPr>
      </p:sp>
      <p:pic>
        <p:nvPicPr>
          <p:cNvPr id="12" name="Image 1" descr="icon">    </p:cNvPr>
          <p:cNvPicPr>
            <a:picLocks noChangeAspect="1"/>
          </p:cNvPicPr>
          <p:nvPr/>
        </p:nvPicPr>
        <p:blipFill>
          <a:blip r:embed="rId2"/>
          <a:stretch>
            <a:fillRect/>
          </a:stretch>
        </p:blipFill>
        <p:spPr>
          <a:xfrm>
            <a:off x="4751222" y="1834286"/>
            <a:ext cx="263347" cy="263347"/>
          </a:xfrm>
          <a:prstGeom prst="rect">
            <a:avLst/>
          </a:prstGeom>
        </p:spPr>
      </p:pic>
      <p:sp>
        <p:nvSpPr>
          <p:cNvPr id="13" name="Text 9"/>
          <p:cNvSpPr txBox="1"/>
          <p:nvPr/>
        </p:nvSpPr>
        <p:spPr>
          <a:xfrm>
            <a:off x="5340096"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Passenger sees the result</a:t>
            </a:r>
            <a:endParaRPr lang="en-US" sz="1800" dirty="0"/>
          </a:p>
        </p:txBody>
      </p:sp>
      <p:sp>
        <p:nvSpPr>
          <p:cNvPr id="14" name="Text 10"/>
          <p:cNvSpPr txBox="1"/>
          <p:nvPr/>
        </p:nvSpPr>
        <p:spPr>
          <a:xfrm>
            <a:off x="4608576" y="2423160"/>
            <a:ext cx="2971800" cy="1143000"/>
          </a:xfrm>
          <a:prstGeom prst="rect">
            <a:avLst/>
          </a:prstGeom>
          <a:noFill/>
          <a:ln/>
        </p:spPr>
        <p:txBody>
          <a:bodyPr wrap="square" lIns="0" tIns="0" rIns="0" bIns="0" rtlCol="0" anchor="t"/>
          <a:lstStyle/>
          <a:p>
            <a:pPr indent="0" marL="0">
              <a:buNone/>
            </a:pPr>
            <a:r>
              <a:rPr lang="en-US" sz="1500" dirty="0">
                <a:solidFill>
                  <a:schemeClr val="tx1"/>
                </a:solidFill>
              </a:rPr>
              <a:t>“Verified at the start of this ride” or “Not verified”, on the driver card (simulated in the demo).</a:t>
            </a:r>
            <a:endParaRPr lang="en-US" sz="1500" dirty="0"/>
          </a:p>
        </p:txBody>
      </p:sp>
      <p:sp>
        <p:nvSpPr>
          <p:cNvPr id="15" name="card"/>
          <p:cNvSpPr/>
          <p:nvPr/>
        </p:nvSpPr>
        <p:spPr>
          <a:xfrm>
            <a:off x="8119872" y="1508760"/>
            <a:ext cx="3520440" cy="2148840"/>
          </a:xfrm>
          <a:prstGeom prst="roundRect">
            <a:avLst>
              <a:gd name="adj" fmla="val 5106"/>
            </a:avLst>
          </a:prstGeom>
          <a:solidFill>
            <a:schemeClr val="bg2"/>
          </a:solidFill>
          <a:ln/>
        </p:spPr>
      </p:sp>
      <p:sp>
        <p:nvSpPr>
          <p:cNvPr id="16" name="icon circle"/>
          <p:cNvSpPr/>
          <p:nvPr/>
        </p:nvSpPr>
        <p:spPr>
          <a:xfrm>
            <a:off x="8394192" y="1691640"/>
            <a:ext cx="548640" cy="548640"/>
          </a:xfrm>
          <a:prstGeom prst="ellipse">
            <a:avLst/>
          </a:prstGeom>
          <a:solidFill>
            <a:schemeClr val="accent2"/>
          </a:solidFill>
          <a:ln/>
        </p:spPr>
      </p:sp>
      <p:pic>
        <p:nvPicPr>
          <p:cNvPr id="17" name="Image 2" descr="icon">    </p:cNvPr>
          <p:cNvPicPr>
            <a:picLocks noChangeAspect="1"/>
          </p:cNvPicPr>
          <p:nvPr/>
        </p:nvPicPr>
        <p:blipFill>
          <a:blip r:embed="rId3"/>
          <a:stretch>
            <a:fillRect/>
          </a:stretch>
        </p:blipFill>
        <p:spPr>
          <a:xfrm>
            <a:off x="8536838" y="1834286"/>
            <a:ext cx="263347" cy="263347"/>
          </a:xfrm>
          <a:prstGeom prst="rect">
            <a:avLst/>
          </a:prstGeom>
        </p:spPr>
      </p:pic>
      <p:sp>
        <p:nvSpPr>
          <p:cNvPr id="18" name="Text 13"/>
          <p:cNvSpPr txBox="1"/>
          <p:nvPr/>
        </p:nvSpPr>
        <p:spPr>
          <a:xfrm>
            <a:off x="9125712"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Passenger decides</a:t>
            </a:r>
            <a:endParaRPr lang="en-US" sz="1800" dirty="0"/>
          </a:p>
        </p:txBody>
      </p:sp>
      <p:sp>
        <p:nvSpPr>
          <p:cNvPr id="19" name="Text 14"/>
          <p:cNvSpPr txBox="1"/>
          <p:nvPr/>
        </p:nvSpPr>
        <p:spPr>
          <a:xfrm>
            <a:off x="8394192" y="2423160"/>
            <a:ext cx="2971800" cy="1143000"/>
          </a:xfrm>
          <a:prstGeom prst="rect">
            <a:avLst/>
          </a:prstGeom>
          <a:noFill/>
          <a:ln/>
        </p:spPr>
        <p:txBody>
          <a:bodyPr wrap="square" lIns="0" tIns="0" rIns="0" bIns="0" rtlCol="0" anchor="t"/>
          <a:lstStyle/>
          <a:p>
            <a:pPr indent="0" marL="0">
              <a:buNone/>
            </a:pPr>
            <a:r>
              <a:rPr lang="en-US" sz="1500" dirty="0">
                <a:solidFill>
                  <a:schemeClr val="tx1"/>
                </a:solidFill>
              </a:rPr>
              <a:t>She can go ahead, ask for another ride, or share her trip first.</a:t>
            </a:r>
            <a:endParaRPr lang="en-US" sz="1500" dirty="0"/>
          </a:p>
        </p:txBody>
      </p:sp>
      <p:sp>
        <p:nvSpPr>
          <p:cNvPr id="20" name="limits card"/>
          <p:cNvSpPr/>
          <p:nvPr/>
        </p:nvSpPr>
        <p:spPr>
          <a:xfrm>
            <a:off x="548640" y="3840480"/>
            <a:ext cx="5394960" cy="2423160"/>
          </a:xfrm>
          <a:prstGeom prst="roundRect">
            <a:avLst>
              <a:gd name="adj" fmla="val 4528"/>
            </a:avLst>
          </a:prstGeom>
          <a:solidFill>
            <a:schemeClr val="bg2"/>
          </a:solidFill>
          <a:ln/>
        </p:spPr>
      </p:sp>
      <p:sp>
        <p:nvSpPr>
          <p:cNvPr id="21" name="Text 16"/>
          <p:cNvSpPr txBox="1"/>
          <p:nvPr/>
        </p:nvSpPr>
        <p:spPr>
          <a:xfrm>
            <a:off x="822960" y="3977640"/>
            <a:ext cx="4846320" cy="365760"/>
          </a:xfrm>
          <a:prstGeom prst="rect">
            <a:avLst/>
          </a:prstGeom>
          <a:noFill/>
          <a:ln/>
        </p:spPr>
        <p:txBody>
          <a:bodyPr wrap="square" lIns="0" tIns="0" rIns="0" bIns="0" rtlCol="0" anchor="t"/>
          <a:lstStyle/>
          <a:p>
            <a:pPr indent="0" marL="0">
              <a:buNone/>
            </a:pPr>
            <a:r>
              <a:rPr lang="en-US" sz="1800" b="1" dirty="0">
                <a:solidFill>
                  <a:schemeClr val="tx2"/>
                </a:solidFill>
              </a:rPr>
              <a:t>Honest limits</a:t>
            </a:r>
            <a:endParaRPr lang="en-US" sz="1800" dirty="0"/>
          </a:p>
        </p:txBody>
      </p:sp>
      <p:sp>
        <p:nvSpPr>
          <p:cNvPr id="22" name="Text 17"/>
          <p:cNvSpPr txBox="1"/>
          <p:nvPr/>
        </p:nvSpPr>
        <p:spPr>
          <a:xfrm>
            <a:off x="822960" y="4434840"/>
            <a:ext cx="484632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phone biometric proves the person who unlocked it is the one enrolled on that phone.</a:t>
            </a:r>
            <a:endParaRPr lang="en-US" sz="1400" dirty="0"/>
          </a:p>
          <a:p>
            <a:pPr marL="342900" indent="-342900">
              <a:spcAft>
                <a:spcPts val="600"/>
              </a:spcAft>
              <a:buSzPct val="100000"/>
              <a:buChar char="•"/>
            </a:pPr>
            <a:r>
              <a:rPr lang="en-US" sz="1400" dirty="0">
                <a:solidFill>
                  <a:schemeClr val="tx1"/>
                </a:solidFill>
              </a:rPr>
              <a:t>A one-time ID check at sign-up links that person to a licensed driver.</a:t>
            </a:r>
            <a:endParaRPr lang="en-US" sz="1400" dirty="0"/>
          </a:p>
          <a:p>
            <a:pPr marL="342900" indent="-342900">
              <a:spcAft>
                <a:spcPts val="600"/>
              </a:spcAft>
              <a:buSzPct val="100000"/>
              <a:buChar char="•"/>
            </a:pPr>
            <a:r>
              <a:rPr lang="en-US" sz="1400" dirty="0">
                <a:solidFill>
                  <a:schemeClr val="tx1"/>
                </a:solidFill>
              </a:rPr>
              <a:t>No biometric phone? The card says “Not verified” and the passenger decides.</a:t>
            </a:r>
            <a:endParaRPr lang="en-US" sz="1400" dirty="0"/>
          </a:p>
        </p:txBody>
      </p:sp>
      <p:sp>
        <p:nvSpPr>
          <p:cNvPr id="23" name="privacy card"/>
          <p:cNvSpPr/>
          <p:nvPr/>
        </p:nvSpPr>
        <p:spPr>
          <a:xfrm>
            <a:off x="6245352" y="3840480"/>
            <a:ext cx="5394960" cy="2423160"/>
          </a:xfrm>
          <a:prstGeom prst="roundRect">
            <a:avLst>
              <a:gd name="adj" fmla="val 4528"/>
            </a:avLst>
          </a:prstGeom>
          <a:solidFill>
            <a:schemeClr val="tx2"/>
          </a:solidFill>
          <a:ln/>
        </p:spPr>
      </p:sp>
      <p:sp>
        <p:nvSpPr>
          <p:cNvPr id="24" name="Text 19"/>
          <p:cNvSpPr txBox="1"/>
          <p:nvPr/>
        </p:nvSpPr>
        <p:spPr>
          <a:xfrm>
            <a:off x="6519672" y="3977640"/>
            <a:ext cx="4846320" cy="365760"/>
          </a:xfrm>
          <a:prstGeom prst="rect">
            <a:avLst/>
          </a:prstGeom>
          <a:noFill/>
          <a:ln/>
        </p:spPr>
        <p:txBody>
          <a:bodyPr wrap="square" lIns="0" tIns="0" rIns="0" bIns="0" rtlCol="0" anchor="t"/>
          <a:lstStyle/>
          <a:p>
            <a:pPr indent="0" marL="0">
              <a:buNone/>
            </a:pPr>
            <a:r>
              <a:rPr lang="en-US" sz="1800" b="1" dirty="0">
                <a:solidFill>
                  <a:schemeClr val="accent3"/>
                </a:solidFill>
              </a:rPr>
              <a:t>Privacy by design</a:t>
            </a:r>
            <a:endParaRPr lang="en-US" sz="1800" dirty="0"/>
          </a:p>
        </p:txBody>
      </p:sp>
      <p:sp>
        <p:nvSpPr>
          <p:cNvPr id="25" name="Text 20"/>
          <p:cNvSpPr txBox="1"/>
          <p:nvPr/>
        </p:nvSpPr>
        <p:spPr>
          <a:xfrm>
            <a:off x="6519672" y="4434840"/>
            <a:ext cx="4846320" cy="1737360"/>
          </a:xfrm>
          <a:prstGeom prst="rect">
            <a:avLst/>
          </a:prstGeom>
          <a:noFill/>
          <a:ln/>
        </p:spPr>
        <p:txBody>
          <a:bodyPr wrap="square" lIns="0" tIns="0" rIns="0" bIns="0" rtlCol="0" anchor="t"/>
          <a:lstStyle/>
          <a:p>
            <a:pPr indent="0" marL="0">
              <a:buNone/>
            </a:pPr>
            <a:r>
              <a:rPr lang="en-US" sz="1600" dirty="0">
                <a:solidFill>
                  <a:schemeClr val="bg1"/>
                </a:solidFill>
              </a:rPr>
              <a:t>Face data stays on the driver’s phone. Our system receives only a pass or a fail. Biometrics are special personal information under POPIA, so a formal assessment comes first.</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Safer and cheaper</a:t>
            </a:r>
            <a:endParaRPr lang="en-US" sz="3600" dirty="0"/>
          </a:p>
        </p:txBody>
      </p:sp>
      <p:sp>
        <p:nvSpPr>
          <p:cNvPr id="3" name="headline stat"/>
          <p:cNvSpPr/>
          <p:nvPr/>
        </p:nvSpPr>
        <p:spPr>
          <a:xfrm>
            <a:off x="548640" y="1508760"/>
            <a:ext cx="4023360" cy="4754880"/>
          </a:xfrm>
          <a:prstGeom prst="roundRect">
            <a:avLst>
              <a:gd name="adj" fmla="val 2727"/>
            </a:avLst>
          </a:prstGeom>
          <a:solidFill>
            <a:schemeClr val="tx2"/>
          </a:solidFill>
          <a:ln/>
        </p:spPr>
      </p:sp>
      <p:sp>
        <p:nvSpPr>
          <p:cNvPr id="4" name="Text 2"/>
          <p:cNvSpPr txBox="1"/>
          <p:nvPr/>
        </p:nvSpPr>
        <p:spPr>
          <a:xfrm>
            <a:off x="822960" y="1828800"/>
            <a:ext cx="3474720" cy="1463040"/>
          </a:xfrm>
          <a:prstGeom prst="rect">
            <a:avLst/>
          </a:prstGeom>
          <a:noFill/>
          <a:ln/>
        </p:spPr>
        <p:txBody>
          <a:bodyPr wrap="square" lIns="0" tIns="0" rIns="0" bIns="0" rtlCol="0" anchor="t"/>
          <a:lstStyle/>
          <a:p>
            <a:pPr indent="0" marL="0">
              <a:buNone/>
            </a:pPr>
            <a:r>
              <a:rPr lang="en-US" sz="8800" b="1" dirty="0">
                <a:solidFill>
                  <a:schemeClr val="accent3"/>
                </a:solidFill>
                <a:latin typeface="Cambria" pitchFamily="34" charset="0"/>
                <a:ea typeface="Cambria" pitchFamily="34" charset="-122"/>
                <a:cs typeface="Cambria" pitchFamily="34" charset="-120"/>
              </a:rPr>
              <a:t>60%</a:t>
            </a:r>
            <a:endParaRPr lang="en-US" sz="8800" dirty="0"/>
          </a:p>
        </p:txBody>
      </p:sp>
      <p:sp>
        <p:nvSpPr>
          <p:cNvPr id="5" name="Text 3"/>
          <p:cNvSpPr txBox="1"/>
          <p:nvPr/>
        </p:nvSpPr>
        <p:spPr>
          <a:xfrm>
            <a:off x="822960" y="3429000"/>
            <a:ext cx="3474720" cy="914400"/>
          </a:xfrm>
          <a:prstGeom prst="rect">
            <a:avLst/>
          </a:prstGeom>
          <a:noFill/>
          <a:ln/>
        </p:spPr>
        <p:txBody>
          <a:bodyPr wrap="square" lIns="0" tIns="0" rIns="0" bIns="0" rtlCol="0" anchor="t"/>
          <a:lstStyle/>
          <a:p>
            <a:pPr indent="0" marL="0">
              <a:buNone/>
            </a:pPr>
            <a:r>
              <a:rPr lang="en-US" sz="2200" b="1" dirty="0">
                <a:solidFill>
                  <a:schemeClr val="bg1"/>
                </a:solidFill>
              </a:rPr>
              <a:t>cheaper per rider when three people share</a:t>
            </a:r>
            <a:endParaRPr lang="en-US" sz="2200" dirty="0"/>
          </a:p>
        </p:txBody>
      </p:sp>
      <p:sp>
        <p:nvSpPr>
          <p:cNvPr id="6" name="Text 4"/>
          <p:cNvSpPr txBox="1"/>
          <p:nvPr/>
        </p:nvSpPr>
        <p:spPr>
          <a:xfrm>
            <a:off x="822960" y="4663440"/>
            <a:ext cx="3474720" cy="457200"/>
          </a:xfrm>
          <a:prstGeom prst="rect">
            <a:avLst/>
          </a:prstGeom>
          <a:noFill/>
          <a:ln/>
        </p:spPr>
        <p:txBody>
          <a:bodyPr wrap="square" lIns="0" tIns="0" rIns="0" bIns="0" rtlCol="0" anchor="t"/>
          <a:lstStyle/>
          <a:p>
            <a:pPr indent="0" marL="0">
              <a:buNone/>
            </a:pPr>
            <a:r>
              <a:rPr lang="en-US" sz="2200" b="1" dirty="0">
                <a:solidFill>
                  <a:schemeClr val="accent3"/>
                </a:solidFill>
              </a:rPr>
              <a:t>R67.50 down to R27.00</a:t>
            </a:r>
            <a:endParaRPr lang="en-US" sz="2200" dirty="0"/>
          </a:p>
        </p:txBody>
      </p:sp>
      <p:sp>
        <p:nvSpPr>
          <p:cNvPr id="7" name="Text 5"/>
          <p:cNvSpPr txBox="1"/>
          <p:nvPr/>
        </p:nvSpPr>
        <p:spPr>
          <a:xfrm>
            <a:off x="822960" y="5166360"/>
            <a:ext cx="3474720" cy="320040"/>
          </a:xfrm>
          <a:prstGeom prst="rect">
            <a:avLst/>
          </a:prstGeom>
          <a:noFill/>
          <a:ln/>
        </p:spPr>
        <p:txBody>
          <a:bodyPr wrap="square" lIns="0" tIns="0" rIns="0" bIns="0" rtlCol="0" anchor="t"/>
          <a:lstStyle/>
          <a:p>
            <a:pPr indent="0" marL="0">
              <a:buNone/>
            </a:pPr>
            <a:r>
              <a:rPr lang="en-US" sz="1400" dirty="0">
                <a:solidFill>
                  <a:schemeClr val="accent5"/>
                </a:solidFill>
              </a:rPr>
              <a:t>Illustrative fares</a:t>
            </a:r>
            <a:endParaRPr lang="en-US" sz="1400" dirty="0"/>
          </a:p>
        </p:txBody>
      </p:sp>
      <p:graphicFrame>
        <p:nvGraphicFramePr>
          <p:cNvPr id="8" name="Chart 0" descr=""/>
          <p:cNvGraphicFramePr/>
          <p:nvPr/>
        </p:nvGraphicFramePr>
        <p:xfrm>
          <a:off x="4846320" y="1463040"/>
          <a:ext cx="6766560" cy="3429000"/>
        </p:xfrm>
        <a:graphic xmlns:a="http://schemas.openxmlformats.org/drawingml/2006/main">
          <a:graphicData uri="http://schemas.openxmlformats.org/drawingml/2006/chart">
            <c:chart xmlns:c="http://schemas.openxmlformats.org/drawingml/2006/chart" r:id="rId1"/>
          </a:graphicData>
        </a:graphic>
      </p:graphicFrame>
      <p:sp>
        <p:nvSpPr>
          <p:cNvPr id="9" name="safety link"/>
          <p:cNvSpPr/>
          <p:nvPr/>
        </p:nvSpPr>
        <p:spPr>
          <a:xfrm>
            <a:off x="4846320" y="5029200"/>
            <a:ext cx="6793992" cy="914400"/>
          </a:xfrm>
          <a:prstGeom prst="roundRect">
            <a:avLst>
              <a:gd name="adj" fmla="val 12000"/>
            </a:avLst>
          </a:prstGeom>
          <a:solidFill>
            <a:schemeClr val="bg2"/>
          </a:solidFill>
          <a:ln/>
        </p:spPr>
      </p:sp>
      <p:sp>
        <p:nvSpPr>
          <p:cNvPr id="10" name="Text 7"/>
          <p:cNvSpPr txBox="1"/>
          <p:nvPr/>
        </p:nvSpPr>
        <p:spPr>
          <a:xfrm>
            <a:off x="5074920" y="5029200"/>
            <a:ext cx="6355080" cy="914400"/>
          </a:xfrm>
          <a:prstGeom prst="rect">
            <a:avLst/>
          </a:prstGeom>
          <a:noFill/>
          <a:ln/>
        </p:spPr>
        <p:txBody>
          <a:bodyPr wrap="square" lIns="0" tIns="0" rIns="0" bIns="0" rtlCol="0" anchor="ctr"/>
          <a:lstStyle/>
          <a:p>
            <a:pPr indent="0" marL="0">
              <a:buNone/>
            </a:pPr>
            <a:r>
              <a:rPr lang="en-US" sz="1500" b="1" dirty="0">
                <a:solidFill>
                  <a:schemeClr val="tx2"/>
                </a:solidFill>
              </a:rPr>
              <a:t>Shown before you book, next to the safety check-ins. Sharing only works when people feel safe sharing, so safety is what unlocks the saving.</a:t>
            </a:r>
            <a:endParaRPr lang="en-US" sz="1500" dirty="0"/>
          </a:p>
        </p:txBody>
      </p:sp>
      <p:sp>
        <p:nvSpPr>
          <p:cNvPr id="11" name="Text 8"/>
          <p:cNvSpPr txBox="1"/>
          <p:nvPr/>
        </p:nvSpPr>
        <p:spPr>
          <a:xfrm>
            <a:off x="4846320" y="6035040"/>
            <a:ext cx="6793992" cy="228600"/>
          </a:xfrm>
          <a:prstGeom prst="rect">
            <a:avLst/>
          </a:prstGeom>
          <a:noFill/>
          <a:ln/>
        </p:spPr>
        <p:txBody>
          <a:bodyPr wrap="square" lIns="0" tIns="0" rIns="0" bIns="0" rtlCol="0" anchor="t"/>
          <a:lstStyle/>
          <a:p>
            <a:pPr indent="0" marL="0">
              <a:buNone/>
            </a:pPr>
            <a:r>
              <a:rPr lang="en-US" sz="1100" i="1" dirty="0">
                <a:solidFill>
                  <a:schemeClr val="accent6"/>
                </a:solidFill>
              </a:rPr>
              <a:t>Fares from simple pricing rules (base R15 + R8.50/km + R1.20/min) on a simulated 5.1 km trip.</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the AI does, and doesn’t</a:t>
            </a:r>
            <a:endParaRPr lang="en-US" sz="3600" dirty="0"/>
          </a:p>
        </p:txBody>
      </p:sp>
      <p:sp>
        <p:nvSpPr>
          <p:cNvPr id="3" name="principle"/>
          <p:cNvSpPr/>
          <p:nvPr/>
        </p:nvSpPr>
        <p:spPr>
          <a:xfrm>
            <a:off x="548640" y="1463040"/>
            <a:ext cx="11091672" cy="777240"/>
          </a:xfrm>
          <a:prstGeom prst="roundRect">
            <a:avLst>
              <a:gd name="adj" fmla="val 14118"/>
            </a:avLst>
          </a:prstGeom>
          <a:solidFill>
            <a:schemeClr val="tx2"/>
          </a:solidFill>
          <a:ln/>
        </p:spPr>
      </p:sp>
      <p:sp>
        <p:nvSpPr>
          <p:cNvPr id="4" name="Text 2"/>
          <p:cNvSpPr txBox="1"/>
          <p:nvPr/>
        </p:nvSpPr>
        <p:spPr>
          <a:xfrm>
            <a:off x="548640" y="1463040"/>
            <a:ext cx="11091672" cy="777240"/>
          </a:xfrm>
          <a:prstGeom prst="rect">
            <a:avLst/>
          </a:prstGeom>
          <a:noFill/>
          <a:ln/>
        </p:spPr>
        <p:txBody>
          <a:bodyPr wrap="square" lIns="0" tIns="0" rIns="0" bIns="0" rtlCol="0" anchor="ctr"/>
          <a:lstStyle/>
          <a:p>
            <a:pPr algn="ctr" indent="0" marL="0">
              <a:buNone/>
            </a:pPr>
            <a:r>
              <a:rPr lang="en-US" sz="2400" b="1" dirty="0">
                <a:solidFill>
                  <a:schemeClr val="accent3"/>
                </a:solidFill>
              </a:rPr>
              <a:t>Rules detect.   AI explains.   People decide.</a:t>
            </a:r>
            <a:endParaRPr lang="en-US" sz="2400" dirty="0"/>
          </a:p>
        </p:txBody>
      </p:sp>
      <p:sp>
        <p:nvSpPr>
          <p:cNvPr id="5" name="does"/>
          <p:cNvSpPr/>
          <p:nvPr/>
        </p:nvSpPr>
        <p:spPr>
          <a:xfrm>
            <a:off x="548640" y="2514600"/>
            <a:ext cx="5394960" cy="3611880"/>
          </a:xfrm>
          <a:prstGeom prst="roundRect">
            <a:avLst>
              <a:gd name="adj" fmla="val 3038"/>
            </a:avLst>
          </a:prstGeom>
          <a:solidFill>
            <a:schemeClr val="bg2"/>
          </a:solidFill>
          <a:ln/>
        </p:spPr>
      </p:sp>
      <p:sp>
        <p:nvSpPr>
          <p:cNvPr id="6" name="icon circle"/>
          <p:cNvSpPr/>
          <p:nvPr/>
        </p:nvSpPr>
        <p:spPr>
          <a:xfrm>
            <a:off x="868680" y="2743200"/>
            <a:ext cx="502920" cy="502920"/>
          </a:xfrm>
          <a:prstGeom prst="ellipse">
            <a:avLst/>
          </a:prstGeom>
          <a:solidFill>
            <a:schemeClr val="accent2"/>
          </a:solidFill>
          <a:ln/>
        </p:spPr>
      </p:sp>
      <p:pic>
        <p:nvPicPr>
          <p:cNvPr id="7" name="Image 0" descr="icon">    </p:cNvPr>
          <p:cNvPicPr>
            <a:picLocks noChangeAspect="1"/>
          </p:cNvPicPr>
          <p:nvPr/>
        </p:nvPicPr>
        <p:blipFill>
          <a:blip r:embed="rId1"/>
          <a:stretch>
            <a:fillRect/>
          </a:stretch>
        </p:blipFill>
        <p:spPr>
          <a:xfrm>
            <a:off x="999439" y="2873959"/>
            <a:ext cx="241402" cy="241402"/>
          </a:xfrm>
          <a:prstGeom prst="rect">
            <a:avLst/>
          </a:prstGeom>
        </p:spPr>
      </p:pic>
      <p:sp>
        <p:nvSpPr>
          <p:cNvPr id="8" name="Text 5"/>
          <p:cNvSpPr txBox="1"/>
          <p:nvPr/>
        </p:nvSpPr>
        <p:spPr>
          <a:xfrm>
            <a:off x="1554480" y="2743200"/>
            <a:ext cx="4114800" cy="502920"/>
          </a:xfrm>
          <a:prstGeom prst="rect">
            <a:avLst/>
          </a:prstGeom>
          <a:noFill/>
          <a:ln/>
        </p:spPr>
        <p:txBody>
          <a:bodyPr wrap="square" lIns="0" tIns="0" rIns="0" bIns="0" rtlCol="0" anchor="ctr"/>
          <a:lstStyle/>
          <a:p>
            <a:pPr indent="0" marL="0">
              <a:buNone/>
            </a:pPr>
            <a:r>
              <a:rPr lang="en-US" sz="2200" b="1" dirty="0">
                <a:solidFill>
                  <a:schemeClr val="accent2"/>
                </a:solidFill>
              </a:rPr>
              <a:t>What the AI does</a:t>
            </a:r>
            <a:endParaRPr lang="en-US" sz="2200" dirty="0"/>
          </a:p>
        </p:txBody>
      </p:sp>
      <p:sp>
        <p:nvSpPr>
          <p:cNvPr id="9" name="Text 6"/>
          <p:cNvSpPr txBox="1"/>
          <p:nvPr/>
        </p:nvSpPr>
        <p:spPr>
          <a:xfrm>
            <a:off x="868680" y="3474720"/>
            <a:ext cx="4846320" cy="25603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Writes a one-line triage action for the fleet manager</a:t>
            </a:r>
            <a:endParaRPr lang="en-US" sz="1700" dirty="0"/>
          </a:p>
          <a:p>
            <a:pPr marL="342900" indent="-342900">
              <a:spcAft>
                <a:spcPts val="1000"/>
              </a:spcAft>
              <a:buSzPct val="100000"/>
              <a:buChar char="•"/>
            </a:pPr>
            <a:r>
              <a:rPr lang="en-US" sz="1700" dirty="0">
                <a:solidFill>
                  <a:schemeClr val="tx1"/>
                </a:solidFill>
              </a:rPr>
              <a:t>Explains to the passenger, in calm plain language, what happened and what her options are</a:t>
            </a:r>
            <a:endParaRPr lang="en-US" sz="1700" dirty="0"/>
          </a:p>
          <a:p>
            <a:pPr marL="342900" indent="-342900">
              <a:spcAft>
                <a:spcPts val="1000"/>
              </a:spcAft>
              <a:buSzPct val="100000"/>
              <a:buChar char="•"/>
            </a:pPr>
            <a:r>
              <a:rPr lang="en-US" sz="1700" dirty="0">
                <a:solidFill>
                  <a:schemeClr val="tx1"/>
                </a:solidFill>
              </a:rPr>
              <a:t>Answers safety questions on WhatsApp and in the app, from approved guidance only</a:t>
            </a:r>
            <a:endParaRPr lang="en-US" sz="1700" dirty="0"/>
          </a:p>
        </p:txBody>
      </p:sp>
      <p:sp>
        <p:nvSpPr>
          <p:cNvPr id="10" name="doesnt"/>
          <p:cNvSpPr/>
          <p:nvPr/>
        </p:nvSpPr>
        <p:spPr>
          <a:xfrm>
            <a:off x="6245352" y="2514600"/>
            <a:ext cx="5394960" cy="3611880"/>
          </a:xfrm>
          <a:prstGeom prst="roundRect">
            <a:avLst>
              <a:gd name="adj" fmla="val 3038"/>
            </a:avLst>
          </a:prstGeom>
          <a:solidFill>
            <a:schemeClr val="bg2"/>
          </a:solidFill>
          <a:ln/>
        </p:spPr>
      </p:sp>
      <p:sp>
        <p:nvSpPr>
          <p:cNvPr id="11" name="icon circle"/>
          <p:cNvSpPr/>
          <p:nvPr/>
        </p:nvSpPr>
        <p:spPr>
          <a:xfrm>
            <a:off x="6565392" y="2743200"/>
            <a:ext cx="502920" cy="502920"/>
          </a:xfrm>
          <a:prstGeom prst="ellipse">
            <a:avLst/>
          </a:prstGeom>
          <a:solidFill>
            <a:schemeClr val="accent1"/>
          </a:solidFill>
          <a:ln/>
        </p:spPr>
      </p:sp>
      <p:pic>
        <p:nvPicPr>
          <p:cNvPr id="12" name="Image 1" descr="icon">    </p:cNvPr>
          <p:cNvPicPr>
            <a:picLocks noChangeAspect="1"/>
          </p:cNvPicPr>
          <p:nvPr/>
        </p:nvPicPr>
        <p:blipFill>
          <a:blip r:embed="rId2"/>
          <a:stretch>
            <a:fillRect/>
          </a:stretch>
        </p:blipFill>
        <p:spPr>
          <a:xfrm>
            <a:off x="6696151" y="2873959"/>
            <a:ext cx="241402" cy="241402"/>
          </a:xfrm>
          <a:prstGeom prst="rect">
            <a:avLst/>
          </a:prstGeom>
        </p:spPr>
      </p:pic>
      <p:sp>
        <p:nvSpPr>
          <p:cNvPr id="13" name="Text 9"/>
          <p:cNvSpPr txBox="1"/>
          <p:nvPr/>
        </p:nvSpPr>
        <p:spPr>
          <a:xfrm>
            <a:off x="7251192" y="2743200"/>
            <a:ext cx="4114800" cy="502920"/>
          </a:xfrm>
          <a:prstGeom prst="rect">
            <a:avLst/>
          </a:prstGeom>
          <a:noFill/>
          <a:ln/>
        </p:spPr>
        <p:txBody>
          <a:bodyPr wrap="square" lIns="0" tIns="0" rIns="0" bIns="0" rtlCol="0" anchor="ctr"/>
          <a:lstStyle/>
          <a:p>
            <a:pPr indent="0" marL="0">
              <a:buNone/>
            </a:pPr>
            <a:r>
              <a:rPr lang="en-US" sz="2200" b="1" dirty="0">
                <a:solidFill>
                  <a:schemeClr val="accent1"/>
                </a:solidFill>
              </a:rPr>
              <a:t>What the AI never does</a:t>
            </a:r>
            <a:endParaRPr lang="en-US" sz="2200" dirty="0"/>
          </a:p>
        </p:txBody>
      </p:sp>
      <p:sp>
        <p:nvSpPr>
          <p:cNvPr id="14" name="Text 10"/>
          <p:cNvSpPr txBox="1"/>
          <p:nvPr/>
        </p:nvSpPr>
        <p:spPr>
          <a:xfrm>
            <a:off x="6565392" y="3474720"/>
            <a:ext cx="4846320" cy="25603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Decide whether someone is in danger</a:t>
            </a:r>
            <a:endParaRPr lang="en-US" sz="1800" dirty="0"/>
          </a:p>
          <a:p>
            <a:pPr marL="342900" indent="-342900">
              <a:spcAft>
                <a:spcPts val="1200"/>
              </a:spcAft>
              <a:buSzPct val="100000"/>
              <a:buChar char="•"/>
            </a:pPr>
            <a:r>
              <a:rPr lang="en-US" sz="1800" dirty="0">
                <a:solidFill>
                  <a:schemeClr val="tx1"/>
                </a:solidFill>
              </a:rPr>
              <a:t>Blame the driver or predict criminal behaviour</a:t>
            </a:r>
            <a:endParaRPr lang="en-US" sz="1800" dirty="0"/>
          </a:p>
          <a:p>
            <a:pPr marL="342900" indent="-342900">
              <a:spcAft>
                <a:spcPts val="1200"/>
              </a:spcAft>
              <a:buSzPct val="100000"/>
              <a:buChar char="•"/>
            </a:pPr>
            <a:r>
              <a:rPr lang="en-US" sz="1800" dirty="0">
                <a:solidFill>
                  <a:schemeClr val="tx1"/>
                </a:solidFill>
              </a:rPr>
              <a:t>Claim to know that a passenger is safe</a:t>
            </a:r>
            <a:endParaRPr lang="en-US" sz="1800" dirty="0"/>
          </a:p>
          <a:p>
            <a:pPr marL="342900" indent="-342900">
              <a:spcAft>
                <a:spcPts val="1200"/>
              </a:spcAft>
              <a:buSzPct val="100000"/>
              <a:buChar char="•"/>
            </a:pPr>
            <a:r>
              <a:rPr lang="en-US" sz="1800" dirty="0">
                <a:solidFill>
                  <a:schemeClr val="tx1"/>
                </a:solidFill>
              </a:rPr>
              <a:t>Replace emergency services</a:t>
            </a:r>
            <a:endParaRPr lang="en-US" sz="18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Request a ride, see the saving</a:t>
            </a:r>
            <a:endParaRPr lang="en-US" sz="3600" dirty="0"/>
          </a:p>
        </p:txBody>
      </p:sp>
      <p:sp>
        <p:nvSpPr>
          <p:cNvPr id="3" name="screenshot frame"/>
          <p:cNvSpPr/>
          <p:nvPr/>
        </p:nvSpPr>
        <p:spPr>
          <a:xfrm>
            <a:off x="576072" y="1474470"/>
            <a:ext cx="3694176" cy="4585716"/>
          </a:xfrm>
          <a:prstGeom prst="roundRect">
            <a:avLst>
              <a:gd name="adj" fmla="val 2956"/>
            </a:avLst>
          </a:prstGeom>
          <a:solidFill>
            <a:schemeClr val="bg2"/>
          </a:solidFill>
          <a:ln/>
        </p:spPr>
      </p:sp>
      <p:pic>
        <p:nvPicPr>
          <p:cNvPr id="4" name="Image 0" descr="Live app: ride type and fare (R67.50 alone, R40.50 shared by 2, R27.00 shared by 3) and a monthly budget">    </p:cNvPr>
          <p:cNvPicPr>
            <a:picLocks noChangeAspect="1"/>
          </p:cNvPicPr>
          <p:nvPr/>
        </p:nvPicPr>
        <p:blipFill>
          <a:blip r:embed="rId4"/>
          <a:stretch>
            <a:fillRect/>
          </a:stretch>
        </p:blipFill>
        <p:spPr>
          <a:xfrm>
            <a:off x="640080" y="1538478"/>
            <a:ext cx="3566160" cy="4457700"/>
          </a:xfrm>
          <a:prstGeom prst="rect">
            <a:avLst/>
          </a:prstGeom>
        </p:spPr>
      </p:pic>
      <p:sp>
        <p:nvSpPr>
          <p:cNvPr id="5" name="fare stat"/>
          <p:cNvSpPr/>
          <p:nvPr/>
        </p:nvSpPr>
        <p:spPr>
          <a:xfrm>
            <a:off x="4754880" y="1481328"/>
            <a:ext cx="6858000" cy="1371600"/>
          </a:xfrm>
          <a:prstGeom prst="roundRect">
            <a:avLst>
              <a:gd name="adj" fmla="val 8000"/>
            </a:avLst>
          </a:prstGeom>
          <a:solidFill>
            <a:schemeClr val="tx2"/>
          </a:solidFill>
          <a:ln/>
        </p:spPr>
      </p:sp>
      <p:sp>
        <p:nvSpPr>
          <p:cNvPr id="6" name="Text 3"/>
          <p:cNvSpPr txBox="1"/>
          <p:nvPr/>
        </p:nvSpPr>
        <p:spPr>
          <a:xfrm>
            <a:off x="5029200" y="1481328"/>
            <a:ext cx="2651760" cy="1371600"/>
          </a:xfrm>
          <a:prstGeom prst="rect">
            <a:avLst/>
          </a:prstGeom>
          <a:noFill/>
          <a:ln/>
        </p:spPr>
        <p:txBody>
          <a:bodyPr wrap="square" lIns="0" tIns="0" rIns="0" bIns="0" rtlCol="0" anchor="ctr"/>
          <a:lstStyle/>
          <a:p>
            <a:pPr indent="0" marL="0">
              <a:buNone/>
            </a:pPr>
            <a:r>
              <a:rPr lang="en-US" sz="4400" b="1" dirty="0">
                <a:solidFill>
                  <a:schemeClr val="accent3"/>
                </a:solidFill>
              </a:rPr>
              <a:t>R67.50</a:t>
            </a:r>
            <a:endParaRPr lang="en-US" sz="4400" dirty="0"/>
          </a:p>
        </p:txBody>
      </p:sp>
      <p:sp>
        <p:nvSpPr>
          <p:cNvPr id="7" name="Text 4"/>
          <p:cNvSpPr txBox="1"/>
          <p:nvPr/>
        </p:nvSpPr>
        <p:spPr>
          <a:xfrm>
            <a:off x="7772400" y="1755648"/>
            <a:ext cx="3657600" cy="411480"/>
          </a:xfrm>
          <a:prstGeom prst="rect">
            <a:avLst/>
          </a:prstGeom>
          <a:noFill/>
          <a:ln/>
        </p:spPr>
        <p:txBody>
          <a:bodyPr wrap="square" lIns="0" tIns="0" rIns="0" bIns="0" rtlCol="0" anchor="t"/>
          <a:lstStyle/>
          <a:p>
            <a:pPr indent="0" marL="0">
              <a:buNone/>
            </a:pPr>
            <a:r>
              <a:rPr lang="en-US" sz="2000" b="1" dirty="0">
                <a:solidFill>
                  <a:schemeClr val="bg1"/>
                </a:solidFill>
              </a:rPr>
              <a:t>Individual ride</a:t>
            </a:r>
            <a:endParaRPr lang="en-US" sz="2000" dirty="0"/>
          </a:p>
        </p:txBody>
      </p:sp>
      <p:sp>
        <p:nvSpPr>
          <p:cNvPr id="8" name="Text 5"/>
          <p:cNvSpPr txBox="1"/>
          <p:nvPr/>
        </p:nvSpPr>
        <p:spPr>
          <a:xfrm>
            <a:off x="7772400" y="2212848"/>
            <a:ext cx="3657600" cy="365760"/>
          </a:xfrm>
          <a:prstGeom prst="rect">
            <a:avLst/>
          </a:prstGeom>
          <a:noFill/>
          <a:ln/>
        </p:spPr>
        <p:txBody>
          <a:bodyPr wrap="square" lIns="0" tIns="0" rIns="0" bIns="0" rtlCol="0" anchor="t"/>
          <a:lstStyle/>
          <a:p>
            <a:pPr indent="0" marL="0">
              <a:buNone/>
            </a:pPr>
            <a:r>
              <a:rPr lang="en-US" sz="1600" dirty="0">
                <a:solidFill>
                  <a:schemeClr val="bg1"/>
                </a:solidFill>
              </a:rPr>
              <a:t>Rosebank to Sandton, 5.1 km</a:t>
            </a:r>
            <a:endParaRPr lang="en-US" sz="1600" dirty="0"/>
          </a:p>
        </p:txBody>
      </p:sp>
      <p:sp>
        <p:nvSpPr>
          <p:cNvPr id="9" name="fare stat"/>
          <p:cNvSpPr/>
          <p:nvPr/>
        </p:nvSpPr>
        <p:spPr>
          <a:xfrm>
            <a:off x="4754880" y="3035808"/>
            <a:ext cx="6858000" cy="1371600"/>
          </a:xfrm>
          <a:prstGeom prst="roundRect">
            <a:avLst>
              <a:gd name="adj" fmla="val 8000"/>
            </a:avLst>
          </a:prstGeom>
          <a:solidFill>
            <a:schemeClr val="bg2"/>
          </a:solidFill>
          <a:ln/>
        </p:spPr>
      </p:sp>
      <p:sp>
        <p:nvSpPr>
          <p:cNvPr id="10" name="Text 7"/>
          <p:cNvSpPr txBox="1"/>
          <p:nvPr/>
        </p:nvSpPr>
        <p:spPr>
          <a:xfrm>
            <a:off x="5029200" y="3035808"/>
            <a:ext cx="2651760" cy="1371600"/>
          </a:xfrm>
          <a:prstGeom prst="rect">
            <a:avLst/>
          </a:prstGeom>
          <a:noFill/>
          <a:ln/>
        </p:spPr>
        <p:txBody>
          <a:bodyPr wrap="square" lIns="0" tIns="0" rIns="0" bIns="0" rtlCol="0" anchor="ctr"/>
          <a:lstStyle/>
          <a:p>
            <a:pPr indent="0" marL="0">
              <a:buNone/>
            </a:pPr>
            <a:r>
              <a:rPr lang="en-US" sz="4400" b="1" dirty="0">
                <a:solidFill>
                  <a:schemeClr val="accent2"/>
                </a:solidFill>
              </a:rPr>
              <a:t>R40.50</a:t>
            </a:r>
            <a:endParaRPr lang="en-US" sz="4400" dirty="0"/>
          </a:p>
        </p:txBody>
      </p:sp>
      <p:sp>
        <p:nvSpPr>
          <p:cNvPr id="11" name="Text 8"/>
          <p:cNvSpPr txBox="1"/>
          <p:nvPr/>
        </p:nvSpPr>
        <p:spPr>
          <a:xfrm>
            <a:off x="7772400" y="3310128"/>
            <a:ext cx="3657600" cy="411480"/>
          </a:xfrm>
          <a:prstGeom prst="rect">
            <a:avLst/>
          </a:prstGeom>
          <a:noFill/>
          <a:ln/>
        </p:spPr>
        <p:txBody>
          <a:bodyPr wrap="square" lIns="0" tIns="0" rIns="0" bIns="0" rtlCol="0" anchor="t"/>
          <a:lstStyle/>
          <a:p>
            <a:pPr indent="0" marL="0">
              <a:buNone/>
            </a:pPr>
            <a:r>
              <a:rPr lang="en-US" sz="2000" b="1" dirty="0">
                <a:solidFill>
                  <a:schemeClr val="tx2"/>
                </a:solidFill>
              </a:rPr>
              <a:t>Shared ride, 2 riders</a:t>
            </a:r>
            <a:endParaRPr lang="en-US" sz="2000" dirty="0"/>
          </a:p>
        </p:txBody>
      </p:sp>
      <p:sp>
        <p:nvSpPr>
          <p:cNvPr id="12" name="Text 9"/>
          <p:cNvSpPr txBox="1"/>
          <p:nvPr/>
        </p:nvSpPr>
        <p:spPr>
          <a:xfrm>
            <a:off x="7772400" y="3767328"/>
            <a:ext cx="3657600" cy="365760"/>
          </a:xfrm>
          <a:prstGeom prst="rect">
            <a:avLst/>
          </a:prstGeom>
          <a:noFill/>
          <a:ln/>
        </p:spPr>
        <p:txBody>
          <a:bodyPr wrap="square" lIns="0" tIns="0" rIns="0" bIns="0" rtlCol="0" anchor="t"/>
          <a:lstStyle/>
          <a:p>
            <a:pPr indent="0" marL="0">
              <a:buNone/>
            </a:pPr>
            <a:r>
              <a:rPr lang="en-US" sz="1600" dirty="0">
                <a:solidFill>
                  <a:schemeClr val="tx2"/>
                </a:solidFill>
              </a:rPr>
              <a:t>Save R27.00 (40%)</a:t>
            </a:r>
            <a:endParaRPr lang="en-US" sz="1600" dirty="0"/>
          </a:p>
        </p:txBody>
      </p:sp>
      <p:sp>
        <p:nvSpPr>
          <p:cNvPr id="13" name="fare stat"/>
          <p:cNvSpPr/>
          <p:nvPr/>
        </p:nvSpPr>
        <p:spPr>
          <a:xfrm>
            <a:off x="4754880" y="4590288"/>
            <a:ext cx="6858000" cy="1371600"/>
          </a:xfrm>
          <a:prstGeom prst="roundRect">
            <a:avLst>
              <a:gd name="adj" fmla="val 8000"/>
            </a:avLst>
          </a:prstGeom>
          <a:solidFill>
            <a:schemeClr val="bg2"/>
          </a:solidFill>
          <a:ln/>
        </p:spPr>
      </p:sp>
      <p:sp>
        <p:nvSpPr>
          <p:cNvPr id="14" name="Text 11"/>
          <p:cNvSpPr txBox="1"/>
          <p:nvPr/>
        </p:nvSpPr>
        <p:spPr>
          <a:xfrm>
            <a:off x="5029200" y="4590288"/>
            <a:ext cx="2651760" cy="1371600"/>
          </a:xfrm>
          <a:prstGeom prst="rect">
            <a:avLst/>
          </a:prstGeom>
          <a:noFill/>
          <a:ln/>
        </p:spPr>
        <p:txBody>
          <a:bodyPr wrap="square" lIns="0" tIns="0" rIns="0" bIns="0" rtlCol="0" anchor="ctr"/>
          <a:lstStyle/>
          <a:p>
            <a:pPr indent="0" marL="0">
              <a:buNone/>
            </a:pPr>
            <a:r>
              <a:rPr lang="en-US" sz="4400" b="1" dirty="0">
                <a:solidFill>
                  <a:schemeClr val="accent2"/>
                </a:solidFill>
              </a:rPr>
              <a:t>R27.00</a:t>
            </a:r>
            <a:endParaRPr lang="en-US" sz="4400" dirty="0"/>
          </a:p>
        </p:txBody>
      </p:sp>
      <p:sp>
        <p:nvSpPr>
          <p:cNvPr id="15" name="Text 12"/>
          <p:cNvSpPr txBox="1"/>
          <p:nvPr/>
        </p:nvSpPr>
        <p:spPr>
          <a:xfrm>
            <a:off x="7772400" y="4864608"/>
            <a:ext cx="3657600" cy="411480"/>
          </a:xfrm>
          <a:prstGeom prst="rect">
            <a:avLst/>
          </a:prstGeom>
          <a:noFill/>
          <a:ln/>
        </p:spPr>
        <p:txBody>
          <a:bodyPr wrap="square" lIns="0" tIns="0" rIns="0" bIns="0" rtlCol="0" anchor="t"/>
          <a:lstStyle/>
          <a:p>
            <a:pPr indent="0" marL="0">
              <a:buNone/>
            </a:pPr>
            <a:r>
              <a:rPr lang="en-US" sz="2000" b="1" dirty="0">
                <a:solidFill>
                  <a:schemeClr val="tx2"/>
                </a:solidFill>
              </a:rPr>
              <a:t>Shared ride, 3 riders</a:t>
            </a:r>
            <a:endParaRPr lang="en-US" sz="2000" dirty="0"/>
          </a:p>
        </p:txBody>
      </p:sp>
      <p:sp>
        <p:nvSpPr>
          <p:cNvPr id="16" name="Text 13"/>
          <p:cNvSpPr txBox="1"/>
          <p:nvPr/>
        </p:nvSpPr>
        <p:spPr>
          <a:xfrm>
            <a:off x="7772400" y="5321808"/>
            <a:ext cx="3657600" cy="365760"/>
          </a:xfrm>
          <a:prstGeom prst="rect">
            <a:avLst/>
          </a:prstGeom>
          <a:noFill/>
          <a:ln/>
        </p:spPr>
        <p:txBody>
          <a:bodyPr wrap="square" lIns="0" tIns="0" rIns="0" bIns="0" rtlCol="0" anchor="t"/>
          <a:lstStyle/>
          <a:p>
            <a:pPr indent="0" marL="0">
              <a:buNone/>
            </a:pPr>
            <a:r>
              <a:rPr lang="en-US" sz="1600" dirty="0">
                <a:solidFill>
                  <a:schemeClr val="tx2"/>
                </a:solidFill>
              </a:rPr>
              <a:t>Save R40.50 (60%)</a:t>
            </a:r>
            <a:endParaRPr lang="en-US" sz="1600" dirty="0"/>
          </a:p>
        </p:txBody>
      </p:sp>
      <p:sp>
        <p:nvSpPr>
          <p:cNvPr id="17" name="Text 14"/>
          <p:cNvSpPr txBox="1"/>
          <p:nvPr/>
        </p:nvSpPr>
        <p:spPr>
          <a:xfrm>
            <a:off x="4754880" y="6144768"/>
            <a:ext cx="6858000" cy="228600"/>
          </a:xfrm>
          <a:prstGeom prst="rect">
            <a:avLst/>
          </a:prstGeom>
          <a:noFill/>
          <a:ln/>
        </p:spPr>
        <p:txBody>
          <a:bodyPr wrap="square" lIns="0" tIns="0" rIns="0" bIns="0" rtlCol="0" anchor="t"/>
          <a:lstStyle/>
          <a:p>
            <a:pPr indent="0" marL="0">
              <a:buNone/>
            </a:pPr>
            <a:r>
              <a:rPr lang="en-US" sz="1100" i="1" dirty="0">
                <a:solidFill>
                  <a:schemeClr val="accent6"/>
                </a:solidFill>
              </a:rPr>
              <a:t>Illustrative fares from simple pricing rules: base R15 + R8.50/km + R1.20/min. Simulated trip and sample data.</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Safe Journey Mode in action</a:t>
            </a:r>
            <a:endParaRPr lang="en-US" sz="3600" dirty="0"/>
          </a:p>
        </p:txBody>
      </p:sp>
      <p:sp>
        <p:nvSpPr>
          <p:cNvPr id="3" name="screenshot frame"/>
          <p:cNvSpPr/>
          <p:nvPr/>
        </p:nvSpPr>
        <p:spPr>
          <a:xfrm>
            <a:off x="1369373" y="1417320"/>
            <a:ext cx="9450207" cy="3374136"/>
          </a:xfrm>
          <a:prstGeom prst="roundRect">
            <a:avLst>
              <a:gd name="adj" fmla="val 3571"/>
            </a:avLst>
          </a:prstGeom>
          <a:solidFill>
            <a:schemeClr val="bg2"/>
          </a:solidFill>
          <a:ln/>
        </p:spPr>
      </p:sp>
      <p:pic>
        <p:nvPicPr>
          <p:cNvPr id="4" name="Image 0" descr="Live app: trip in progress on the map with Safe Journey Mode on, trusted contact, Share trip and SOS">    </p:cNvPr>
          <p:cNvPicPr>
            <a:picLocks noChangeAspect="1"/>
          </p:cNvPicPr>
          <p:nvPr/>
        </p:nvPicPr>
        <p:blipFill>
          <a:blip r:embed="rId7"/>
          <a:stretch>
            <a:fillRect/>
          </a:stretch>
        </p:blipFill>
        <p:spPr>
          <a:xfrm>
            <a:off x="1433381" y="1481328"/>
            <a:ext cx="9322191" cy="3246120"/>
          </a:xfrm>
          <a:prstGeom prst="rect">
            <a:avLst/>
          </a:prstGeom>
        </p:spPr>
      </p:pic>
      <p:sp>
        <p:nvSpPr>
          <p:cNvPr id="5" name="callout"/>
          <p:cNvSpPr/>
          <p:nvPr/>
        </p:nvSpPr>
        <p:spPr>
          <a:xfrm>
            <a:off x="548640" y="4937760"/>
            <a:ext cx="3520440" cy="1188720"/>
          </a:xfrm>
          <a:prstGeom prst="roundRect">
            <a:avLst>
              <a:gd name="adj" fmla="val 9231"/>
            </a:avLst>
          </a:prstGeom>
          <a:solidFill>
            <a:schemeClr val="bg2"/>
          </a:solidFill>
          <a:ln/>
        </p:spPr>
      </p:sp>
      <p:sp>
        <p:nvSpPr>
          <p:cNvPr id="6" name="icon circle"/>
          <p:cNvSpPr/>
          <p:nvPr/>
        </p:nvSpPr>
        <p:spPr>
          <a:xfrm>
            <a:off x="777240" y="5138928"/>
            <a:ext cx="502920" cy="502920"/>
          </a:xfrm>
          <a:prstGeom prst="ellipse">
            <a:avLst/>
          </a:prstGeom>
          <a:solidFill>
            <a:schemeClr val="accent2"/>
          </a:solidFill>
          <a:ln/>
        </p:spPr>
      </p:sp>
      <p:pic>
        <p:nvPicPr>
          <p:cNvPr id="7" name="Image 1" descr="icon">    </p:cNvPr>
          <p:cNvPicPr>
            <a:picLocks noChangeAspect="1"/>
          </p:cNvPicPr>
          <p:nvPr/>
        </p:nvPicPr>
        <p:blipFill>
          <a:blip r:embed="rId2"/>
          <a:stretch>
            <a:fillRect/>
          </a:stretch>
        </p:blipFill>
        <p:spPr>
          <a:xfrm>
            <a:off x="907999" y="5269687"/>
            <a:ext cx="241402" cy="241402"/>
          </a:xfrm>
          <a:prstGeom prst="rect">
            <a:avLst/>
          </a:prstGeom>
        </p:spPr>
      </p:pic>
      <p:sp>
        <p:nvSpPr>
          <p:cNvPr id="8" name="Text 4"/>
          <p:cNvSpPr txBox="1"/>
          <p:nvPr/>
        </p:nvSpPr>
        <p:spPr>
          <a:xfrm>
            <a:off x="1463040"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Always watching</a:t>
            </a:r>
            <a:endParaRPr lang="en-US" sz="1800" dirty="0"/>
          </a:p>
        </p:txBody>
      </p:sp>
      <p:sp>
        <p:nvSpPr>
          <p:cNvPr id="9" name="Text 5"/>
          <p:cNvSpPr txBox="1"/>
          <p:nvPr/>
        </p:nvSpPr>
        <p:spPr>
          <a:xfrm>
            <a:off x="1463040"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Looks for unusual stops and route changes.</a:t>
            </a:r>
            <a:endParaRPr lang="en-US" sz="1400" dirty="0"/>
          </a:p>
        </p:txBody>
      </p:sp>
      <p:sp>
        <p:nvSpPr>
          <p:cNvPr id="10" name="callout"/>
          <p:cNvSpPr/>
          <p:nvPr/>
        </p:nvSpPr>
        <p:spPr>
          <a:xfrm>
            <a:off x="4334256" y="4937760"/>
            <a:ext cx="3520440" cy="1188720"/>
          </a:xfrm>
          <a:prstGeom prst="roundRect">
            <a:avLst>
              <a:gd name="adj" fmla="val 9231"/>
            </a:avLst>
          </a:prstGeom>
          <a:solidFill>
            <a:schemeClr val="bg2"/>
          </a:solidFill>
          <a:ln/>
        </p:spPr>
      </p:sp>
      <p:sp>
        <p:nvSpPr>
          <p:cNvPr id="11" name="icon circle"/>
          <p:cNvSpPr/>
          <p:nvPr/>
        </p:nvSpPr>
        <p:spPr>
          <a:xfrm>
            <a:off x="4562856" y="5138928"/>
            <a:ext cx="502920" cy="502920"/>
          </a:xfrm>
          <a:prstGeom prst="ellipse">
            <a:avLst/>
          </a:prstGeom>
          <a:solidFill>
            <a:schemeClr val="accent2"/>
          </a:solidFill>
          <a:ln/>
        </p:spPr>
      </p:sp>
      <p:pic>
        <p:nvPicPr>
          <p:cNvPr id="12" name="Image 2" descr="icon">    </p:cNvPr>
          <p:cNvPicPr>
            <a:picLocks noChangeAspect="1"/>
          </p:cNvPicPr>
          <p:nvPr/>
        </p:nvPicPr>
        <p:blipFill>
          <a:blip r:embed="rId3"/>
          <a:stretch>
            <a:fillRect/>
          </a:stretch>
        </p:blipFill>
        <p:spPr>
          <a:xfrm>
            <a:off x="4693615" y="5269687"/>
            <a:ext cx="241402" cy="241402"/>
          </a:xfrm>
          <a:prstGeom prst="rect">
            <a:avLst/>
          </a:prstGeom>
        </p:spPr>
      </p:pic>
      <p:sp>
        <p:nvSpPr>
          <p:cNvPr id="13" name="Text 8"/>
          <p:cNvSpPr txBox="1"/>
          <p:nvPr/>
        </p:nvSpPr>
        <p:spPr>
          <a:xfrm>
            <a:off x="5248656"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Trusted contact</a:t>
            </a:r>
            <a:endParaRPr lang="en-US" sz="1800" dirty="0"/>
          </a:p>
        </p:txBody>
      </p:sp>
      <p:sp>
        <p:nvSpPr>
          <p:cNvPr id="14" name="Text 9"/>
          <p:cNvSpPr txBox="1"/>
          <p:nvPr/>
        </p:nvSpPr>
        <p:spPr>
          <a:xfrm>
            <a:off x="5248656"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Share the trip, or send an SOS in one tap.</a:t>
            </a:r>
            <a:endParaRPr lang="en-US" sz="1400" dirty="0"/>
          </a:p>
        </p:txBody>
      </p:sp>
      <p:sp>
        <p:nvSpPr>
          <p:cNvPr id="15" name="callout"/>
          <p:cNvSpPr/>
          <p:nvPr/>
        </p:nvSpPr>
        <p:spPr>
          <a:xfrm>
            <a:off x="8119872" y="4937760"/>
            <a:ext cx="3520440" cy="1188720"/>
          </a:xfrm>
          <a:prstGeom prst="roundRect">
            <a:avLst>
              <a:gd name="adj" fmla="val 9231"/>
            </a:avLst>
          </a:prstGeom>
          <a:solidFill>
            <a:schemeClr val="bg2"/>
          </a:solidFill>
          <a:ln/>
        </p:spPr>
      </p:sp>
      <p:sp>
        <p:nvSpPr>
          <p:cNvPr id="16" name="icon circle"/>
          <p:cNvSpPr/>
          <p:nvPr/>
        </p:nvSpPr>
        <p:spPr>
          <a:xfrm>
            <a:off x="8348472" y="5138928"/>
            <a:ext cx="502920" cy="502920"/>
          </a:xfrm>
          <a:prstGeom prst="ellipse">
            <a:avLst/>
          </a:prstGeom>
          <a:solidFill>
            <a:schemeClr val="accent2"/>
          </a:solidFill>
          <a:ln/>
        </p:spPr>
      </p:sp>
      <p:pic>
        <p:nvPicPr>
          <p:cNvPr id="17" name="Image 3" descr="icon">    </p:cNvPr>
          <p:cNvPicPr>
            <a:picLocks noChangeAspect="1"/>
          </p:cNvPicPr>
          <p:nvPr/>
        </p:nvPicPr>
        <p:blipFill>
          <a:blip r:embed="rId4"/>
          <a:stretch>
            <a:fillRect/>
          </a:stretch>
        </p:blipFill>
        <p:spPr>
          <a:xfrm>
            <a:off x="8479231" y="5269687"/>
            <a:ext cx="241402" cy="241402"/>
          </a:xfrm>
          <a:prstGeom prst="rect">
            <a:avLst/>
          </a:prstGeom>
        </p:spPr>
      </p:pic>
      <p:sp>
        <p:nvSpPr>
          <p:cNvPr id="18" name="Text 12"/>
          <p:cNvSpPr txBox="1"/>
          <p:nvPr/>
        </p:nvSpPr>
        <p:spPr>
          <a:xfrm>
            <a:off x="9034272"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Clearly labelled</a:t>
            </a:r>
            <a:endParaRPr lang="en-US" sz="1800" dirty="0"/>
          </a:p>
        </p:txBody>
      </p:sp>
      <p:sp>
        <p:nvSpPr>
          <p:cNvPr id="19" name="Text 13"/>
          <p:cNvSpPr txBox="1"/>
          <p:nvPr/>
        </p:nvSpPr>
        <p:spPr>
          <a:xfrm>
            <a:off x="9034272"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Every simulated feature says so on screen.</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Every trip leaves a record</a:t>
            </a:r>
            <a:endParaRPr lang="en-US" sz="3600" dirty="0"/>
          </a:p>
        </p:txBody>
      </p:sp>
      <p:sp>
        <p:nvSpPr>
          <p:cNvPr id="3" name="screenshot frame"/>
          <p:cNvSpPr/>
          <p:nvPr/>
        </p:nvSpPr>
        <p:spPr>
          <a:xfrm>
            <a:off x="2207847" y="1417320"/>
            <a:ext cx="3768186" cy="3557016"/>
          </a:xfrm>
          <a:prstGeom prst="roundRect">
            <a:avLst>
              <a:gd name="adj" fmla="val 3431"/>
            </a:avLst>
          </a:prstGeom>
          <a:solidFill>
            <a:schemeClr val="bg2"/>
          </a:solidFill>
          <a:ln/>
        </p:spPr>
      </p:sp>
      <p:pic>
        <p:nvPicPr>
          <p:cNvPr id="4" name="Image 0" descr="Live app: trip completed summary with fare, distance, alerts and monthly cost; safety log with escalated alerts">    </p:cNvPr>
          <p:cNvPicPr>
            <a:picLocks noChangeAspect="1"/>
          </p:cNvPicPr>
          <p:nvPr/>
        </p:nvPicPr>
        <p:blipFill>
          <a:blip r:embed="rId5"/>
          <a:stretch>
            <a:fillRect/>
          </a:stretch>
        </p:blipFill>
        <p:spPr>
          <a:xfrm>
            <a:off x="2271855" y="1481328"/>
            <a:ext cx="3640170" cy="3429000"/>
          </a:xfrm>
          <a:prstGeom prst="rect">
            <a:avLst/>
          </a:prstGeom>
        </p:spPr>
      </p:pic>
      <p:sp>
        <p:nvSpPr>
          <p:cNvPr id="5" name="screenshot frame"/>
          <p:cNvSpPr/>
          <p:nvPr/>
        </p:nvSpPr>
        <p:spPr>
          <a:xfrm>
            <a:off x="8292601" y="1417320"/>
            <a:ext cx="2480038" cy="3557016"/>
          </a:xfrm>
          <a:prstGeom prst="roundRect">
            <a:avLst>
              <a:gd name="adj" fmla="val 3922"/>
            </a:avLst>
          </a:prstGeom>
          <a:solidFill>
            <a:schemeClr val="bg2"/>
          </a:solidFill>
          <a:ln/>
        </p:spPr>
      </p:sp>
      <p:pic>
        <p:nvPicPr>
          <p:cNvPr id="6" name="Image 1" descr="Live app: driver card labelled demo driver, not verified, with the simulated Face ID result">    </p:cNvPr>
          <p:cNvPicPr>
            <a:picLocks noChangeAspect="1"/>
          </p:cNvPicPr>
          <p:nvPr/>
        </p:nvPicPr>
        <p:blipFill>
          <a:blip r:embed="rId6"/>
          <a:stretch>
            <a:fillRect/>
          </a:stretch>
        </p:blipFill>
        <p:spPr>
          <a:xfrm>
            <a:off x="8356609" y="1481328"/>
            <a:ext cx="2352022" cy="3429000"/>
          </a:xfrm>
          <a:prstGeom prst="rect">
            <a:avLst/>
          </a:prstGeom>
        </p:spPr>
      </p:pic>
      <p:sp>
        <p:nvSpPr>
          <p:cNvPr id="7" name="callout"/>
          <p:cNvSpPr/>
          <p:nvPr/>
        </p:nvSpPr>
        <p:spPr>
          <a:xfrm>
            <a:off x="548640" y="5018147"/>
            <a:ext cx="3520440" cy="1154053"/>
          </a:xfrm>
          <a:prstGeom prst="roundRect">
            <a:avLst>
              <a:gd name="adj" fmla="val 9508"/>
            </a:avLst>
          </a:prstGeom>
          <a:solidFill>
            <a:schemeClr val="bg2"/>
          </a:solidFill>
          <a:ln/>
        </p:spPr>
      </p:sp>
      <p:sp>
        <p:nvSpPr>
          <p:cNvPr id="8" name="Text 4"/>
          <p:cNvSpPr txBox="1"/>
          <p:nvPr/>
        </p:nvSpPr>
        <p:spPr>
          <a:xfrm>
            <a:off x="777240"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Fare and saving</a:t>
            </a:r>
            <a:endParaRPr lang="en-US" sz="1600" dirty="0"/>
          </a:p>
        </p:txBody>
      </p:sp>
      <p:sp>
        <p:nvSpPr>
          <p:cNvPr id="9" name="Text 5"/>
          <p:cNvSpPr txBox="1"/>
          <p:nvPr/>
        </p:nvSpPr>
        <p:spPr>
          <a:xfrm>
            <a:off x="777240"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The trip summary shows the fare and what sharing would have saved.</a:t>
            </a:r>
            <a:endParaRPr lang="en-US" sz="1400" dirty="0"/>
          </a:p>
        </p:txBody>
      </p:sp>
      <p:sp>
        <p:nvSpPr>
          <p:cNvPr id="10" name="callout"/>
          <p:cNvSpPr/>
          <p:nvPr/>
        </p:nvSpPr>
        <p:spPr>
          <a:xfrm>
            <a:off x="4334256" y="5018147"/>
            <a:ext cx="3520440" cy="1154053"/>
          </a:xfrm>
          <a:prstGeom prst="roundRect">
            <a:avLst>
              <a:gd name="adj" fmla="val 9508"/>
            </a:avLst>
          </a:prstGeom>
          <a:solidFill>
            <a:schemeClr val="bg2"/>
          </a:solidFill>
          <a:ln/>
        </p:spPr>
      </p:sp>
      <p:sp>
        <p:nvSpPr>
          <p:cNvPr id="11" name="Text 7"/>
          <p:cNvSpPr txBox="1"/>
          <p:nvPr/>
        </p:nvSpPr>
        <p:spPr>
          <a:xfrm>
            <a:off x="4562856"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Safety log in DynamoDB</a:t>
            </a:r>
            <a:endParaRPr lang="en-US" sz="1600" dirty="0"/>
          </a:p>
        </p:txBody>
      </p:sp>
      <p:sp>
        <p:nvSpPr>
          <p:cNvPr id="12" name="Text 8"/>
          <p:cNvSpPr txBox="1"/>
          <p:nvPr/>
        </p:nvSpPr>
        <p:spPr>
          <a:xfrm>
            <a:off x="4562856"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Every alert and response is stored, giving operators an audit trail.</a:t>
            </a:r>
            <a:endParaRPr lang="en-US" sz="1400" dirty="0"/>
          </a:p>
        </p:txBody>
      </p:sp>
      <p:sp>
        <p:nvSpPr>
          <p:cNvPr id="13" name="callout"/>
          <p:cNvSpPr/>
          <p:nvPr/>
        </p:nvSpPr>
        <p:spPr>
          <a:xfrm>
            <a:off x="8119872" y="5018147"/>
            <a:ext cx="3520440" cy="1154053"/>
          </a:xfrm>
          <a:prstGeom prst="roundRect">
            <a:avLst>
              <a:gd name="adj" fmla="val 9508"/>
            </a:avLst>
          </a:prstGeom>
          <a:solidFill>
            <a:schemeClr val="bg2"/>
          </a:solidFill>
          <a:ln/>
        </p:spPr>
      </p:sp>
      <p:sp>
        <p:nvSpPr>
          <p:cNvPr id="14" name="Text 10"/>
          <p:cNvSpPr txBox="1"/>
          <p:nvPr/>
        </p:nvSpPr>
        <p:spPr>
          <a:xfrm>
            <a:off x="8348472"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Honest about drivers</a:t>
            </a:r>
            <a:endParaRPr lang="en-US" sz="1600" dirty="0"/>
          </a:p>
        </p:txBody>
      </p:sp>
      <p:sp>
        <p:nvSpPr>
          <p:cNvPr id="15" name="Text 11"/>
          <p:cNvSpPr txBox="1"/>
          <p:nvPr/>
        </p:nvSpPr>
        <p:spPr>
          <a:xfrm>
            <a:off x="8348472"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Labelled “demo driver, not verified”, with a tip to check the plate, car and driver.</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the operator sees</a:t>
            </a:r>
            <a:endParaRPr lang="en-US" sz="3600" dirty="0"/>
          </a:p>
        </p:txBody>
      </p:sp>
      <p:sp>
        <p:nvSpPr>
          <p:cNvPr id="3" name="dashboard frame"/>
          <p:cNvSpPr/>
          <p:nvPr/>
        </p:nvSpPr>
        <p:spPr>
          <a:xfrm>
            <a:off x="548640" y="1463040"/>
            <a:ext cx="7406640" cy="4754880"/>
          </a:xfrm>
          <a:prstGeom prst="roundRect">
            <a:avLst>
              <a:gd name="adj" fmla="val 2308"/>
            </a:avLst>
          </a:prstGeom>
          <a:solidFill>
            <a:schemeClr val="bg2"/>
          </a:solidFill>
          <a:ln/>
        </p:spPr>
      </p:sp>
      <p:pic>
        <p:nvPicPr>
          <p:cNvPr id="40" name="Image 0" descr="Live Fleet page: map and trips with one flagged Needs action and its AI triage line, and the System health panel (WhatsApp OK, AI model, messages today, 0 Lambda errors)">    </p:cNvPr>
          <p:cNvPicPr>
            <a:picLocks noChangeAspect="1"/>
          </p:cNvPicPr>
          <p:nvPr/>
        </p:nvPicPr>
        <p:blipFill>
          <a:blip r:embed="rId7"/>
          <a:stretch>
            <a:fillRect/>
          </a:stretch>
        </p:blipFill>
        <p:spPr>
          <a:xfrm>
            <a:off x="1317462" y="1572768"/>
            <a:ext cx="5868996" cy="4553712"/>
          </a:xfrm>
          <a:prstGeom prst="rect">
            <a:avLst/>
          </a:prstGeom>
        </p:spPr>
      </p:pic>
      <p:sp>
        <p:nvSpPr>
          <p:cNvPr id="25" name="icon circle"/>
          <p:cNvSpPr/>
          <p:nvPr/>
        </p:nvSpPr>
        <p:spPr>
          <a:xfrm>
            <a:off x="8321040" y="1600200"/>
            <a:ext cx="594360" cy="594360"/>
          </a:xfrm>
          <a:prstGeom prst="ellipse">
            <a:avLst/>
          </a:prstGeom>
          <a:solidFill>
            <a:schemeClr val="accent4"/>
          </a:solidFill>
          <a:ln/>
        </p:spPr>
      </p:sp>
      <p:pic>
        <p:nvPicPr>
          <p:cNvPr id="26" name="Image 0" descr="icon">    </p:cNvPr>
          <p:cNvPicPr>
            <a:picLocks noChangeAspect="1"/>
          </p:cNvPicPr>
          <p:nvPr/>
        </p:nvPicPr>
        <p:blipFill>
          <a:blip r:embed="rId1"/>
          <a:stretch>
            <a:fillRect/>
          </a:stretch>
        </p:blipFill>
        <p:spPr>
          <a:xfrm>
            <a:off x="8475574" y="1754734"/>
            <a:ext cx="285293" cy="285293"/>
          </a:xfrm>
          <a:prstGeom prst="rect">
            <a:avLst/>
          </a:prstGeom>
        </p:spPr>
      </p:pic>
      <p:sp>
        <p:nvSpPr>
          <p:cNvPr id="27" name="Text 24"/>
          <p:cNvSpPr txBox="1"/>
          <p:nvPr/>
        </p:nvSpPr>
        <p:spPr>
          <a:xfrm>
            <a:off x="9098280" y="1600200"/>
            <a:ext cx="2560320" cy="365760"/>
          </a:xfrm>
          <a:prstGeom prst="rect">
            <a:avLst/>
          </a:prstGeom>
          <a:noFill/>
          <a:ln/>
        </p:spPr>
        <p:txBody>
          <a:bodyPr wrap="square" lIns="0" tIns="0" rIns="0" bIns="0" rtlCol="0" anchor="t"/>
          <a:lstStyle/>
          <a:p>
            <a:pPr indent="0" marL="0">
              <a:buNone/>
            </a:pPr>
            <a:r>
              <a:rPr lang="en-US" sz="1800" b="1" dirty="0">
                <a:solidFill>
                  <a:schemeClr val="tx2"/>
                </a:solidFill>
              </a:rPr>
              <a:t>Live status</a:t>
            </a:r>
            <a:endParaRPr lang="en-US" sz="1800" dirty="0"/>
          </a:p>
        </p:txBody>
      </p:sp>
      <p:sp>
        <p:nvSpPr>
          <p:cNvPr id="28" name="Text 25"/>
          <p:cNvSpPr txBox="1"/>
          <p:nvPr/>
        </p:nvSpPr>
        <p:spPr>
          <a:xfrm>
            <a:off x="9098280" y="1984248"/>
            <a:ext cx="2560320" cy="822960"/>
          </a:xfrm>
          <a:prstGeom prst="rect">
            <a:avLst/>
          </a:prstGeom>
          <a:noFill/>
          <a:ln/>
        </p:spPr>
        <p:txBody>
          <a:bodyPr wrap="square" lIns="0" tIns="0" rIns="0" bIns="0" rtlCol="0" anchor="t"/>
          <a:lstStyle/>
          <a:p>
            <a:pPr indent="0" marL="0">
              <a:buNone/>
            </a:pPr>
            <a:r>
              <a:rPr lang="en-US" sz="1400" dirty="0">
                <a:solidFill>
                  <a:schemeClr val="tx1"/>
                </a:solidFill>
              </a:rPr>
              <a:t>Green until something needs a human.</a:t>
            </a:r>
            <a:endParaRPr lang="en-US" sz="1400" dirty="0"/>
          </a:p>
        </p:txBody>
      </p:sp>
      <p:sp>
        <p:nvSpPr>
          <p:cNvPr id="29" name="icon circle"/>
          <p:cNvSpPr/>
          <p:nvPr/>
        </p:nvSpPr>
        <p:spPr>
          <a:xfrm>
            <a:off x="8321040" y="3154680"/>
            <a:ext cx="594360" cy="594360"/>
          </a:xfrm>
          <a:prstGeom prst="ellipse">
            <a:avLst/>
          </a:prstGeom>
          <a:solidFill>
            <a:schemeClr val="accent4"/>
          </a:solidFill>
          <a:ln/>
        </p:spPr>
      </p:sp>
      <p:pic>
        <p:nvPicPr>
          <p:cNvPr id="30" name="Image 1" descr="icon">    </p:cNvPr>
          <p:cNvPicPr>
            <a:picLocks noChangeAspect="1"/>
          </p:cNvPicPr>
          <p:nvPr/>
        </p:nvPicPr>
        <p:blipFill>
          <a:blip r:embed="rId2"/>
          <a:stretch>
            <a:fillRect/>
          </a:stretch>
        </p:blipFill>
        <p:spPr>
          <a:xfrm>
            <a:off x="8475574" y="3309214"/>
            <a:ext cx="285293" cy="285293"/>
          </a:xfrm>
          <a:prstGeom prst="rect">
            <a:avLst/>
          </a:prstGeom>
        </p:spPr>
      </p:pic>
      <p:sp>
        <p:nvSpPr>
          <p:cNvPr id="31" name="Text 27"/>
          <p:cNvSpPr txBox="1"/>
          <p:nvPr/>
        </p:nvSpPr>
        <p:spPr>
          <a:xfrm>
            <a:off x="9098280" y="3154680"/>
            <a:ext cx="2560320" cy="365760"/>
          </a:xfrm>
          <a:prstGeom prst="rect">
            <a:avLst/>
          </a:prstGeom>
          <a:noFill/>
          <a:ln/>
        </p:spPr>
        <p:txBody>
          <a:bodyPr wrap="square" lIns="0" tIns="0" rIns="0" bIns="0" rtlCol="0" anchor="t"/>
          <a:lstStyle/>
          <a:p>
            <a:pPr indent="0" marL="0">
              <a:buNone/>
            </a:pPr>
            <a:r>
              <a:rPr lang="en-US" sz="1800" b="1" dirty="0">
                <a:solidFill>
                  <a:schemeClr val="tx2"/>
                </a:solidFill>
              </a:rPr>
              <a:t>A clear next step</a:t>
            </a:r>
            <a:endParaRPr lang="en-US" sz="1800" dirty="0"/>
          </a:p>
        </p:txBody>
      </p:sp>
      <p:sp>
        <p:nvSpPr>
          <p:cNvPr id="32" name="Text 28"/>
          <p:cNvSpPr txBox="1"/>
          <p:nvPr/>
        </p:nvSpPr>
        <p:spPr>
          <a:xfrm>
            <a:off x="9098280" y="3538728"/>
            <a:ext cx="2560320" cy="822960"/>
          </a:xfrm>
          <a:prstGeom prst="rect">
            <a:avLst/>
          </a:prstGeom>
          <a:noFill/>
          <a:ln/>
        </p:spPr>
        <p:txBody>
          <a:bodyPr wrap="square" lIns="0" tIns="0" rIns="0" bIns="0" rtlCol="0" anchor="t"/>
          <a:lstStyle/>
          <a:p>
            <a:pPr indent="0" marL="0">
              <a:buNone/>
            </a:pPr>
            <a:r>
              <a:rPr lang="en-US" sz="1400" dirty="0">
                <a:solidFill>
                  <a:schemeClr val="tx1"/>
                </a:solidFill>
              </a:rPr>
              <a:t>An actionable line, not a raw alert.</a:t>
            </a:r>
            <a:endParaRPr lang="en-US" sz="1400" dirty="0"/>
          </a:p>
        </p:txBody>
      </p:sp>
      <p:sp>
        <p:nvSpPr>
          <p:cNvPr id="33" name="icon circle"/>
          <p:cNvSpPr/>
          <p:nvPr/>
        </p:nvSpPr>
        <p:spPr>
          <a:xfrm>
            <a:off x="8321040" y="4709160"/>
            <a:ext cx="594360" cy="594360"/>
          </a:xfrm>
          <a:prstGeom prst="ellipse">
            <a:avLst/>
          </a:prstGeom>
          <a:solidFill>
            <a:schemeClr val="accent4"/>
          </a:solidFill>
          <a:ln/>
        </p:spPr>
      </p:sp>
      <p:pic>
        <p:nvPicPr>
          <p:cNvPr id="34" name="Image 2" descr="icon">    </p:cNvPr>
          <p:cNvPicPr>
            <a:picLocks noChangeAspect="1"/>
          </p:cNvPicPr>
          <p:nvPr/>
        </p:nvPicPr>
        <p:blipFill>
          <a:blip r:embed="rId3"/>
          <a:stretch>
            <a:fillRect/>
          </a:stretch>
        </p:blipFill>
        <p:spPr>
          <a:xfrm>
            <a:off x="8475574" y="4863694"/>
            <a:ext cx="285293" cy="285293"/>
          </a:xfrm>
          <a:prstGeom prst="rect">
            <a:avLst/>
          </a:prstGeom>
        </p:spPr>
      </p:pic>
      <p:sp>
        <p:nvSpPr>
          <p:cNvPr id="35" name="Text 30"/>
          <p:cNvSpPr txBox="1"/>
          <p:nvPr/>
        </p:nvSpPr>
        <p:spPr>
          <a:xfrm>
            <a:off x="9098280" y="4709160"/>
            <a:ext cx="2560320" cy="365760"/>
          </a:xfrm>
          <a:prstGeom prst="rect">
            <a:avLst/>
          </a:prstGeom>
          <a:noFill/>
          <a:ln/>
        </p:spPr>
        <p:txBody>
          <a:bodyPr wrap="square" lIns="0" tIns="0" rIns="0" bIns="0" rtlCol="0" anchor="t"/>
          <a:lstStyle/>
          <a:p>
            <a:pPr indent="0" marL="0">
              <a:buNone/>
            </a:pPr>
            <a:r>
              <a:rPr lang="en-US" sz="1800" b="1" dirty="0">
                <a:solidFill>
                  <a:schemeClr val="tx2"/>
                </a:solidFill>
              </a:rPr>
              <a:t>System health</a:t>
            </a:r>
            <a:endParaRPr lang="en-US" sz="1800" dirty="0"/>
          </a:p>
        </p:txBody>
      </p:sp>
      <p:sp>
        <p:nvSpPr>
          <p:cNvPr id="36" name="Text 31"/>
          <p:cNvSpPr txBox="1"/>
          <p:nvPr/>
        </p:nvSpPr>
        <p:spPr>
          <a:xfrm>
            <a:off x="9098280" y="5093208"/>
            <a:ext cx="2560320" cy="822960"/>
          </a:xfrm>
          <a:prstGeom prst="rect">
            <a:avLst/>
          </a:prstGeom>
          <a:noFill/>
          <a:ln/>
        </p:spPr>
        <p:txBody>
          <a:bodyPr wrap="square" lIns="0" tIns="0" rIns="0" bIns="0" rtlCol="0" anchor="t"/>
          <a:lstStyle/>
          <a:p>
            <a:pPr indent="0" marL="0">
              <a:buNone/>
            </a:pPr>
            <a:r>
              <a:rPr lang="en-US" sz="1400" dirty="0">
                <a:solidFill>
                  <a:schemeClr val="tx1"/>
                </a:solidFill>
              </a:rPr>
              <a:t>WhatsApp, the AI model and errors, watched live.</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Expected impact</a:t>
            </a:r>
            <a:endParaRPr lang="en-US" sz="3600" dirty="0"/>
          </a:p>
        </p:txBody>
      </p:sp>
      <p:sp>
        <p:nvSpPr>
          <p:cNvPr id="3" name="card"/>
          <p:cNvSpPr/>
          <p:nvPr/>
        </p:nvSpPr>
        <p:spPr>
          <a:xfrm>
            <a:off x="548640" y="1554480"/>
            <a:ext cx="3520440" cy="3337560"/>
          </a:xfrm>
          <a:prstGeom prst="roundRect">
            <a:avLst>
              <a:gd name="adj" fmla="val 3288"/>
            </a:avLst>
          </a:prstGeom>
          <a:solidFill>
            <a:schemeClr val="bg2"/>
          </a:solidFill>
          <a:ln/>
        </p:spPr>
      </p:sp>
      <p:sp>
        <p:nvSpPr>
          <p:cNvPr id="4" name="icon circle"/>
          <p:cNvSpPr/>
          <p:nvPr/>
        </p:nvSpPr>
        <p:spPr>
          <a:xfrm>
            <a:off x="822960" y="1783080"/>
            <a:ext cx="640080" cy="640080"/>
          </a:xfrm>
          <a:prstGeom prst="ellipse">
            <a:avLst/>
          </a:prstGeom>
          <a:solidFill>
            <a:schemeClr val="accent2"/>
          </a:solidFill>
          <a:ln/>
        </p:spPr>
      </p:sp>
      <p:pic>
        <p:nvPicPr>
          <p:cNvPr id="5" name="Image 0" descr="icon">    </p:cNvPr>
          <p:cNvPicPr>
            <a:picLocks noChangeAspect="1"/>
          </p:cNvPicPr>
          <p:nvPr/>
        </p:nvPicPr>
        <p:blipFill>
          <a:blip r:embed="rId1"/>
          <a:stretch>
            <a:fillRect/>
          </a:stretch>
        </p:blipFill>
        <p:spPr>
          <a:xfrm>
            <a:off x="989381" y="1949501"/>
            <a:ext cx="307238" cy="307238"/>
          </a:xfrm>
          <a:prstGeom prst="rect">
            <a:avLst/>
          </a:prstGeom>
        </p:spPr>
      </p:pic>
      <p:sp>
        <p:nvSpPr>
          <p:cNvPr id="6" name="Text 3"/>
          <p:cNvSpPr txBox="1"/>
          <p:nvPr/>
        </p:nvSpPr>
        <p:spPr>
          <a:xfrm>
            <a:off x="1645920"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Passengers</a:t>
            </a:r>
            <a:endParaRPr lang="en-US" sz="2200" dirty="0"/>
          </a:p>
        </p:txBody>
      </p:sp>
      <p:sp>
        <p:nvSpPr>
          <p:cNvPr id="7" name="Text 4"/>
          <p:cNvSpPr txBox="1"/>
          <p:nvPr/>
        </p:nvSpPr>
        <p:spPr>
          <a:xfrm>
            <a:off x="822960" y="2697480"/>
            <a:ext cx="301752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Calm, clear support in the moment</a:t>
            </a:r>
            <a:endParaRPr lang="en-US" sz="1700" dirty="0"/>
          </a:p>
          <a:p>
            <a:pPr marL="342900" indent="-342900">
              <a:spcAft>
                <a:spcPts val="1000"/>
              </a:spcAft>
              <a:buSzPct val="100000"/>
              <a:buChar char="•"/>
            </a:pPr>
            <a:r>
              <a:rPr lang="en-US" sz="1700" dirty="0">
                <a:solidFill>
                  <a:schemeClr val="tx1"/>
                </a:solidFill>
              </a:rPr>
              <a:t>A one-tap check-in</a:t>
            </a:r>
            <a:endParaRPr lang="en-US" sz="1700" dirty="0"/>
          </a:p>
          <a:p>
            <a:pPr marL="342900" indent="-342900">
              <a:spcAft>
                <a:spcPts val="1000"/>
              </a:spcAft>
              <a:buSzPct val="100000"/>
              <a:buChar char="•"/>
            </a:pPr>
            <a:r>
              <a:rPr lang="en-US" sz="1700" dirty="0">
                <a:solidFill>
                  <a:schemeClr val="tx1"/>
                </a:solidFill>
              </a:rPr>
              <a:t>A trusted contact can be told</a:t>
            </a:r>
            <a:endParaRPr lang="en-US" sz="1700" dirty="0"/>
          </a:p>
        </p:txBody>
      </p:sp>
      <p:sp>
        <p:nvSpPr>
          <p:cNvPr id="8" name="card"/>
          <p:cNvSpPr/>
          <p:nvPr/>
        </p:nvSpPr>
        <p:spPr>
          <a:xfrm>
            <a:off x="4334256" y="1554480"/>
            <a:ext cx="3520440" cy="3337560"/>
          </a:xfrm>
          <a:prstGeom prst="roundRect">
            <a:avLst>
              <a:gd name="adj" fmla="val 3288"/>
            </a:avLst>
          </a:prstGeom>
          <a:solidFill>
            <a:schemeClr val="bg2"/>
          </a:solidFill>
          <a:ln/>
        </p:spPr>
      </p:sp>
      <p:sp>
        <p:nvSpPr>
          <p:cNvPr id="9" name="icon circle"/>
          <p:cNvSpPr/>
          <p:nvPr/>
        </p:nvSpPr>
        <p:spPr>
          <a:xfrm>
            <a:off x="4608576" y="1783080"/>
            <a:ext cx="640080" cy="640080"/>
          </a:xfrm>
          <a:prstGeom prst="ellipse">
            <a:avLst/>
          </a:prstGeom>
          <a:solidFill>
            <a:schemeClr val="accent2"/>
          </a:solidFill>
          <a:ln/>
        </p:spPr>
      </p:sp>
      <p:pic>
        <p:nvPicPr>
          <p:cNvPr id="10" name="Image 1" descr="icon">    </p:cNvPr>
          <p:cNvPicPr>
            <a:picLocks noChangeAspect="1"/>
          </p:cNvPicPr>
          <p:nvPr/>
        </p:nvPicPr>
        <p:blipFill>
          <a:blip r:embed="rId2"/>
          <a:stretch>
            <a:fillRect/>
          </a:stretch>
        </p:blipFill>
        <p:spPr>
          <a:xfrm>
            <a:off x="4774997" y="1949501"/>
            <a:ext cx="307238" cy="307238"/>
          </a:xfrm>
          <a:prstGeom prst="rect">
            <a:avLst/>
          </a:prstGeom>
        </p:spPr>
      </p:pic>
      <p:sp>
        <p:nvSpPr>
          <p:cNvPr id="11" name="Text 7"/>
          <p:cNvSpPr txBox="1"/>
          <p:nvPr/>
        </p:nvSpPr>
        <p:spPr>
          <a:xfrm>
            <a:off x="5431536"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Operators</a:t>
            </a:r>
            <a:endParaRPr lang="en-US" sz="2200" dirty="0"/>
          </a:p>
        </p:txBody>
      </p:sp>
      <p:sp>
        <p:nvSpPr>
          <p:cNvPr id="12" name="Text 8"/>
          <p:cNvSpPr txBox="1"/>
          <p:nvPr/>
        </p:nvSpPr>
        <p:spPr>
          <a:xfrm>
            <a:off x="4608576" y="2697480"/>
            <a:ext cx="301752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Real-time visibility of every trip</a:t>
            </a:r>
            <a:endParaRPr lang="en-US" sz="1700" dirty="0"/>
          </a:p>
          <a:p>
            <a:pPr marL="342900" indent="-342900">
              <a:spcAft>
                <a:spcPts val="1000"/>
              </a:spcAft>
              <a:buSzPct val="100000"/>
              <a:buChar char="•"/>
            </a:pPr>
            <a:r>
              <a:rPr lang="en-US" sz="1700" dirty="0">
                <a:solidFill>
                  <a:schemeClr val="tx1"/>
                </a:solidFill>
              </a:rPr>
              <a:t>Faster response to incidents</a:t>
            </a:r>
            <a:endParaRPr lang="en-US" sz="1700" dirty="0"/>
          </a:p>
          <a:p>
            <a:pPr marL="342900" indent="-342900">
              <a:spcAft>
                <a:spcPts val="1000"/>
              </a:spcAft>
              <a:buSzPct val="100000"/>
              <a:buChar char="•"/>
            </a:pPr>
            <a:r>
              <a:rPr lang="en-US" sz="1700" dirty="0">
                <a:solidFill>
                  <a:schemeClr val="tx1"/>
                </a:solidFill>
              </a:rPr>
              <a:t>A record of every alert and reply</a:t>
            </a:r>
            <a:endParaRPr lang="en-US" sz="1700" dirty="0"/>
          </a:p>
        </p:txBody>
      </p:sp>
      <p:sp>
        <p:nvSpPr>
          <p:cNvPr id="13" name="card"/>
          <p:cNvSpPr/>
          <p:nvPr/>
        </p:nvSpPr>
        <p:spPr>
          <a:xfrm>
            <a:off x="8119872" y="1554480"/>
            <a:ext cx="3520440" cy="3337560"/>
          </a:xfrm>
          <a:prstGeom prst="roundRect">
            <a:avLst>
              <a:gd name="adj" fmla="val 3288"/>
            </a:avLst>
          </a:prstGeom>
          <a:solidFill>
            <a:schemeClr val="bg2"/>
          </a:solidFill>
          <a:ln/>
        </p:spPr>
      </p:sp>
      <p:sp>
        <p:nvSpPr>
          <p:cNvPr id="14" name="icon circle"/>
          <p:cNvSpPr/>
          <p:nvPr/>
        </p:nvSpPr>
        <p:spPr>
          <a:xfrm>
            <a:off x="8394192" y="1783080"/>
            <a:ext cx="640080" cy="640080"/>
          </a:xfrm>
          <a:prstGeom prst="ellipse">
            <a:avLst/>
          </a:prstGeom>
          <a:solidFill>
            <a:schemeClr val="accent2"/>
          </a:solidFill>
          <a:ln/>
        </p:spPr>
      </p:sp>
      <p:pic>
        <p:nvPicPr>
          <p:cNvPr id="15" name="Image 2" descr="icon">    </p:cNvPr>
          <p:cNvPicPr>
            <a:picLocks noChangeAspect="1"/>
          </p:cNvPicPr>
          <p:nvPr/>
        </p:nvPicPr>
        <p:blipFill>
          <a:blip r:embed="rId3"/>
          <a:stretch>
            <a:fillRect/>
          </a:stretch>
        </p:blipFill>
        <p:spPr>
          <a:xfrm>
            <a:off x="8560613" y="1949501"/>
            <a:ext cx="307238" cy="307238"/>
          </a:xfrm>
          <a:prstGeom prst="rect">
            <a:avLst/>
          </a:prstGeom>
        </p:spPr>
      </p:pic>
      <p:sp>
        <p:nvSpPr>
          <p:cNvPr id="16" name="Text 11"/>
          <p:cNvSpPr txBox="1"/>
          <p:nvPr/>
        </p:nvSpPr>
        <p:spPr>
          <a:xfrm>
            <a:off x="9217152" y="1783080"/>
            <a:ext cx="2194560" cy="640080"/>
          </a:xfrm>
          <a:prstGeom prst="rect">
            <a:avLst/>
          </a:prstGeom>
          <a:noFill/>
          <a:ln/>
        </p:spPr>
        <p:txBody>
          <a:bodyPr wrap="square" lIns="0" tIns="0" rIns="0" bIns="0" rtlCol="0" anchor="ctr"/>
          <a:lstStyle/>
          <a:p>
            <a:pPr indent="0" marL="0">
              <a:buNone/>
            </a:pPr>
            <a:r>
              <a:rPr lang="en-US" sz="2200" b="1" dirty="0">
                <a:solidFill>
                  <a:schemeClr val="tx2"/>
                </a:solidFill>
              </a:rPr>
              <a:t>Communities</a:t>
            </a:r>
            <a:endParaRPr lang="en-US" sz="2200" dirty="0"/>
          </a:p>
        </p:txBody>
      </p:sp>
      <p:sp>
        <p:nvSpPr>
          <p:cNvPr id="17" name="Text 12"/>
          <p:cNvSpPr txBox="1"/>
          <p:nvPr/>
        </p:nvSpPr>
        <p:spPr>
          <a:xfrm>
            <a:off x="8394192" y="2697480"/>
            <a:ext cx="301752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Cheaper shared travel</a:t>
            </a:r>
            <a:endParaRPr lang="en-US" sz="1700" dirty="0"/>
          </a:p>
          <a:p>
            <a:pPr marL="342900" indent="-342900">
              <a:spcAft>
                <a:spcPts val="1000"/>
              </a:spcAft>
              <a:buSzPct val="100000"/>
              <a:buChar char="•"/>
            </a:pPr>
            <a:r>
              <a:rPr lang="en-US" sz="1700" dirty="0">
                <a:solidFill>
                  <a:schemeClr val="tx1"/>
                </a:solidFill>
              </a:rPr>
              <a:t>Helps students and daily commuters</a:t>
            </a:r>
            <a:endParaRPr lang="en-US" sz="1700" dirty="0"/>
          </a:p>
          <a:p>
            <a:pPr marL="342900" indent="-342900">
              <a:spcAft>
                <a:spcPts val="1000"/>
              </a:spcAft>
              <a:buSzPct val="100000"/>
              <a:buChar char="•"/>
            </a:pPr>
            <a:r>
              <a:rPr lang="en-US" sz="1700" dirty="0">
                <a:solidFill>
                  <a:schemeClr val="tx1"/>
                </a:solidFill>
              </a:rPr>
              <a:t>Safety that makes sharing feel possible</a:t>
            </a:r>
            <a:endParaRPr lang="en-US" sz="1700" dirty="0"/>
          </a:p>
        </p:txBody>
      </p:sp>
      <p:sp>
        <p:nvSpPr>
          <p:cNvPr id="18" name="fare strip"/>
          <p:cNvSpPr/>
          <p:nvPr/>
        </p:nvSpPr>
        <p:spPr>
          <a:xfrm>
            <a:off x="548640" y="5166360"/>
            <a:ext cx="11091672" cy="960120"/>
          </a:xfrm>
          <a:prstGeom prst="roundRect">
            <a:avLst>
              <a:gd name="adj" fmla="val 11429"/>
            </a:avLst>
          </a:prstGeom>
          <a:solidFill>
            <a:schemeClr val="tx2"/>
          </a:solidFill>
          <a:ln/>
        </p:spPr>
      </p:sp>
      <p:sp>
        <p:nvSpPr>
          <p:cNvPr id="19" name="Text 14"/>
          <p:cNvSpPr txBox="1"/>
          <p:nvPr/>
        </p:nvSpPr>
        <p:spPr>
          <a:xfrm>
            <a:off x="822960" y="5166360"/>
            <a:ext cx="10515600" cy="960120"/>
          </a:xfrm>
          <a:prstGeom prst="rect">
            <a:avLst/>
          </a:prstGeom>
          <a:noFill/>
          <a:ln/>
        </p:spPr>
        <p:txBody>
          <a:bodyPr wrap="square" lIns="0" tIns="0" rIns="0" bIns="0" rtlCol="0" anchor="ctr"/>
          <a:lstStyle/>
          <a:p>
            <a:pPr indent="0" marL="0">
              <a:buNone/>
            </a:pPr>
            <a:r>
              <a:rPr lang="en-US" sz="1800" b="1" dirty="0">
                <a:solidFill>
                  <a:schemeClr val="accent3"/>
                </a:solidFill>
              </a:rPr>
              <a:t>Illustrative saving:  </a:t>
            </a:r>
            <a:pPr indent="0" marL="0">
              <a:buNone/>
            </a:pPr>
            <a:r>
              <a:rPr lang="en-US" sz="1800" dirty="0">
                <a:solidFill>
                  <a:schemeClr val="bg1"/>
                </a:solidFill>
              </a:rPr>
              <a:t>a 5 km trip at R67.50 alone drops to R27.00 each when three riders share.</a:t>
            </a:r>
            <a:endParaRPr lang="en-US" sz="18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How we built it on AWS</a:t>
            </a:r>
            <a:endParaRPr lang="en-US" sz="3600" dirty="0"/>
          </a:p>
        </p:txBody>
      </p:sp>
      <p:sp>
        <p:nvSpPr>
          <p:cNvPr id="3" name="Text 1"/>
          <p:cNvSpPr txBox="1"/>
          <p:nvPr/>
        </p:nvSpPr>
        <p:spPr>
          <a:xfrm>
            <a:off x="548640" y="1280160"/>
            <a:ext cx="10972800" cy="365760"/>
          </a:xfrm>
          <a:prstGeom prst="rect">
            <a:avLst/>
          </a:prstGeom>
          <a:noFill/>
          <a:ln/>
        </p:spPr>
        <p:txBody>
          <a:bodyPr wrap="square" lIns="0" tIns="0" rIns="0" bIns="0" rtlCol="0" anchor="t"/>
          <a:lstStyle/>
          <a:p>
            <a:pPr indent="0" marL="0">
              <a:buNone/>
            </a:pPr>
            <a:r>
              <a:rPr lang="en-US" sz="1600" dirty="0">
                <a:solidFill>
                  <a:schemeClr val="accent6"/>
                </a:solidFill>
              </a:rPr>
              <a:t>A serverless design: it scales automatically and cost grows with use, not ahead of it.</a:t>
            </a:r>
            <a:endParaRPr lang="en-US" sz="1600" dirty="0"/>
          </a:p>
        </p:txBody>
      </p:sp>
      <p:sp>
        <p:nvSpPr>
          <p:cNvPr id="4" name="React app"/>
          <p:cNvSpPr/>
          <p:nvPr/>
        </p:nvSpPr>
        <p:spPr>
          <a:xfrm>
            <a:off x="548640" y="1920240"/>
            <a:ext cx="2286000" cy="1097280"/>
          </a:xfrm>
          <a:prstGeom prst="roundRect">
            <a:avLst>
              <a:gd name="adj" fmla="val 10000"/>
            </a:avLst>
          </a:prstGeom>
          <a:solidFill>
            <a:schemeClr val="bg2"/>
          </a:solidFill>
          <a:ln/>
        </p:spPr>
      </p:sp>
      <p:sp>
        <p:nvSpPr>
          <p:cNvPr id="5" name="Text 3"/>
          <p:cNvSpPr txBox="1"/>
          <p:nvPr/>
        </p:nvSpPr>
        <p:spPr>
          <a:xfrm>
            <a:off x="685800" y="2029968"/>
            <a:ext cx="2011680" cy="320040"/>
          </a:xfrm>
          <a:prstGeom prst="rect">
            <a:avLst/>
          </a:prstGeom>
          <a:noFill/>
          <a:ln/>
        </p:spPr>
        <p:txBody>
          <a:bodyPr wrap="square" lIns="0" tIns="0" rIns="0" bIns="0" rtlCol="0" anchor="t"/>
          <a:lstStyle/>
          <a:p>
            <a:pPr algn="ctr" indent="0" marL="0">
              <a:buNone/>
            </a:pPr>
            <a:r>
              <a:rPr lang="en-US" sz="1500" b="1" dirty="0">
                <a:solidFill>
                  <a:schemeClr val="tx2"/>
                </a:solidFill>
              </a:rPr>
              <a:t>React app</a:t>
            </a:r>
            <a:endParaRPr lang="en-US" sz="1500" dirty="0"/>
          </a:p>
        </p:txBody>
      </p:sp>
      <p:sp>
        <p:nvSpPr>
          <p:cNvPr id="6" name="Text 4"/>
          <p:cNvSpPr txBox="1"/>
          <p:nvPr/>
        </p:nvSpPr>
        <p:spPr>
          <a:xfrm>
            <a:off x="685800" y="2377440"/>
            <a:ext cx="2011680" cy="594360"/>
          </a:xfrm>
          <a:prstGeom prst="rect">
            <a:avLst/>
          </a:prstGeom>
          <a:noFill/>
          <a:ln/>
        </p:spPr>
        <p:txBody>
          <a:bodyPr wrap="square" lIns="0" tIns="0" rIns="0" bIns="0" rtlCol="0" anchor="t"/>
          <a:lstStyle/>
          <a:p>
            <a:pPr algn="ctr" indent="0" marL="0">
              <a:buNone/>
            </a:pPr>
            <a:r>
              <a:rPr lang="en-US" sz="1200" dirty="0">
                <a:solidFill>
                  <a:schemeClr val="tx1"/>
                </a:solidFill>
              </a:rPr>
              <a:t>Served through Amazon CloudFront: passenger journey and fleet dashboard</a:t>
            </a:r>
            <a:endParaRPr lang="en-US" sz="1200" dirty="0"/>
          </a:p>
        </p:txBody>
      </p:sp>
      <p:sp>
        <p:nvSpPr>
          <p:cNvPr id="7" name="WhatsApp"/>
          <p:cNvSpPr/>
          <p:nvPr/>
        </p:nvSpPr>
        <p:spPr>
          <a:xfrm>
            <a:off x="548640" y="4023360"/>
            <a:ext cx="2286000" cy="1097280"/>
          </a:xfrm>
          <a:prstGeom prst="roundRect">
            <a:avLst>
              <a:gd name="adj" fmla="val 10000"/>
            </a:avLst>
          </a:prstGeom>
          <a:solidFill>
            <a:schemeClr val="bg2"/>
          </a:solidFill>
          <a:ln/>
        </p:spPr>
      </p:sp>
      <p:sp>
        <p:nvSpPr>
          <p:cNvPr id="8" name="Text 6"/>
          <p:cNvSpPr txBox="1"/>
          <p:nvPr/>
        </p:nvSpPr>
        <p:spPr>
          <a:xfrm>
            <a:off x="685800" y="4133088"/>
            <a:ext cx="2011680" cy="320040"/>
          </a:xfrm>
          <a:prstGeom prst="rect">
            <a:avLst/>
          </a:prstGeom>
          <a:noFill/>
          <a:ln/>
        </p:spPr>
        <p:txBody>
          <a:bodyPr wrap="square" lIns="0" tIns="0" rIns="0" bIns="0" rtlCol="0" anchor="t"/>
          <a:lstStyle/>
          <a:p>
            <a:pPr algn="ctr" indent="0" marL="0">
              <a:buNone/>
            </a:pPr>
            <a:r>
              <a:rPr lang="en-US" sz="1500" b="1" dirty="0">
                <a:solidFill>
                  <a:schemeClr val="tx2"/>
                </a:solidFill>
              </a:rPr>
              <a:t>WhatsApp</a:t>
            </a:r>
            <a:endParaRPr lang="en-US" sz="1500" dirty="0"/>
          </a:p>
        </p:txBody>
      </p:sp>
      <p:sp>
        <p:nvSpPr>
          <p:cNvPr id="9" name="Text 7"/>
          <p:cNvSpPr txBox="1"/>
          <p:nvPr/>
        </p:nvSpPr>
        <p:spPr>
          <a:xfrm>
            <a:off x="685800" y="4480560"/>
            <a:ext cx="2011680" cy="594360"/>
          </a:xfrm>
          <a:prstGeom prst="rect">
            <a:avLst/>
          </a:prstGeom>
          <a:noFill/>
          <a:ln/>
        </p:spPr>
        <p:txBody>
          <a:bodyPr wrap="square" lIns="0" tIns="0" rIns="0" bIns="0" rtlCol="0" anchor="t"/>
          <a:lstStyle/>
          <a:p>
            <a:pPr algn="ctr" indent="0" marL="0">
              <a:buNone/>
            </a:pPr>
            <a:r>
              <a:rPr lang="en-US" sz="1200" dirty="0">
                <a:solidFill>
                  <a:schemeClr val="tx1"/>
                </a:solidFill>
              </a:rPr>
              <a:t>Real number: a two-way channel</a:t>
            </a:r>
            <a:endParaRPr lang="en-US" sz="1200" dirty="0"/>
          </a:p>
        </p:txBody>
      </p:sp>
      <p:sp>
        <p:nvSpPr>
          <p:cNvPr id="10" name="API Gateway"/>
          <p:cNvSpPr/>
          <p:nvPr/>
        </p:nvSpPr>
        <p:spPr>
          <a:xfrm>
            <a:off x="4114800" y="1920240"/>
            <a:ext cx="1828800" cy="3200400"/>
          </a:xfrm>
          <a:prstGeom prst="roundRect">
            <a:avLst>
              <a:gd name="adj" fmla="val 6000"/>
            </a:avLst>
          </a:prstGeom>
          <a:solidFill>
            <a:schemeClr val="accent2"/>
          </a:solidFill>
          <a:ln/>
        </p:spPr>
      </p:sp>
      <p:sp>
        <p:nvSpPr>
          <p:cNvPr id="11" name="Text 9"/>
          <p:cNvSpPr txBox="1"/>
          <p:nvPr/>
        </p:nvSpPr>
        <p:spPr>
          <a:xfrm>
            <a:off x="4251960" y="2029968"/>
            <a:ext cx="1554480" cy="320040"/>
          </a:xfrm>
          <a:prstGeom prst="rect">
            <a:avLst/>
          </a:prstGeom>
          <a:noFill/>
          <a:ln/>
        </p:spPr>
        <p:txBody>
          <a:bodyPr wrap="square" lIns="0" tIns="0" rIns="0" bIns="0" rtlCol="0" anchor="t"/>
          <a:lstStyle/>
          <a:p>
            <a:pPr algn="ctr" indent="0" marL="0">
              <a:buNone/>
            </a:pPr>
            <a:r>
              <a:rPr lang="en-US" sz="1500" b="1" dirty="0">
                <a:solidFill>
                  <a:schemeClr val="bg1"/>
                </a:solidFill>
              </a:rPr>
              <a:t>API Gateway</a:t>
            </a:r>
            <a:endParaRPr lang="en-US" sz="1500" dirty="0"/>
          </a:p>
        </p:txBody>
      </p:sp>
      <p:sp>
        <p:nvSpPr>
          <p:cNvPr id="12" name="Text 10"/>
          <p:cNvSpPr txBox="1"/>
          <p:nvPr/>
        </p:nvSpPr>
        <p:spPr>
          <a:xfrm>
            <a:off x="4251960" y="2377440"/>
            <a:ext cx="1554480" cy="2697480"/>
          </a:xfrm>
          <a:prstGeom prst="rect">
            <a:avLst/>
          </a:prstGeom>
          <a:noFill/>
          <a:ln/>
        </p:spPr>
        <p:txBody>
          <a:bodyPr wrap="square" lIns="0" tIns="0" rIns="0" bIns="0" rtlCol="0" anchor="t"/>
          <a:lstStyle/>
          <a:p>
            <a:pPr algn="ctr" indent="0" marL="0">
              <a:buNone/>
            </a:pPr>
            <a:r>
              <a:rPr lang="en-US" sz="1200" dirty="0">
                <a:solidFill>
                  <a:schemeClr val="bg1"/>
                </a:solidFill>
              </a:rPr>
              <a:t>Front door: receives requests, and the webhook for WhatsApp messages and replies</a:t>
            </a:r>
            <a:endParaRPr lang="en-US" sz="1200" dirty="0"/>
          </a:p>
        </p:txBody>
      </p:sp>
      <p:sp>
        <p:nvSpPr>
          <p:cNvPr id="13" name="Lambda"/>
          <p:cNvSpPr/>
          <p:nvPr/>
        </p:nvSpPr>
        <p:spPr>
          <a:xfrm>
            <a:off x="6858000" y="1920240"/>
            <a:ext cx="1828800" cy="3200400"/>
          </a:xfrm>
          <a:prstGeom prst="roundRect">
            <a:avLst>
              <a:gd name="adj" fmla="val 6000"/>
            </a:avLst>
          </a:prstGeom>
          <a:solidFill>
            <a:schemeClr val="accent2"/>
          </a:solidFill>
          <a:ln/>
        </p:spPr>
      </p:sp>
      <p:sp>
        <p:nvSpPr>
          <p:cNvPr id="14" name="Text 12"/>
          <p:cNvSpPr txBox="1"/>
          <p:nvPr/>
        </p:nvSpPr>
        <p:spPr>
          <a:xfrm>
            <a:off x="6995160" y="2029968"/>
            <a:ext cx="1554480" cy="320040"/>
          </a:xfrm>
          <a:prstGeom prst="rect">
            <a:avLst/>
          </a:prstGeom>
          <a:noFill/>
          <a:ln/>
        </p:spPr>
        <p:txBody>
          <a:bodyPr wrap="square" lIns="0" tIns="0" rIns="0" bIns="0" rtlCol="0" anchor="t"/>
          <a:lstStyle/>
          <a:p>
            <a:pPr algn="ctr" indent="0" marL="0">
              <a:buNone/>
            </a:pPr>
            <a:r>
              <a:rPr lang="en-US" sz="1500" b="1" dirty="0">
                <a:solidFill>
                  <a:schemeClr val="bg1"/>
                </a:solidFill>
              </a:rPr>
              <a:t>Lambda</a:t>
            </a:r>
            <a:endParaRPr lang="en-US" sz="1500" dirty="0"/>
          </a:p>
        </p:txBody>
      </p:sp>
      <p:sp>
        <p:nvSpPr>
          <p:cNvPr id="15" name="Text 13"/>
          <p:cNvSpPr txBox="1"/>
          <p:nvPr/>
        </p:nvSpPr>
        <p:spPr>
          <a:xfrm>
            <a:off x="6995160" y="2377440"/>
            <a:ext cx="1554480" cy="2697480"/>
          </a:xfrm>
          <a:prstGeom prst="rect">
            <a:avLst/>
          </a:prstGeom>
          <a:noFill/>
          <a:ln/>
        </p:spPr>
        <p:txBody>
          <a:bodyPr wrap="square" lIns="0" tIns="0" rIns="0" bIns="0" rtlCol="0" anchor="t"/>
          <a:lstStyle/>
          <a:p>
            <a:pPr algn="ctr" indent="0" marL="0">
              <a:buNone/>
            </a:pPr>
            <a:r>
              <a:rPr lang="en-US" sz="1200" dirty="0">
                <a:solidFill>
                  <a:schemeClr val="bg1"/>
                </a:solidFill>
              </a:rPr>
              <a:t>The brain: rule engine, check-ins, escalation, calls the AI</a:t>
            </a:r>
            <a:endParaRPr lang="en-US" sz="1200" dirty="0"/>
          </a:p>
        </p:txBody>
      </p:sp>
      <p:sp>
        <p:nvSpPr>
          <p:cNvPr id="16" name="Bedrock"/>
          <p:cNvSpPr/>
          <p:nvPr/>
        </p:nvSpPr>
        <p:spPr>
          <a:xfrm>
            <a:off x="9555480" y="1920240"/>
            <a:ext cx="2084832" cy="1005840"/>
          </a:xfrm>
          <a:prstGeom prst="roundRect">
            <a:avLst>
              <a:gd name="adj" fmla="val 10909"/>
            </a:avLst>
          </a:prstGeom>
          <a:solidFill>
            <a:schemeClr val="tx2"/>
          </a:solidFill>
          <a:ln/>
        </p:spPr>
      </p:sp>
      <p:sp>
        <p:nvSpPr>
          <p:cNvPr id="17" name="Text 15"/>
          <p:cNvSpPr txBox="1"/>
          <p:nvPr/>
        </p:nvSpPr>
        <p:spPr>
          <a:xfrm>
            <a:off x="9692640" y="2029968"/>
            <a:ext cx="1810512" cy="320040"/>
          </a:xfrm>
          <a:prstGeom prst="rect">
            <a:avLst/>
          </a:prstGeom>
          <a:noFill/>
          <a:ln/>
        </p:spPr>
        <p:txBody>
          <a:bodyPr wrap="square" lIns="0" tIns="0" rIns="0" bIns="0" rtlCol="0" anchor="t"/>
          <a:lstStyle/>
          <a:p>
            <a:pPr algn="ctr" indent="0" marL="0">
              <a:buNone/>
            </a:pPr>
            <a:r>
              <a:rPr lang="en-US" sz="1500" b="1" dirty="0">
                <a:solidFill>
                  <a:schemeClr val="accent3"/>
                </a:solidFill>
              </a:rPr>
              <a:t>Bedrock</a:t>
            </a:r>
            <a:endParaRPr lang="en-US" sz="1500" dirty="0"/>
          </a:p>
        </p:txBody>
      </p:sp>
      <p:sp>
        <p:nvSpPr>
          <p:cNvPr id="18" name="Text 16"/>
          <p:cNvSpPr txBox="1"/>
          <p:nvPr/>
        </p:nvSpPr>
        <p:spPr>
          <a:xfrm>
            <a:off x="9692640" y="2377440"/>
            <a:ext cx="1810512" cy="502920"/>
          </a:xfrm>
          <a:prstGeom prst="rect">
            <a:avLst/>
          </a:prstGeom>
          <a:noFill/>
          <a:ln/>
        </p:spPr>
        <p:txBody>
          <a:bodyPr wrap="square" lIns="0" tIns="0" rIns="0" bIns="0" rtlCol="0" anchor="t"/>
          <a:lstStyle/>
          <a:p>
            <a:pPr algn="ctr" indent="0" marL="0">
              <a:buNone/>
            </a:pPr>
            <a:r>
              <a:rPr lang="en-US" sz="1200" dirty="0">
                <a:solidFill>
                  <a:schemeClr val="bg1"/>
                </a:solidFill>
              </a:rPr>
              <a:t>AI triage, explanations and assistant</a:t>
            </a:r>
            <a:endParaRPr lang="en-US" sz="1200" dirty="0"/>
          </a:p>
        </p:txBody>
      </p:sp>
      <p:sp>
        <p:nvSpPr>
          <p:cNvPr id="19" name="DynamoDB"/>
          <p:cNvSpPr/>
          <p:nvPr/>
        </p:nvSpPr>
        <p:spPr>
          <a:xfrm>
            <a:off x="9555480" y="3200400"/>
            <a:ext cx="2084832" cy="1005840"/>
          </a:xfrm>
          <a:prstGeom prst="roundRect">
            <a:avLst>
              <a:gd name="adj" fmla="val 10909"/>
            </a:avLst>
          </a:prstGeom>
          <a:solidFill>
            <a:schemeClr val="tx2"/>
          </a:solidFill>
          <a:ln/>
        </p:spPr>
      </p:sp>
      <p:sp>
        <p:nvSpPr>
          <p:cNvPr id="20" name="Text 18"/>
          <p:cNvSpPr txBox="1"/>
          <p:nvPr/>
        </p:nvSpPr>
        <p:spPr>
          <a:xfrm>
            <a:off x="9692640" y="3310128"/>
            <a:ext cx="1810512" cy="320040"/>
          </a:xfrm>
          <a:prstGeom prst="rect">
            <a:avLst/>
          </a:prstGeom>
          <a:noFill/>
          <a:ln/>
        </p:spPr>
        <p:txBody>
          <a:bodyPr wrap="square" lIns="0" tIns="0" rIns="0" bIns="0" rtlCol="0" anchor="t"/>
          <a:lstStyle/>
          <a:p>
            <a:pPr algn="ctr" indent="0" marL="0">
              <a:buNone/>
            </a:pPr>
            <a:r>
              <a:rPr lang="en-US" sz="1500" b="1" dirty="0">
                <a:solidFill>
                  <a:schemeClr val="accent3"/>
                </a:solidFill>
              </a:rPr>
              <a:t>DynamoDB</a:t>
            </a:r>
            <a:endParaRPr lang="en-US" sz="1500" dirty="0"/>
          </a:p>
        </p:txBody>
      </p:sp>
      <p:sp>
        <p:nvSpPr>
          <p:cNvPr id="21" name="Text 19"/>
          <p:cNvSpPr txBox="1"/>
          <p:nvPr/>
        </p:nvSpPr>
        <p:spPr>
          <a:xfrm>
            <a:off x="9692640" y="3657600"/>
            <a:ext cx="1810512" cy="502920"/>
          </a:xfrm>
          <a:prstGeom prst="rect">
            <a:avLst/>
          </a:prstGeom>
          <a:noFill/>
          <a:ln/>
        </p:spPr>
        <p:txBody>
          <a:bodyPr wrap="square" lIns="0" tIns="0" rIns="0" bIns="0" rtlCol="0" anchor="t"/>
          <a:lstStyle/>
          <a:p>
            <a:pPr algn="ctr" indent="0" marL="0">
              <a:buNone/>
            </a:pPr>
            <a:r>
              <a:rPr lang="en-US" sz="1200" dirty="0">
                <a:solidFill>
                  <a:schemeClr val="bg1"/>
                </a:solidFill>
              </a:rPr>
              <a:t>Trips, alerts, safety log</a:t>
            </a:r>
            <a:endParaRPr lang="en-US" sz="1200" dirty="0"/>
          </a:p>
        </p:txBody>
      </p:sp>
      <p:sp>
        <p:nvSpPr>
          <p:cNvPr id="22" name="CloudWatch"/>
          <p:cNvSpPr/>
          <p:nvPr/>
        </p:nvSpPr>
        <p:spPr>
          <a:xfrm>
            <a:off x="9555480" y="4480560"/>
            <a:ext cx="2084832" cy="1005840"/>
          </a:xfrm>
          <a:prstGeom prst="roundRect">
            <a:avLst>
              <a:gd name="adj" fmla="val 10909"/>
            </a:avLst>
          </a:prstGeom>
          <a:solidFill>
            <a:schemeClr val="tx2"/>
          </a:solidFill>
          <a:ln/>
        </p:spPr>
      </p:sp>
      <p:sp>
        <p:nvSpPr>
          <p:cNvPr id="23" name="Text 21"/>
          <p:cNvSpPr txBox="1"/>
          <p:nvPr/>
        </p:nvSpPr>
        <p:spPr>
          <a:xfrm>
            <a:off x="9692640" y="4590288"/>
            <a:ext cx="1810512" cy="320040"/>
          </a:xfrm>
          <a:prstGeom prst="rect">
            <a:avLst/>
          </a:prstGeom>
          <a:noFill/>
          <a:ln/>
        </p:spPr>
        <p:txBody>
          <a:bodyPr wrap="square" lIns="0" tIns="0" rIns="0" bIns="0" rtlCol="0" anchor="t"/>
          <a:lstStyle/>
          <a:p>
            <a:pPr algn="ctr" indent="0" marL="0">
              <a:buNone/>
            </a:pPr>
            <a:r>
              <a:rPr lang="en-US" sz="1500" b="1" dirty="0">
                <a:solidFill>
                  <a:schemeClr val="accent3"/>
                </a:solidFill>
              </a:rPr>
              <a:t>CloudWatch</a:t>
            </a:r>
            <a:endParaRPr lang="en-US" sz="1500" dirty="0"/>
          </a:p>
        </p:txBody>
      </p:sp>
      <p:sp>
        <p:nvSpPr>
          <p:cNvPr id="24" name="Text 22"/>
          <p:cNvSpPr txBox="1"/>
          <p:nvPr/>
        </p:nvSpPr>
        <p:spPr>
          <a:xfrm>
            <a:off x="9692640" y="4937760"/>
            <a:ext cx="1810512" cy="502920"/>
          </a:xfrm>
          <a:prstGeom prst="rect">
            <a:avLst/>
          </a:prstGeom>
          <a:noFill/>
          <a:ln/>
        </p:spPr>
        <p:txBody>
          <a:bodyPr wrap="square" lIns="0" tIns="0" rIns="0" bIns="0" rtlCol="0" anchor="t"/>
          <a:lstStyle/>
          <a:p>
            <a:pPr algn="ctr" indent="0" marL="0">
              <a:buNone/>
            </a:pPr>
            <a:r>
              <a:rPr lang="en-US" sz="1200" dirty="0">
                <a:solidFill>
                  <a:schemeClr val="bg1"/>
                </a:solidFill>
              </a:rPr>
              <a:t>Logs and tracing</a:t>
            </a:r>
            <a:endParaRPr lang="en-US" sz="1200" dirty="0"/>
          </a:p>
        </p:txBody>
      </p:sp>
      <p:sp>
        <p:nvSpPr>
          <p:cNvPr id="25" name="arrow"/>
          <p:cNvSpPr/>
          <p:nvPr/>
        </p:nvSpPr>
        <p:spPr>
          <a:xfrm>
            <a:off x="2834640" y="2468880"/>
            <a:ext cx="1280160" cy="0"/>
          </a:xfrm>
          <a:prstGeom prst="line">
            <a:avLst/>
          </a:prstGeom>
          <a:noFill/>
          <a:ln w="25400">
            <a:solidFill>
              <a:schemeClr val="accent6"/>
            </a:solidFill>
            <a:prstDash val="solid"/>
            <a:tailEnd type="triangle"/>
          </a:ln>
        </p:spPr>
      </p:sp>
      <p:sp>
        <p:nvSpPr>
          <p:cNvPr id="26" name="Text 24"/>
          <p:cNvSpPr txBox="1"/>
          <p:nvPr/>
        </p:nvSpPr>
        <p:spPr>
          <a:xfrm>
            <a:off x="2834640" y="214884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requests</a:t>
            </a:r>
            <a:endParaRPr lang="en-US" sz="1100" dirty="0"/>
          </a:p>
        </p:txBody>
      </p:sp>
      <p:sp>
        <p:nvSpPr>
          <p:cNvPr id="27" name="arrow"/>
          <p:cNvSpPr/>
          <p:nvPr/>
        </p:nvSpPr>
        <p:spPr>
          <a:xfrm flipH="1">
            <a:off x="2834640" y="4572000"/>
            <a:ext cx="1280160" cy="0"/>
          </a:xfrm>
          <a:prstGeom prst="line">
            <a:avLst/>
          </a:prstGeom>
          <a:noFill/>
          <a:ln w="25400">
            <a:solidFill>
              <a:schemeClr val="accent6"/>
            </a:solidFill>
            <a:prstDash val="solid"/>
            <a:headEnd type="triangle"/>
          </a:ln>
        </p:spPr>
      </p:sp>
      <p:sp>
        <p:nvSpPr>
          <p:cNvPr id="28" name="Text 26"/>
          <p:cNvSpPr txBox="1"/>
          <p:nvPr/>
        </p:nvSpPr>
        <p:spPr>
          <a:xfrm>
            <a:off x="2834640" y="3977640"/>
            <a:ext cx="1280160" cy="548640"/>
          </a:xfrm>
          <a:prstGeom prst="rect">
            <a:avLst/>
          </a:prstGeom>
          <a:noFill/>
          <a:ln/>
        </p:spPr>
        <p:txBody>
          <a:bodyPr wrap="square" lIns="0" tIns="0" rIns="0" bIns="0" rtlCol="0" anchor="t"/>
          <a:lstStyle/>
          <a:p>
            <a:pPr algn="ctr" indent="0" marL="0">
              <a:buNone/>
            </a:pPr>
            <a:r>
              <a:rPr lang="en-US" sz="1100" dirty="0">
                <a:solidFill>
                  <a:schemeClr val="accent6"/>
                </a:solidFill>
              </a:rPr>
              <a:t>messages and replies (webhook)</a:t>
            </a:r>
            <a:endParaRPr lang="en-US" sz="1100" dirty="0"/>
          </a:p>
        </p:txBody>
      </p:sp>
      <p:sp>
        <p:nvSpPr>
          <p:cNvPr id="29" name="arrow"/>
          <p:cNvSpPr/>
          <p:nvPr/>
        </p:nvSpPr>
        <p:spPr>
          <a:xfrm>
            <a:off x="5943600" y="3520440"/>
            <a:ext cx="914400" cy="0"/>
          </a:xfrm>
          <a:prstGeom prst="line">
            <a:avLst/>
          </a:prstGeom>
          <a:noFill/>
          <a:ln w="25400">
            <a:solidFill>
              <a:schemeClr val="accent6"/>
            </a:solidFill>
            <a:prstDash val="solid"/>
            <a:tailEnd type="triangle"/>
          </a:ln>
        </p:spPr>
      </p:sp>
      <p:sp>
        <p:nvSpPr>
          <p:cNvPr id="30" name="arrow"/>
          <p:cNvSpPr/>
          <p:nvPr/>
        </p:nvSpPr>
        <p:spPr>
          <a:xfrm>
            <a:off x="8686800" y="2423160"/>
            <a:ext cx="868680" cy="0"/>
          </a:xfrm>
          <a:prstGeom prst="line">
            <a:avLst/>
          </a:prstGeom>
          <a:noFill/>
          <a:ln w="25400">
            <a:solidFill>
              <a:schemeClr val="accent6"/>
            </a:solidFill>
            <a:prstDash val="solid"/>
            <a:tailEnd type="triangle"/>
          </a:ln>
        </p:spPr>
      </p:sp>
      <p:sp>
        <p:nvSpPr>
          <p:cNvPr id="31" name="arrow"/>
          <p:cNvSpPr/>
          <p:nvPr/>
        </p:nvSpPr>
        <p:spPr>
          <a:xfrm>
            <a:off x="8686800" y="3703320"/>
            <a:ext cx="868680" cy="0"/>
          </a:xfrm>
          <a:prstGeom prst="line">
            <a:avLst/>
          </a:prstGeom>
          <a:noFill/>
          <a:ln w="25400">
            <a:solidFill>
              <a:schemeClr val="accent6"/>
            </a:solidFill>
            <a:prstDash val="solid"/>
            <a:tailEnd type="triangle"/>
          </a:ln>
        </p:spPr>
      </p:sp>
      <p:sp>
        <p:nvSpPr>
          <p:cNvPr id="32" name="arrow"/>
          <p:cNvSpPr/>
          <p:nvPr/>
        </p:nvSpPr>
        <p:spPr>
          <a:xfrm>
            <a:off x="8686800" y="4983480"/>
            <a:ext cx="868680" cy="0"/>
          </a:xfrm>
          <a:prstGeom prst="line">
            <a:avLst/>
          </a:prstGeom>
          <a:noFill/>
          <a:ln w="25400">
            <a:solidFill>
              <a:schemeClr val="accent6"/>
            </a:solidFill>
            <a:prstDash val="solid"/>
            <a:tailEnd type="triangle"/>
          </a:ln>
        </p:spPr>
      </p:sp>
      <p:sp>
        <p:nvSpPr>
          <p:cNvPr id="33" name="outbound path"/>
          <p:cNvSpPr/>
          <p:nvPr/>
        </p:nvSpPr>
        <p:spPr>
          <a:xfrm>
            <a:off x="7772400" y="5120640"/>
            <a:ext cx="0" cy="594360"/>
          </a:xfrm>
          <a:prstGeom prst="line">
            <a:avLst/>
          </a:prstGeom>
          <a:noFill/>
          <a:ln w="25400">
            <a:solidFill>
              <a:schemeClr val="accent1"/>
            </a:solidFill>
            <a:prstDash val="dash"/>
          </a:ln>
        </p:spPr>
      </p:sp>
      <p:sp>
        <p:nvSpPr>
          <p:cNvPr id="34" name="outbound path"/>
          <p:cNvSpPr/>
          <p:nvPr/>
        </p:nvSpPr>
        <p:spPr>
          <a:xfrm>
            <a:off x="1691640" y="5715000"/>
            <a:ext cx="6080760" cy="0"/>
          </a:xfrm>
          <a:prstGeom prst="line">
            <a:avLst/>
          </a:prstGeom>
          <a:noFill/>
          <a:ln w="25400">
            <a:solidFill>
              <a:schemeClr val="accent1"/>
            </a:solidFill>
            <a:prstDash val="dash"/>
          </a:ln>
        </p:spPr>
      </p:sp>
      <p:sp>
        <p:nvSpPr>
          <p:cNvPr id="35" name="outbound arrow"/>
          <p:cNvSpPr/>
          <p:nvPr/>
        </p:nvSpPr>
        <p:spPr>
          <a:xfrm>
            <a:off x="1691640" y="5120640"/>
            <a:ext cx="0" cy="594360"/>
          </a:xfrm>
          <a:prstGeom prst="line">
            <a:avLst/>
          </a:prstGeom>
          <a:noFill/>
          <a:ln w="25400">
            <a:solidFill>
              <a:schemeClr val="accent1"/>
            </a:solidFill>
            <a:prstDash val="dash"/>
            <a:headEnd type="triangle"/>
          </a:ln>
        </p:spPr>
      </p:sp>
      <p:sp>
        <p:nvSpPr>
          <p:cNvPr id="36" name="Text 34"/>
          <p:cNvSpPr txBox="1"/>
          <p:nvPr/>
        </p:nvSpPr>
        <p:spPr>
          <a:xfrm>
            <a:off x="2194560" y="5779008"/>
            <a:ext cx="5029200" cy="274320"/>
          </a:xfrm>
          <a:prstGeom prst="rect">
            <a:avLst/>
          </a:prstGeom>
          <a:noFill/>
          <a:ln/>
        </p:spPr>
        <p:txBody>
          <a:bodyPr wrap="square" lIns="0" tIns="0" rIns="0" bIns="0" rtlCol="0" anchor="t"/>
          <a:lstStyle/>
          <a:p>
            <a:pPr algn="ctr" indent="0" marL="0">
              <a:buNone/>
            </a:pPr>
            <a:r>
              <a:rPr lang="en-US" sz="1200" b="1" dirty="0">
                <a:solidFill>
                  <a:schemeClr val="accent1"/>
                </a:solidFill>
              </a:rPr>
              <a:t>check-ins and AI replies out</a:t>
            </a:r>
            <a:endParaRPr lang="en-US" sz="1200" dirty="0"/>
          </a:p>
        </p:txBody>
      </p:sp>
      <p:sp>
        <p:nvSpPr>
          <p:cNvPr id="37" name="Text 35"/>
          <p:cNvSpPr txBox="1"/>
          <p:nvPr/>
        </p:nvSpPr>
        <p:spPr>
          <a:xfrm>
            <a:off x="7498080" y="5852160"/>
            <a:ext cx="4114800" cy="274320"/>
          </a:xfrm>
          <a:prstGeom prst="rect">
            <a:avLst/>
          </a:prstGeom>
          <a:noFill/>
          <a:ln/>
        </p:spPr>
        <p:txBody>
          <a:bodyPr wrap="square" lIns="0" tIns="0" rIns="0" bIns="0" rtlCol="0" anchor="t"/>
          <a:lstStyle/>
          <a:p>
            <a:pPr algn="r" indent="0" marL="0">
              <a:buNone/>
            </a:pPr>
            <a:r>
              <a:rPr lang="en-US" sz="1100" i="1" dirty="0">
                <a:solidFill>
                  <a:schemeClr val="accent6"/>
                </a:solidFill>
              </a:rPr>
              <a:t>Prototype data is simulated.</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Built to be responsible</a:t>
            </a:r>
            <a:endParaRPr lang="en-US" sz="3600" dirty="0"/>
          </a:p>
        </p:txBody>
      </p:sp>
      <p:sp>
        <p:nvSpPr>
          <p:cNvPr id="3" name="card"/>
          <p:cNvSpPr/>
          <p:nvPr/>
        </p:nvSpPr>
        <p:spPr>
          <a:xfrm>
            <a:off x="548640" y="1554480"/>
            <a:ext cx="3520440" cy="2240280"/>
          </a:xfrm>
          <a:prstGeom prst="roundRect">
            <a:avLst>
              <a:gd name="adj" fmla="val 4898"/>
            </a:avLst>
          </a:prstGeom>
          <a:solidFill>
            <a:schemeClr val="bg2"/>
          </a:solidFill>
          <a:ln/>
        </p:spPr>
      </p:sp>
      <p:sp>
        <p:nvSpPr>
          <p:cNvPr id="4" name="icon circle"/>
          <p:cNvSpPr/>
          <p:nvPr/>
        </p:nvSpPr>
        <p:spPr>
          <a:xfrm>
            <a:off x="822960" y="1783080"/>
            <a:ext cx="548640" cy="548640"/>
          </a:xfrm>
          <a:prstGeom prst="ellipse">
            <a:avLst/>
          </a:prstGeom>
          <a:solidFill>
            <a:schemeClr val="accent2"/>
          </a:solidFill>
          <a:ln/>
        </p:spPr>
      </p:sp>
      <p:pic>
        <p:nvPicPr>
          <p:cNvPr id="5" name="Image 0" descr="icon">    </p:cNvPr>
          <p:cNvPicPr>
            <a:picLocks noChangeAspect="1"/>
          </p:cNvPicPr>
          <p:nvPr/>
        </p:nvPicPr>
        <p:blipFill>
          <a:blip r:embed="rId1"/>
          <a:stretch>
            <a:fillRect/>
          </a:stretch>
        </p:blipFill>
        <p:spPr>
          <a:xfrm>
            <a:off x="965606" y="1925726"/>
            <a:ext cx="263347" cy="263347"/>
          </a:xfrm>
          <a:prstGeom prst="rect">
            <a:avLst/>
          </a:prstGeom>
        </p:spPr>
      </p:pic>
      <p:sp>
        <p:nvSpPr>
          <p:cNvPr id="6" name="Text 3"/>
          <p:cNvSpPr txBox="1"/>
          <p:nvPr/>
        </p:nvSpPr>
        <p:spPr>
          <a:xfrm>
            <a:off x="1554480" y="17830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Simulated data</a:t>
            </a:r>
            <a:endParaRPr lang="en-US" sz="1800" dirty="0"/>
          </a:p>
        </p:txBody>
      </p:sp>
      <p:sp>
        <p:nvSpPr>
          <p:cNvPr id="7" name="Text 4"/>
          <p:cNvSpPr txBox="1"/>
          <p:nvPr/>
        </p:nvSpPr>
        <p:spPr>
          <a:xfrm>
            <a:off x="822960" y="2514600"/>
            <a:ext cx="3017520" cy="1188720"/>
          </a:xfrm>
          <a:prstGeom prst="rect">
            <a:avLst/>
          </a:prstGeom>
          <a:noFill/>
          <a:ln/>
        </p:spPr>
        <p:txBody>
          <a:bodyPr wrap="square" lIns="0" tIns="0" rIns="0" bIns="0" rtlCol="0" anchor="t"/>
          <a:lstStyle/>
          <a:p>
            <a:pPr indent="0" marL="0">
              <a:buNone/>
            </a:pPr>
            <a:r>
              <a:rPr lang="en-US" sz="1600" dirty="0">
                <a:solidFill>
                  <a:schemeClr val="tx1"/>
                </a:solidFill>
              </a:rPr>
              <a:t>Sample passengers, drivers and trips. No real location data is collected.</a:t>
            </a:r>
            <a:endParaRPr lang="en-US" sz="1600" dirty="0"/>
          </a:p>
        </p:txBody>
      </p:sp>
      <p:sp>
        <p:nvSpPr>
          <p:cNvPr id="8" name="card"/>
          <p:cNvSpPr/>
          <p:nvPr/>
        </p:nvSpPr>
        <p:spPr>
          <a:xfrm>
            <a:off x="4334256" y="1554480"/>
            <a:ext cx="3520440" cy="2240280"/>
          </a:xfrm>
          <a:prstGeom prst="roundRect">
            <a:avLst>
              <a:gd name="adj" fmla="val 4898"/>
            </a:avLst>
          </a:prstGeom>
          <a:solidFill>
            <a:schemeClr val="bg2"/>
          </a:solidFill>
          <a:ln/>
        </p:spPr>
      </p:sp>
      <p:sp>
        <p:nvSpPr>
          <p:cNvPr id="9" name="icon circle"/>
          <p:cNvSpPr/>
          <p:nvPr/>
        </p:nvSpPr>
        <p:spPr>
          <a:xfrm>
            <a:off x="4608576" y="1783080"/>
            <a:ext cx="548640" cy="548640"/>
          </a:xfrm>
          <a:prstGeom prst="ellipse">
            <a:avLst/>
          </a:prstGeom>
          <a:solidFill>
            <a:schemeClr val="accent2"/>
          </a:solidFill>
          <a:ln/>
        </p:spPr>
      </p:sp>
      <p:pic>
        <p:nvPicPr>
          <p:cNvPr id="10" name="Image 1" descr="icon">    </p:cNvPr>
          <p:cNvPicPr>
            <a:picLocks noChangeAspect="1"/>
          </p:cNvPicPr>
          <p:nvPr/>
        </p:nvPicPr>
        <p:blipFill>
          <a:blip r:embed="rId2"/>
          <a:stretch>
            <a:fillRect/>
          </a:stretch>
        </p:blipFill>
        <p:spPr>
          <a:xfrm>
            <a:off x="4751222" y="1925726"/>
            <a:ext cx="263347" cy="263347"/>
          </a:xfrm>
          <a:prstGeom prst="rect">
            <a:avLst/>
          </a:prstGeom>
        </p:spPr>
      </p:pic>
      <p:sp>
        <p:nvSpPr>
          <p:cNvPr id="11" name="Text 7"/>
          <p:cNvSpPr txBox="1"/>
          <p:nvPr/>
        </p:nvSpPr>
        <p:spPr>
          <a:xfrm>
            <a:off x="5340096" y="17830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No blame</a:t>
            </a:r>
            <a:endParaRPr lang="en-US" sz="1800" dirty="0"/>
          </a:p>
        </p:txBody>
      </p:sp>
      <p:sp>
        <p:nvSpPr>
          <p:cNvPr id="12" name="Text 8"/>
          <p:cNvSpPr txBox="1"/>
          <p:nvPr/>
        </p:nvSpPr>
        <p:spPr>
          <a:xfrm>
            <a:off x="4608576" y="2514600"/>
            <a:ext cx="3017520" cy="1188720"/>
          </a:xfrm>
          <a:prstGeom prst="rect">
            <a:avLst/>
          </a:prstGeom>
          <a:noFill/>
          <a:ln/>
        </p:spPr>
        <p:txBody>
          <a:bodyPr wrap="square" lIns="0" tIns="0" rIns="0" bIns="0" rtlCol="0" anchor="t"/>
          <a:lstStyle/>
          <a:p>
            <a:pPr indent="0" marL="0">
              <a:buNone/>
            </a:pPr>
            <a:r>
              <a:rPr lang="en-US" sz="1600" dirty="0">
                <a:solidFill>
                  <a:schemeClr val="tx1"/>
                </a:solidFill>
              </a:rPr>
              <a:t>An unusual event is a prompt to check in, never proof of wrongdoing.</a:t>
            </a:r>
            <a:endParaRPr lang="en-US" sz="1600" dirty="0"/>
          </a:p>
        </p:txBody>
      </p:sp>
      <p:sp>
        <p:nvSpPr>
          <p:cNvPr id="13" name="card"/>
          <p:cNvSpPr/>
          <p:nvPr/>
        </p:nvSpPr>
        <p:spPr>
          <a:xfrm>
            <a:off x="8119872" y="1554480"/>
            <a:ext cx="3520440" cy="2240280"/>
          </a:xfrm>
          <a:prstGeom prst="roundRect">
            <a:avLst>
              <a:gd name="adj" fmla="val 4898"/>
            </a:avLst>
          </a:prstGeom>
          <a:solidFill>
            <a:schemeClr val="bg2"/>
          </a:solidFill>
          <a:ln/>
        </p:spPr>
      </p:sp>
      <p:sp>
        <p:nvSpPr>
          <p:cNvPr id="14" name="icon circle"/>
          <p:cNvSpPr/>
          <p:nvPr/>
        </p:nvSpPr>
        <p:spPr>
          <a:xfrm>
            <a:off x="8394192" y="1783080"/>
            <a:ext cx="548640" cy="548640"/>
          </a:xfrm>
          <a:prstGeom prst="ellipse">
            <a:avLst/>
          </a:prstGeom>
          <a:solidFill>
            <a:schemeClr val="accent2"/>
          </a:solidFill>
          <a:ln/>
        </p:spPr>
      </p:sp>
      <p:pic>
        <p:nvPicPr>
          <p:cNvPr id="15" name="Image 2" descr="icon">    </p:cNvPr>
          <p:cNvPicPr>
            <a:picLocks noChangeAspect="1"/>
          </p:cNvPicPr>
          <p:nvPr/>
        </p:nvPicPr>
        <p:blipFill>
          <a:blip r:embed="rId3"/>
          <a:stretch>
            <a:fillRect/>
          </a:stretch>
        </p:blipFill>
        <p:spPr>
          <a:xfrm>
            <a:off x="8536838" y="1925726"/>
            <a:ext cx="263347" cy="263347"/>
          </a:xfrm>
          <a:prstGeom prst="rect">
            <a:avLst/>
          </a:prstGeom>
        </p:spPr>
      </p:pic>
      <p:sp>
        <p:nvSpPr>
          <p:cNvPr id="16" name="Text 11"/>
          <p:cNvSpPr txBox="1"/>
          <p:nvPr/>
        </p:nvSpPr>
        <p:spPr>
          <a:xfrm>
            <a:off x="9125712" y="178308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Approved guidance</a:t>
            </a:r>
            <a:endParaRPr lang="en-US" sz="1800" dirty="0"/>
          </a:p>
        </p:txBody>
      </p:sp>
      <p:sp>
        <p:nvSpPr>
          <p:cNvPr id="17" name="Text 12"/>
          <p:cNvSpPr txBox="1"/>
          <p:nvPr/>
        </p:nvSpPr>
        <p:spPr>
          <a:xfrm>
            <a:off x="8394192" y="2514600"/>
            <a:ext cx="3017520" cy="1188720"/>
          </a:xfrm>
          <a:prstGeom prst="rect">
            <a:avLst/>
          </a:prstGeom>
          <a:noFill/>
          <a:ln/>
        </p:spPr>
        <p:txBody>
          <a:bodyPr wrap="square" lIns="0" tIns="0" rIns="0" bIns="0" rtlCol="0" anchor="t"/>
          <a:lstStyle/>
          <a:p>
            <a:pPr indent="0" marL="0">
              <a:buNone/>
            </a:pPr>
            <a:r>
              <a:rPr lang="en-US" sz="1600" dirty="0">
                <a:solidFill>
                  <a:schemeClr val="tx1"/>
                </a:solidFill>
              </a:rPr>
              <a:t>The AI works only from approved safety information.</a:t>
            </a:r>
            <a:endParaRPr lang="en-US" sz="1600" dirty="0"/>
          </a:p>
        </p:txBody>
      </p:sp>
      <p:sp>
        <p:nvSpPr>
          <p:cNvPr id="18" name="card"/>
          <p:cNvSpPr/>
          <p:nvPr/>
        </p:nvSpPr>
        <p:spPr>
          <a:xfrm>
            <a:off x="548640" y="4023360"/>
            <a:ext cx="3520440" cy="2240280"/>
          </a:xfrm>
          <a:prstGeom prst="roundRect">
            <a:avLst>
              <a:gd name="adj" fmla="val 4898"/>
            </a:avLst>
          </a:prstGeom>
          <a:solidFill>
            <a:schemeClr val="bg2"/>
          </a:solidFill>
          <a:ln/>
        </p:spPr>
      </p:sp>
      <p:sp>
        <p:nvSpPr>
          <p:cNvPr id="19" name="icon circle"/>
          <p:cNvSpPr/>
          <p:nvPr/>
        </p:nvSpPr>
        <p:spPr>
          <a:xfrm>
            <a:off x="822960" y="4251960"/>
            <a:ext cx="548640" cy="548640"/>
          </a:xfrm>
          <a:prstGeom prst="ellipse">
            <a:avLst/>
          </a:prstGeom>
          <a:solidFill>
            <a:schemeClr val="accent2"/>
          </a:solidFill>
          <a:ln/>
        </p:spPr>
      </p:sp>
      <p:pic>
        <p:nvPicPr>
          <p:cNvPr id="20" name="Image 3" descr="icon">    </p:cNvPr>
          <p:cNvPicPr>
            <a:picLocks noChangeAspect="1"/>
          </p:cNvPicPr>
          <p:nvPr/>
        </p:nvPicPr>
        <p:blipFill>
          <a:blip r:embed="rId4"/>
          <a:stretch>
            <a:fillRect/>
          </a:stretch>
        </p:blipFill>
        <p:spPr>
          <a:xfrm>
            <a:off x="965606" y="4394606"/>
            <a:ext cx="263347" cy="263347"/>
          </a:xfrm>
          <a:prstGeom prst="rect">
            <a:avLst/>
          </a:prstGeom>
        </p:spPr>
      </p:pic>
      <p:sp>
        <p:nvSpPr>
          <p:cNvPr id="21" name="Text 15"/>
          <p:cNvSpPr txBox="1"/>
          <p:nvPr/>
        </p:nvSpPr>
        <p:spPr>
          <a:xfrm>
            <a:off x="1554480" y="425196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Not emergency services</a:t>
            </a:r>
            <a:endParaRPr lang="en-US" sz="1800" dirty="0"/>
          </a:p>
        </p:txBody>
      </p:sp>
      <p:sp>
        <p:nvSpPr>
          <p:cNvPr id="22" name="Text 16"/>
          <p:cNvSpPr txBox="1"/>
          <p:nvPr/>
        </p:nvSpPr>
        <p:spPr>
          <a:xfrm>
            <a:off x="822960" y="4983480"/>
            <a:ext cx="3017520" cy="1188720"/>
          </a:xfrm>
          <a:prstGeom prst="rect">
            <a:avLst/>
          </a:prstGeom>
          <a:noFill/>
          <a:ln/>
        </p:spPr>
        <p:txBody>
          <a:bodyPr wrap="square" lIns="0" tIns="0" rIns="0" bIns="0" rtlCol="0" anchor="t"/>
          <a:lstStyle/>
          <a:p>
            <a:pPr indent="0" marL="0">
              <a:buNone/>
            </a:pPr>
            <a:r>
              <a:rPr lang="en-US" sz="1600" dirty="0">
                <a:solidFill>
                  <a:schemeClr val="tx1"/>
                </a:solidFill>
              </a:rPr>
              <a:t>We say clearly that the app does not replace them: 10111 or 112.</a:t>
            </a:r>
            <a:endParaRPr lang="en-US" sz="1600" dirty="0"/>
          </a:p>
        </p:txBody>
      </p:sp>
      <p:sp>
        <p:nvSpPr>
          <p:cNvPr id="23" name="card"/>
          <p:cNvSpPr/>
          <p:nvPr/>
        </p:nvSpPr>
        <p:spPr>
          <a:xfrm>
            <a:off x="4334256" y="4023360"/>
            <a:ext cx="3520440" cy="2240280"/>
          </a:xfrm>
          <a:prstGeom prst="roundRect">
            <a:avLst>
              <a:gd name="adj" fmla="val 4898"/>
            </a:avLst>
          </a:prstGeom>
          <a:solidFill>
            <a:schemeClr val="bg2"/>
          </a:solidFill>
          <a:ln/>
        </p:spPr>
      </p:sp>
      <p:sp>
        <p:nvSpPr>
          <p:cNvPr id="24" name="icon circle"/>
          <p:cNvSpPr/>
          <p:nvPr/>
        </p:nvSpPr>
        <p:spPr>
          <a:xfrm>
            <a:off x="4608576" y="4251960"/>
            <a:ext cx="548640" cy="548640"/>
          </a:xfrm>
          <a:prstGeom prst="ellipse">
            <a:avLst/>
          </a:prstGeom>
          <a:solidFill>
            <a:schemeClr val="accent2"/>
          </a:solidFill>
          <a:ln/>
        </p:spPr>
      </p:sp>
      <p:pic>
        <p:nvPicPr>
          <p:cNvPr id="25" name="Image 4" descr="icon">    </p:cNvPr>
          <p:cNvPicPr>
            <a:picLocks noChangeAspect="1"/>
          </p:cNvPicPr>
          <p:nvPr/>
        </p:nvPicPr>
        <p:blipFill>
          <a:blip r:embed="rId5"/>
          <a:stretch>
            <a:fillRect/>
          </a:stretch>
        </p:blipFill>
        <p:spPr>
          <a:xfrm>
            <a:off x="4751222" y="4394606"/>
            <a:ext cx="263347" cy="263347"/>
          </a:xfrm>
          <a:prstGeom prst="rect">
            <a:avLst/>
          </a:prstGeom>
        </p:spPr>
      </p:pic>
      <p:sp>
        <p:nvSpPr>
          <p:cNvPr id="26" name="Text 19"/>
          <p:cNvSpPr txBox="1"/>
          <p:nvPr/>
        </p:nvSpPr>
        <p:spPr>
          <a:xfrm>
            <a:off x="5340096" y="425196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Secure by design</a:t>
            </a:r>
            <a:endParaRPr lang="en-US" sz="1800" dirty="0"/>
          </a:p>
        </p:txBody>
      </p:sp>
      <p:sp>
        <p:nvSpPr>
          <p:cNvPr id="27" name="Text 20"/>
          <p:cNvSpPr txBox="1"/>
          <p:nvPr/>
        </p:nvSpPr>
        <p:spPr>
          <a:xfrm>
            <a:off x="4608576" y="4983480"/>
            <a:ext cx="3017520" cy="1188720"/>
          </a:xfrm>
          <a:prstGeom prst="rect">
            <a:avLst/>
          </a:prstGeom>
          <a:noFill/>
          <a:ln/>
        </p:spPr>
        <p:txBody>
          <a:bodyPr wrap="square" lIns="0" tIns="0" rIns="0" bIns="0" rtlCol="0" anchor="t"/>
          <a:lstStyle/>
          <a:p>
            <a:pPr indent="0" marL="0">
              <a:buNone/>
            </a:pPr>
            <a:r>
              <a:rPr lang="en-US" sz="1600" dirty="0">
                <a:solidFill>
                  <a:schemeClr val="tx1"/>
                </a:solidFill>
              </a:rPr>
              <a:t>Minimal data stored, access controlled at the backend, no credentials in the frontend.</a:t>
            </a:r>
            <a:endParaRPr lang="en-US" sz="1600" dirty="0"/>
          </a:p>
        </p:txBody>
      </p:sp>
      <p:sp>
        <p:nvSpPr>
          <p:cNvPr id="28" name="card"/>
          <p:cNvSpPr/>
          <p:nvPr/>
        </p:nvSpPr>
        <p:spPr>
          <a:xfrm>
            <a:off x="8119872" y="4023360"/>
            <a:ext cx="3520440" cy="2240280"/>
          </a:xfrm>
          <a:prstGeom prst="roundRect">
            <a:avLst>
              <a:gd name="adj" fmla="val 4898"/>
            </a:avLst>
          </a:prstGeom>
          <a:solidFill>
            <a:schemeClr val="bg2"/>
          </a:solidFill>
          <a:ln/>
        </p:spPr>
      </p:sp>
      <p:sp>
        <p:nvSpPr>
          <p:cNvPr id="29" name="icon circle"/>
          <p:cNvSpPr/>
          <p:nvPr/>
        </p:nvSpPr>
        <p:spPr>
          <a:xfrm>
            <a:off x="8394192" y="4251960"/>
            <a:ext cx="548640" cy="548640"/>
          </a:xfrm>
          <a:prstGeom prst="ellipse">
            <a:avLst/>
          </a:prstGeom>
          <a:solidFill>
            <a:schemeClr val="accent2"/>
          </a:solidFill>
          <a:ln/>
        </p:spPr>
      </p:sp>
      <p:pic>
        <p:nvPicPr>
          <p:cNvPr id="30" name="Image 5" descr="icon">    </p:cNvPr>
          <p:cNvPicPr>
            <a:picLocks noChangeAspect="1"/>
          </p:cNvPicPr>
          <p:nvPr/>
        </p:nvPicPr>
        <p:blipFill>
          <a:blip r:embed="rId6"/>
          <a:stretch>
            <a:fillRect/>
          </a:stretch>
        </p:blipFill>
        <p:spPr>
          <a:xfrm>
            <a:off x="8536838" y="4394606"/>
            <a:ext cx="263347" cy="263347"/>
          </a:xfrm>
          <a:prstGeom prst="rect">
            <a:avLst/>
          </a:prstGeom>
        </p:spPr>
      </p:pic>
      <p:sp>
        <p:nvSpPr>
          <p:cNvPr id="31" name="Text 23"/>
          <p:cNvSpPr txBox="1"/>
          <p:nvPr/>
        </p:nvSpPr>
        <p:spPr>
          <a:xfrm>
            <a:off x="9125712" y="4251960"/>
            <a:ext cx="2377440" cy="548640"/>
          </a:xfrm>
          <a:prstGeom prst="rect">
            <a:avLst/>
          </a:prstGeom>
          <a:noFill/>
          <a:ln/>
        </p:spPr>
        <p:txBody>
          <a:bodyPr wrap="square" lIns="0" tIns="0" rIns="0" bIns="0" rtlCol="0" anchor="ctr"/>
          <a:lstStyle/>
          <a:p>
            <a:pPr indent="0" marL="0">
              <a:buNone/>
            </a:pPr>
            <a:r>
              <a:rPr lang="en-US" sz="1800" b="1" dirty="0">
                <a:solidFill>
                  <a:schemeClr val="tx2"/>
                </a:solidFill>
              </a:rPr>
              <a:t>POPIA-minded</a:t>
            </a:r>
            <a:endParaRPr lang="en-US" sz="1800" dirty="0"/>
          </a:p>
        </p:txBody>
      </p:sp>
      <p:sp>
        <p:nvSpPr>
          <p:cNvPr id="32" name="Text 24"/>
          <p:cNvSpPr txBox="1"/>
          <p:nvPr/>
        </p:nvSpPr>
        <p:spPr>
          <a:xfrm>
            <a:off x="8394192" y="4983480"/>
            <a:ext cx="3017520" cy="1188720"/>
          </a:xfrm>
          <a:prstGeom prst="rect">
            <a:avLst/>
          </a:prstGeom>
          <a:noFill/>
          <a:ln/>
        </p:spPr>
        <p:txBody>
          <a:bodyPr wrap="square" lIns="0" tIns="0" rIns="0" bIns="0" rtlCol="0" anchor="t"/>
          <a:lstStyle/>
          <a:p>
            <a:pPr indent="0" marL="0">
              <a:buNone/>
            </a:pPr>
            <a:r>
              <a:rPr lang="en-US" sz="1600" dirty="0">
                <a:solidFill>
                  <a:schemeClr val="tx1"/>
                </a:solidFill>
              </a:rPr>
              <a:t>Designed with South African privacy law in mind. Production needs a formal assessment.</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Working, simulated and still to come</a:t>
            </a:r>
            <a:endParaRPr lang="en-US" sz="3600" dirty="0"/>
          </a:p>
        </p:txBody>
      </p:sp>
      <p:sp>
        <p:nvSpPr>
          <p:cNvPr id="3" name="card"/>
          <p:cNvSpPr/>
          <p:nvPr/>
        </p:nvSpPr>
        <p:spPr>
          <a:xfrm>
            <a:off x="548640" y="1508760"/>
            <a:ext cx="3520440" cy="3840480"/>
          </a:xfrm>
          <a:prstGeom prst="roundRect">
            <a:avLst>
              <a:gd name="adj" fmla="val 3117"/>
            </a:avLst>
          </a:prstGeom>
          <a:solidFill>
            <a:schemeClr val="bg2"/>
          </a:solidFill>
          <a:ln/>
        </p:spPr>
      </p:sp>
      <p:sp>
        <p:nvSpPr>
          <p:cNvPr id="4" name="icon circle"/>
          <p:cNvSpPr/>
          <p:nvPr/>
        </p:nvSpPr>
        <p:spPr>
          <a:xfrm>
            <a:off x="822960" y="1691640"/>
            <a:ext cx="548640" cy="548640"/>
          </a:xfrm>
          <a:prstGeom prst="ellipse">
            <a:avLst/>
          </a:prstGeom>
          <a:solidFill>
            <a:schemeClr val="accent2"/>
          </a:solidFill>
          <a:ln/>
        </p:spPr>
      </p:sp>
      <p:pic>
        <p:nvPicPr>
          <p:cNvPr id="5" name="Image 0" descr="icon">    </p:cNvPr>
          <p:cNvPicPr>
            <a:picLocks noChangeAspect="1"/>
          </p:cNvPicPr>
          <p:nvPr/>
        </p:nvPicPr>
        <p:blipFill>
          <a:blip r:embed="rId1"/>
          <a:stretch>
            <a:fillRect/>
          </a:stretch>
        </p:blipFill>
        <p:spPr>
          <a:xfrm>
            <a:off x="965606" y="1834286"/>
            <a:ext cx="263347" cy="263347"/>
          </a:xfrm>
          <a:prstGeom prst="rect">
            <a:avLst/>
          </a:prstGeom>
        </p:spPr>
      </p:pic>
      <p:sp>
        <p:nvSpPr>
          <p:cNvPr id="6" name="Text 3"/>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2000" b="1" dirty="0">
                <a:solidFill>
                  <a:schemeClr val="tx2"/>
                </a:solidFill>
              </a:rPr>
              <a:t>Working today</a:t>
            </a:r>
            <a:endParaRPr lang="en-US" sz="2000" dirty="0"/>
          </a:p>
        </p:txBody>
      </p:sp>
      <p:sp>
        <p:nvSpPr>
          <p:cNvPr id="7" name="Text 4"/>
          <p:cNvSpPr txBox="1"/>
          <p:nvPr/>
        </p:nvSpPr>
        <p:spPr>
          <a:xfrm>
            <a:off x="822960" y="2468880"/>
            <a:ext cx="3017520" cy="2788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Ride request, fare comparison and monthly budget</a:t>
            </a:r>
            <a:endParaRPr lang="en-US" sz="1200" dirty="0"/>
          </a:p>
          <a:p>
            <a:pPr marL="342900" indent="-342900">
              <a:spcAft>
                <a:spcPts val="800"/>
              </a:spcAft>
              <a:buSzPct val="100000"/>
              <a:buChar char="•"/>
            </a:pPr>
            <a:r>
              <a:rPr lang="en-US" sz="1200" dirty="0">
                <a:solidFill>
                  <a:schemeClr val="tx1"/>
                </a:solidFill>
              </a:rPr>
              <a:t>Safe Journey Mode, trusted contact, share trip and SOS</a:t>
            </a:r>
            <a:endParaRPr lang="en-US" sz="1200" dirty="0"/>
          </a:p>
          <a:p>
            <a:pPr marL="342900" indent="-342900">
              <a:spcAft>
                <a:spcPts val="800"/>
              </a:spcAft>
              <a:buSzPct val="100000"/>
              <a:buChar char="•"/>
            </a:pPr>
            <a:r>
              <a:rPr lang="en-US" sz="1200" dirty="0">
                <a:solidFill>
                  <a:schemeClr val="tx1"/>
                </a:solidFill>
              </a:rPr>
              <a:t>WhatsApp check-ins on a real number: 1, 2 or your own words</a:t>
            </a:r>
            <a:endParaRPr lang="en-US" sz="1200" dirty="0"/>
          </a:p>
          <a:p>
            <a:pPr marL="342900" indent="-342900">
              <a:spcAft>
                <a:spcPts val="800"/>
              </a:spcAft>
              <a:buSzPct val="100000"/>
              <a:buChar char="•"/>
            </a:pPr>
            <a:r>
              <a:rPr lang="en-US" sz="1200" dirty="0">
                <a:solidFill>
                  <a:schemeClr val="tx1"/>
                </a:solidFill>
              </a:rPr>
              <a:t>No-reply workflow with an operator-set wait window</a:t>
            </a:r>
            <a:endParaRPr lang="en-US" sz="1200" dirty="0"/>
          </a:p>
          <a:p>
            <a:pPr marL="342900" indent="-342900">
              <a:spcAft>
                <a:spcPts val="800"/>
              </a:spcAft>
              <a:buSzPct val="100000"/>
              <a:buChar char="•"/>
            </a:pPr>
            <a:r>
              <a:rPr lang="en-US" sz="1200" dirty="0">
                <a:solidFill>
                  <a:schemeClr val="tx1"/>
                </a:solidFill>
              </a:rPr>
              <a:t>Fleet dashboard with AI triage</a:t>
            </a:r>
            <a:endParaRPr lang="en-US" sz="1200" dirty="0"/>
          </a:p>
          <a:p>
            <a:pPr marL="342900" indent="-342900">
              <a:spcAft>
                <a:spcPts val="800"/>
              </a:spcAft>
              <a:buSzPct val="100000"/>
              <a:buChar char="•"/>
            </a:pPr>
            <a:r>
              <a:rPr lang="en-US" sz="1200" dirty="0">
                <a:solidFill>
                  <a:schemeClr val="tx1"/>
                </a:solidFill>
              </a:rPr>
              <a:t>Amazon Bedrock assistant; safety log in DynamoDB</a:t>
            </a:r>
            <a:endParaRPr lang="en-US" sz="1200" dirty="0"/>
          </a:p>
        </p:txBody>
      </p:sp>
      <p:sp>
        <p:nvSpPr>
          <p:cNvPr id="8" name="card"/>
          <p:cNvSpPr/>
          <p:nvPr/>
        </p:nvSpPr>
        <p:spPr>
          <a:xfrm>
            <a:off x="4334256" y="1508760"/>
            <a:ext cx="3520440" cy="3840480"/>
          </a:xfrm>
          <a:prstGeom prst="roundRect">
            <a:avLst>
              <a:gd name="adj" fmla="val 3117"/>
            </a:avLst>
          </a:prstGeom>
          <a:solidFill>
            <a:schemeClr val="bg2"/>
          </a:solidFill>
          <a:ln/>
        </p:spPr>
      </p:sp>
      <p:sp>
        <p:nvSpPr>
          <p:cNvPr id="9" name="icon circle"/>
          <p:cNvSpPr/>
          <p:nvPr/>
        </p:nvSpPr>
        <p:spPr>
          <a:xfrm>
            <a:off x="4608576" y="1691640"/>
            <a:ext cx="548640" cy="548640"/>
          </a:xfrm>
          <a:prstGeom prst="ellipse">
            <a:avLst/>
          </a:prstGeom>
          <a:solidFill>
            <a:schemeClr val="accent4"/>
          </a:solidFill>
          <a:ln/>
        </p:spPr>
      </p:sp>
      <p:pic>
        <p:nvPicPr>
          <p:cNvPr id="10" name="Image 1" descr="icon">    </p:cNvPr>
          <p:cNvPicPr>
            <a:picLocks noChangeAspect="1"/>
          </p:cNvPicPr>
          <p:nvPr/>
        </p:nvPicPr>
        <p:blipFill>
          <a:blip r:embed="rId2"/>
          <a:stretch>
            <a:fillRect/>
          </a:stretch>
        </p:blipFill>
        <p:spPr>
          <a:xfrm>
            <a:off x="4751222" y="1834286"/>
            <a:ext cx="263347" cy="263347"/>
          </a:xfrm>
          <a:prstGeom prst="rect">
            <a:avLst/>
          </a:prstGeom>
        </p:spPr>
      </p:pic>
      <p:sp>
        <p:nvSpPr>
          <p:cNvPr id="11" name="Text 7"/>
          <p:cNvSpPr txBox="1"/>
          <p:nvPr/>
        </p:nvSpPr>
        <p:spPr>
          <a:xfrm>
            <a:off x="5340096" y="1691640"/>
            <a:ext cx="2377440" cy="548640"/>
          </a:xfrm>
          <a:prstGeom prst="rect">
            <a:avLst/>
          </a:prstGeom>
          <a:noFill/>
          <a:ln/>
        </p:spPr>
        <p:txBody>
          <a:bodyPr wrap="square" lIns="0" tIns="0" rIns="0" bIns="0" rtlCol="0" anchor="ctr"/>
          <a:lstStyle/>
          <a:p>
            <a:pPr indent="0" marL="0">
              <a:buNone/>
            </a:pPr>
            <a:r>
              <a:rPr lang="en-US" sz="2000" b="1" dirty="0">
                <a:solidFill>
                  <a:schemeClr val="tx2"/>
                </a:solidFill>
              </a:rPr>
              <a:t>Simulated</a:t>
            </a:r>
            <a:endParaRPr lang="en-US" sz="2000" dirty="0"/>
          </a:p>
        </p:txBody>
      </p:sp>
      <p:sp>
        <p:nvSpPr>
          <p:cNvPr id="12" name="Text 8"/>
          <p:cNvSpPr txBox="1"/>
          <p:nvPr/>
        </p:nvSpPr>
        <p:spPr>
          <a:xfrm>
            <a:off x="4608576" y="2468880"/>
            <a:ext cx="3017520" cy="2788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Trips and route events</a:t>
            </a:r>
            <a:endParaRPr lang="en-US" sz="1200" dirty="0"/>
          </a:p>
          <a:p>
            <a:pPr marL="342900" indent="-342900">
              <a:spcAft>
                <a:spcPts val="800"/>
              </a:spcAft>
              <a:buSzPct val="100000"/>
              <a:buChar char="•"/>
            </a:pPr>
            <a:r>
              <a:rPr lang="en-US" sz="1200" dirty="0">
                <a:solidFill>
                  <a:schemeClr val="tx1"/>
                </a:solidFill>
              </a:rPr>
              <a:t>Driver profiles, labelled “demo driver, not verified”</a:t>
            </a:r>
            <a:endParaRPr lang="en-US" sz="1200" dirty="0"/>
          </a:p>
          <a:p>
            <a:pPr marL="342900" indent="-342900">
              <a:spcAft>
                <a:spcPts val="800"/>
              </a:spcAft>
              <a:buSzPct val="100000"/>
              <a:buChar char="•"/>
            </a:pPr>
            <a:r>
              <a:rPr lang="en-US" sz="1200" dirty="0">
                <a:solidFill>
                  <a:schemeClr val="tx1"/>
                </a:solidFill>
              </a:rPr>
              <a:t>The Face ID result at the start of a ride</a:t>
            </a:r>
            <a:endParaRPr lang="en-US" sz="1200" dirty="0"/>
          </a:p>
          <a:p>
            <a:pPr marL="342900" indent="-342900">
              <a:spcAft>
                <a:spcPts val="800"/>
              </a:spcAft>
              <a:buSzPct val="100000"/>
              <a:buChar char="•"/>
            </a:pPr>
            <a:r>
              <a:rPr lang="en-US" sz="1200" dirty="0">
                <a:solidFill>
                  <a:schemeClr val="tx1"/>
                </a:solidFill>
              </a:rPr>
              <a:t>Notifications, unless the number is on the demo allow-list</a:t>
            </a:r>
            <a:endParaRPr lang="en-US" sz="1200" dirty="0"/>
          </a:p>
        </p:txBody>
      </p:sp>
      <p:sp>
        <p:nvSpPr>
          <p:cNvPr id="13" name="card"/>
          <p:cNvSpPr/>
          <p:nvPr/>
        </p:nvSpPr>
        <p:spPr>
          <a:xfrm>
            <a:off x="8119872" y="1508760"/>
            <a:ext cx="3520440" cy="3840480"/>
          </a:xfrm>
          <a:prstGeom prst="roundRect">
            <a:avLst>
              <a:gd name="adj" fmla="val 3117"/>
            </a:avLst>
          </a:prstGeom>
          <a:solidFill>
            <a:schemeClr val="bg2"/>
          </a:solidFill>
          <a:ln/>
        </p:spPr>
      </p:sp>
      <p:sp>
        <p:nvSpPr>
          <p:cNvPr id="14" name="icon circle"/>
          <p:cNvSpPr/>
          <p:nvPr/>
        </p:nvSpPr>
        <p:spPr>
          <a:xfrm>
            <a:off x="8394192" y="1691640"/>
            <a:ext cx="548640" cy="548640"/>
          </a:xfrm>
          <a:prstGeom prst="ellipse">
            <a:avLst/>
          </a:prstGeom>
          <a:solidFill>
            <a:schemeClr val="accent6"/>
          </a:solidFill>
          <a:ln/>
        </p:spPr>
      </p:sp>
      <p:pic>
        <p:nvPicPr>
          <p:cNvPr id="15" name="Image 2" descr="icon">    </p:cNvPr>
          <p:cNvPicPr>
            <a:picLocks noChangeAspect="1"/>
          </p:cNvPicPr>
          <p:nvPr/>
        </p:nvPicPr>
        <p:blipFill>
          <a:blip r:embed="rId3"/>
          <a:stretch>
            <a:fillRect/>
          </a:stretch>
        </p:blipFill>
        <p:spPr>
          <a:xfrm>
            <a:off x="8536838" y="1834286"/>
            <a:ext cx="263347" cy="263347"/>
          </a:xfrm>
          <a:prstGeom prst="rect">
            <a:avLst/>
          </a:prstGeom>
        </p:spPr>
      </p:pic>
      <p:sp>
        <p:nvSpPr>
          <p:cNvPr id="16" name="Text 11"/>
          <p:cNvSpPr txBox="1"/>
          <p:nvPr/>
        </p:nvSpPr>
        <p:spPr>
          <a:xfrm>
            <a:off x="9125712" y="1691640"/>
            <a:ext cx="2377440" cy="548640"/>
          </a:xfrm>
          <a:prstGeom prst="rect">
            <a:avLst/>
          </a:prstGeom>
          <a:noFill/>
          <a:ln/>
        </p:spPr>
        <p:txBody>
          <a:bodyPr wrap="square" lIns="0" tIns="0" rIns="0" bIns="0" rtlCol="0" anchor="ctr"/>
          <a:lstStyle/>
          <a:p>
            <a:pPr indent="0" marL="0">
              <a:buNone/>
            </a:pPr>
            <a:r>
              <a:rPr lang="en-US" sz="2000" b="1" dirty="0">
                <a:solidFill>
                  <a:schemeClr val="tx2"/>
                </a:solidFill>
              </a:rPr>
              <a:t>Still to come</a:t>
            </a:r>
            <a:endParaRPr lang="en-US" sz="2000" dirty="0"/>
          </a:p>
        </p:txBody>
      </p:sp>
      <p:sp>
        <p:nvSpPr>
          <p:cNvPr id="17" name="Text 12"/>
          <p:cNvSpPr txBox="1"/>
          <p:nvPr/>
        </p:nvSpPr>
        <p:spPr>
          <a:xfrm>
            <a:off x="8394192" y="2468880"/>
            <a:ext cx="3017520" cy="2788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Live GPS and route tracking</a:t>
            </a:r>
            <a:endParaRPr lang="en-US" sz="1200" dirty="0"/>
          </a:p>
          <a:p>
            <a:pPr marL="342900" indent="-342900">
              <a:spcAft>
                <a:spcPts val="800"/>
              </a:spcAft>
              <a:buSzPct val="100000"/>
              <a:buChar char="•"/>
            </a:pPr>
            <a:r>
              <a:rPr lang="en-US" sz="1200" dirty="0">
                <a:solidFill>
                  <a:schemeClr val="tx1"/>
                </a:solidFill>
              </a:rPr>
              <a:t>Real driver verification (biometrics and ID check)</a:t>
            </a:r>
            <a:endParaRPr lang="en-US" sz="1200" dirty="0"/>
          </a:p>
          <a:p>
            <a:pPr marL="342900" indent="-342900">
              <a:spcAft>
                <a:spcPts val="800"/>
              </a:spcAft>
              <a:buSzPct val="100000"/>
              <a:buChar char="•"/>
            </a:pPr>
            <a:r>
              <a:rPr lang="en-US" sz="1200" dirty="0">
                <a:solidFill>
                  <a:schemeClr val="tx1"/>
                </a:solidFill>
              </a:rPr>
              <a:t>Emergency-service integration</a:t>
            </a:r>
            <a:endParaRPr lang="en-US" sz="1200" dirty="0"/>
          </a:p>
          <a:p>
            <a:pPr marL="342900" indent="-342900">
              <a:spcAft>
                <a:spcPts val="800"/>
              </a:spcAft>
              <a:buSzPct val="100000"/>
              <a:buChar char="•"/>
            </a:pPr>
            <a:r>
              <a:rPr lang="en-US" sz="1200" dirty="0">
                <a:solidFill>
                  <a:schemeClr val="tx1"/>
                </a:solidFill>
              </a:rPr>
              <a:t>Real payments and ride matching</a:t>
            </a:r>
            <a:endParaRPr lang="en-US" sz="1200" dirty="0"/>
          </a:p>
          <a:p>
            <a:pPr marL="342900" indent="-342900">
              <a:spcAft>
                <a:spcPts val="800"/>
              </a:spcAft>
              <a:buSzPct val="100000"/>
              <a:buChar char="•"/>
            </a:pPr>
            <a:r>
              <a:rPr lang="en-US" sz="1200" dirty="0">
                <a:solidFill>
                  <a:schemeClr val="tx1"/>
                </a:solidFill>
              </a:rPr>
              <a:t>POPIA assessment and an operator pilot</a:t>
            </a:r>
            <a:endParaRPr lang="en-US" sz="1200" dirty="0"/>
          </a:p>
        </p:txBody>
      </p:sp>
      <p:sp>
        <p:nvSpPr>
          <p:cNvPr id="18" name="claims strip"/>
          <p:cNvSpPr/>
          <p:nvPr/>
        </p:nvSpPr>
        <p:spPr>
          <a:xfrm>
            <a:off x="548640" y="5532120"/>
            <a:ext cx="11091672" cy="685800"/>
          </a:xfrm>
          <a:prstGeom prst="roundRect">
            <a:avLst>
              <a:gd name="adj" fmla="val 16000"/>
            </a:avLst>
          </a:prstGeom>
          <a:solidFill>
            <a:schemeClr val="tx2"/>
          </a:solidFill>
          <a:ln/>
        </p:spPr>
      </p:sp>
      <p:sp>
        <p:nvSpPr>
          <p:cNvPr id="19" name="Text 14"/>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600" b="1" dirty="0">
                <a:solidFill>
                  <a:schemeClr val="bg1"/>
                </a:solidFill>
              </a:rPr>
              <a:t>We do not claim to prevent crime, guarantee safety, or verify drivers. In danger, call 10111 or 112.</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Outstanding work</a:t>
            </a:r>
            <a:endParaRPr lang="en-US" sz="3600" dirty="0"/>
          </a:p>
        </p:txBody>
      </p:sp>
      <p:sp>
        <p:nvSpPr>
          <p:cNvPr id="3" name="Text 1"/>
          <p:cNvSpPr txBox="1"/>
          <p:nvPr/>
        </p:nvSpPr>
        <p:spPr>
          <a:xfrm>
            <a:off x="548640" y="1234440"/>
            <a:ext cx="10972800" cy="365760"/>
          </a:xfrm>
          <a:prstGeom prst="rect">
            <a:avLst/>
          </a:prstGeom>
          <a:noFill/>
          <a:ln/>
        </p:spPr>
        <p:txBody>
          <a:bodyPr wrap="square" lIns="0" tIns="0" rIns="0" bIns="0" rtlCol="0" anchor="t"/>
          <a:lstStyle/>
          <a:p>
            <a:pPr indent="0" marL="0">
              <a:buNone/>
            </a:pPr>
            <a:r>
              <a:rPr lang="en-US" sz="1600" dirty="0">
                <a:solidFill>
                  <a:schemeClr val="accent6"/>
                </a:solidFill>
              </a:rPr>
              <a:t>Six things we planned to finish before Tuesday: all six are built and in today’s demo.</a:t>
            </a:r>
            <a:endParaRPr lang="en-US" sz="1600" dirty="0"/>
          </a:p>
        </p:txBody>
      </p:sp>
      <p:sp>
        <p:nvSpPr>
          <p:cNvPr id="4" name="card"/>
          <p:cNvSpPr/>
          <p:nvPr/>
        </p:nvSpPr>
        <p:spPr>
          <a:xfrm>
            <a:off x="548640" y="1783080"/>
            <a:ext cx="3520440" cy="2103120"/>
          </a:xfrm>
          <a:prstGeom prst="roundRect">
            <a:avLst>
              <a:gd name="adj" fmla="val 5217"/>
            </a:avLst>
          </a:prstGeom>
          <a:solidFill>
            <a:schemeClr val="bg2"/>
          </a:solidFill>
          <a:ln/>
        </p:spPr>
      </p:sp>
      <p:sp>
        <p:nvSpPr>
          <p:cNvPr id="5" name="icon circle"/>
          <p:cNvSpPr/>
          <p:nvPr/>
        </p:nvSpPr>
        <p:spPr>
          <a:xfrm>
            <a:off x="822960" y="1984248"/>
            <a:ext cx="548640" cy="548640"/>
          </a:xfrm>
          <a:prstGeom prst="ellipse">
            <a:avLst/>
          </a:prstGeom>
          <a:solidFill>
            <a:schemeClr val="accent2"/>
          </a:solidFill>
          <a:ln/>
        </p:spPr>
      </p:sp>
      <p:pic>
        <p:nvPicPr>
          <p:cNvPr id="6" name="Image 0" descr="icon">    </p:cNvPr>
          <p:cNvPicPr>
            <a:picLocks noChangeAspect="1"/>
          </p:cNvPicPr>
          <p:nvPr/>
        </p:nvPicPr>
        <p:blipFill>
          <a:blip r:embed="rId1"/>
          <a:stretch>
            <a:fillRect/>
          </a:stretch>
        </p:blipFill>
        <p:spPr>
          <a:xfrm>
            <a:off x="965606" y="2126894"/>
            <a:ext cx="263347" cy="263347"/>
          </a:xfrm>
          <a:prstGeom prst="rect">
            <a:avLst/>
          </a:prstGeom>
        </p:spPr>
      </p:pic>
      <p:sp>
        <p:nvSpPr>
          <p:cNvPr id="7" name="Text 4"/>
          <p:cNvSpPr txBox="1"/>
          <p:nvPr/>
        </p:nvSpPr>
        <p:spPr>
          <a:xfrm>
            <a:off x="1554480" y="1984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Mobile friendly and resizeable</a:t>
            </a:r>
            <a:endParaRPr lang="en-US" sz="1700" dirty="0"/>
          </a:p>
        </p:txBody>
      </p:sp>
      <p:sp>
        <p:nvSpPr>
          <p:cNvPr id="8" name="Text 5"/>
          <p:cNvSpPr txBox="1"/>
          <p:nvPr/>
        </p:nvSpPr>
        <p:spPr>
          <a:xfrm>
            <a:off x="822960" y="2697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works on a phone, tablet or desktop, and installs to the home screen.</a:t>
            </a:r>
            <a:endParaRPr lang="en-US" sz="1500" dirty="0"/>
          </a:p>
        </p:txBody>
      </p:sp>
      <p:sp>
        <p:nvSpPr>
          <p:cNvPr id="9" name="card"/>
          <p:cNvSpPr/>
          <p:nvPr/>
        </p:nvSpPr>
        <p:spPr>
          <a:xfrm>
            <a:off x="4334256" y="1783080"/>
            <a:ext cx="3520440" cy="2103120"/>
          </a:xfrm>
          <a:prstGeom prst="roundRect">
            <a:avLst>
              <a:gd name="adj" fmla="val 5217"/>
            </a:avLst>
          </a:prstGeom>
          <a:solidFill>
            <a:schemeClr val="bg2"/>
          </a:solidFill>
          <a:ln/>
        </p:spPr>
      </p:sp>
      <p:sp>
        <p:nvSpPr>
          <p:cNvPr id="10" name="icon circle"/>
          <p:cNvSpPr/>
          <p:nvPr/>
        </p:nvSpPr>
        <p:spPr>
          <a:xfrm>
            <a:off x="4608576" y="1984248"/>
            <a:ext cx="548640" cy="548640"/>
          </a:xfrm>
          <a:prstGeom prst="ellipse">
            <a:avLst/>
          </a:prstGeom>
          <a:solidFill>
            <a:schemeClr val="accent2"/>
          </a:solidFill>
          <a:ln/>
        </p:spPr>
      </p:sp>
      <p:pic>
        <p:nvPicPr>
          <p:cNvPr id="11" name="Image 1" descr="icon">    </p:cNvPr>
          <p:cNvPicPr>
            <a:picLocks noChangeAspect="1"/>
          </p:cNvPicPr>
          <p:nvPr/>
        </p:nvPicPr>
        <p:blipFill>
          <a:blip r:embed="rId2"/>
          <a:stretch>
            <a:fillRect/>
          </a:stretch>
        </p:blipFill>
        <p:spPr>
          <a:xfrm>
            <a:off x="4751222" y="2126894"/>
            <a:ext cx="263347" cy="263347"/>
          </a:xfrm>
          <a:prstGeom prst="rect">
            <a:avLst/>
          </a:prstGeom>
        </p:spPr>
      </p:pic>
      <p:sp>
        <p:nvSpPr>
          <p:cNvPr id="12" name="Text 8"/>
          <p:cNvSpPr txBox="1"/>
          <p:nvPr/>
        </p:nvSpPr>
        <p:spPr>
          <a:xfrm>
            <a:off x="5340096" y="1984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Instant AI assistant button</a:t>
            </a:r>
            <a:endParaRPr lang="en-US" sz="1700" dirty="0"/>
          </a:p>
        </p:txBody>
      </p:sp>
      <p:sp>
        <p:nvSpPr>
          <p:cNvPr id="13" name="Text 9"/>
          <p:cNvSpPr txBox="1"/>
          <p:nvPr/>
        </p:nvSpPr>
        <p:spPr>
          <a:xfrm>
            <a:off x="4608576" y="2697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an “Ask AI” button on every page, one tap away.</a:t>
            </a:r>
            <a:endParaRPr lang="en-US" sz="1500" dirty="0"/>
          </a:p>
        </p:txBody>
      </p:sp>
      <p:sp>
        <p:nvSpPr>
          <p:cNvPr id="14" name="card"/>
          <p:cNvSpPr/>
          <p:nvPr/>
        </p:nvSpPr>
        <p:spPr>
          <a:xfrm>
            <a:off x="8119872" y="1783080"/>
            <a:ext cx="3520440" cy="2103120"/>
          </a:xfrm>
          <a:prstGeom prst="roundRect">
            <a:avLst>
              <a:gd name="adj" fmla="val 5217"/>
            </a:avLst>
          </a:prstGeom>
          <a:solidFill>
            <a:schemeClr val="bg2"/>
          </a:solidFill>
          <a:ln/>
        </p:spPr>
      </p:sp>
      <p:sp>
        <p:nvSpPr>
          <p:cNvPr id="15" name="icon circle"/>
          <p:cNvSpPr/>
          <p:nvPr/>
        </p:nvSpPr>
        <p:spPr>
          <a:xfrm>
            <a:off x="8394192" y="1984248"/>
            <a:ext cx="548640" cy="54864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8536838" y="2126894"/>
            <a:ext cx="263347" cy="263347"/>
          </a:xfrm>
          <a:prstGeom prst="rect">
            <a:avLst/>
          </a:prstGeom>
        </p:spPr>
      </p:pic>
      <p:sp>
        <p:nvSpPr>
          <p:cNvPr id="17" name="Text 12"/>
          <p:cNvSpPr txBox="1"/>
          <p:nvPr/>
        </p:nvSpPr>
        <p:spPr>
          <a:xfrm>
            <a:off x="9125712" y="1984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Weekly and monthly fares</a:t>
            </a:r>
            <a:endParaRPr lang="en-US" sz="1700" dirty="0"/>
          </a:p>
        </p:txBody>
      </p:sp>
      <p:sp>
        <p:nvSpPr>
          <p:cNvPr id="18" name="Text 13"/>
          <p:cNvSpPr txBox="1"/>
          <p:nvPr/>
        </p:nvSpPr>
        <p:spPr>
          <a:xfrm>
            <a:off x="8394192" y="2697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10 trips a week is R2,925 a month alone, or R1,170 shared by three (illustrative).</a:t>
            </a:r>
            <a:endParaRPr lang="en-US" sz="1500" dirty="0"/>
          </a:p>
        </p:txBody>
      </p:sp>
      <p:sp>
        <p:nvSpPr>
          <p:cNvPr id="19" name="card"/>
          <p:cNvSpPr/>
          <p:nvPr/>
        </p:nvSpPr>
        <p:spPr>
          <a:xfrm>
            <a:off x="548640" y="4069080"/>
            <a:ext cx="3520440" cy="2103120"/>
          </a:xfrm>
          <a:prstGeom prst="roundRect">
            <a:avLst>
              <a:gd name="adj" fmla="val 5217"/>
            </a:avLst>
          </a:prstGeom>
          <a:solidFill>
            <a:schemeClr val="bg2"/>
          </a:solidFill>
          <a:ln/>
        </p:spPr>
      </p:sp>
      <p:sp>
        <p:nvSpPr>
          <p:cNvPr id="20" name="icon circle"/>
          <p:cNvSpPr/>
          <p:nvPr/>
        </p:nvSpPr>
        <p:spPr>
          <a:xfrm>
            <a:off x="822960" y="4270248"/>
            <a:ext cx="548640" cy="548640"/>
          </a:xfrm>
          <a:prstGeom prst="ellipse">
            <a:avLst/>
          </a:prstGeom>
          <a:solidFill>
            <a:schemeClr val="accent2"/>
          </a:solidFill>
          <a:ln/>
        </p:spPr>
      </p:sp>
      <p:pic>
        <p:nvPicPr>
          <p:cNvPr id="21" name="Image 3" descr="icon">    </p:cNvPr>
          <p:cNvPicPr>
            <a:picLocks noChangeAspect="1"/>
          </p:cNvPicPr>
          <p:nvPr/>
        </p:nvPicPr>
        <p:blipFill>
          <a:blip r:embed="rId4"/>
          <a:stretch>
            <a:fillRect/>
          </a:stretch>
        </p:blipFill>
        <p:spPr>
          <a:xfrm>
            <a:off x="965606" y="4412894"/>
            <a:ext cx="263347" cy="263347"/>
          </a:xfrm>
          <a:prstGeom prst="rect">
            <a:avLst/>
          </a:prstGeom>
        </p:spPr>
      </p:pic>
      <p:sp>
        <p:nvSpPr>
          <p:cNvPr id="22" name="Text 16"/>
          <p:cNvSpPr txBox="1"/>
          <p:nvPr/>
        </p:nvSpPr>
        <p:spPr>
          <a:xfrm>
            <a:off x="1554480" y="4270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Operator sign-in (Cognito)</a:t>
            </a:r>
            <a:endParaRPr lang="en-US" sz="1700" dirty="0"/>
          </a:p>
        </p:txBody>
      </p:sp>
      <p:sp>
        <p:nvSpPr>
          <p:cNvPr id="23" name="Text 17"/>
          <p:cNvSpPr txBox="1"/>
          <p:nvPr/>
        </p:nvSpPr>
        <p:spPr>
          <a:xfrm>
            <a:off x="822960" y="4983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operators sign in with Amazon Cognito; only they can open the fleet dashboard.</a:t>
            </a:r>
            <a:endParaRPr lang="en-US" sz="1500" dirty="0"/>
          </a:p>
        </p:txBody>
      </p:sp>
      <p:sp>
        <p:nvSpPr>
          <p:cNvPr id="24" name="card"/>
          <p:cNvSpPr/>
          <p:nvPr/>
        </p:nvSpPr>
        <p:spPr>
          <a:xfrm>
            <a:off x="4334256" y="4069080"/>
            <a:ext cx="3520440" cy="2103120"/>
          </a:xfrm>
          <a:prstGeom prst="roundRect">
            <a:avLst>
              <a:gd name="adj" fmla="val 5217"/>
            </a:avLst>
          </a:prstGeom>
          <a:solidFill>
            <a:schemeClr val="bg2"/>
          </a:solidFill>
          <a:ln/>
        </p:spPr>
      </p:sp>
      <p:sp>
        <p:nvSpPr>
          <p:cNvPr id="25" name="icon circle"/>
          <p:cNvSpPr/>
          <p:nvPr/>
        </p:nvSpPr>
        <p:spPr>
          <a:xfrm>
            <a:off x="4608576" y="4270248"/>
            <a:ext cx="548640" cy="548640"/>
          </a:xfrm>
          <a:prstGeom prst="ellipse">
            <a:avLst/>
          </a:prstGeom>
          <a:solidFill>
            <a:schemeClr val="accent2"/>
          </a:solidFill>
          <a:ln/>
        </p:spPr>
      </p:sp>
      <p:pic>
        <p:nvPicPr>
          <p:cNvPr id="26" name="Image 4" descr="icon">    </p:cNvPr>
          <p:cNvPicPr>
            <a:picLocks noChangeAspect="1"/>
          </p:cNvPicPr>
          <p:nvPr/>
        </p:nvPicPr>
        <p:blipFill>
          <a:blip r:embed="rId5"/>
          <a:stretch>
            <a:fillRect/>
          </a:stretch>
        </p:blipFill>
        <p:spPr>
          <a:xfrm>
            <a:off x="4751222" y="4412894"/>
            <a:ext cx="263347" cy="263347"/>
          </a:xfrm>
          <a:prstGeom prst="rect">
            <a:avLst/>
          </a:prstGeom>
        </p:spPr>
      </p:pic>
      <p:sp>
        <p:nvSpPr>
          <p:cNvPr id="27" name="Text 20"/>
          <p:cNvSpPr txBox="1"/>
          <p:nvPr/>
        </p:nvSpPr>
        <p:spPr>
          <a:xfrm>
            <a:off x="5340096" y="4270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Full no-reply workflow</a:t>
            </a:r>
            <a:endParaRPr lang="en-US" sz="1700" dirty="0"/>
          </a:p>
        </p:txBody>
      </p:sp>
      <p:sp>
        <p:nvSpPr>
          <p:cNvPr id="28" name="Text 21"/>
          <p:cNvSpPr txBox="1"/>
          <p:nvPr/>
        </p:nvSpPr>
        <p:spPr>
          <a:xfrm>
            <a:off x="4608576" y="4983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an operator-set wait window, a reminder, then the trusted contact and the operator.</a:t>
            </a:r>
            <a:endParaRPr lang="en-US" sz="1500" dirty="0"/>
          </a:p>
        </p:txBody>
      </p:sp>
      <p:sp>
        <p:nvSpPr>
          <p:cNvPr id="29" name="card"/>
          <p:cNvSpPr/>
          <p:nvPr/>
        </p:nvSpPr>
        <p:spPr>
          <a:xfrm>
            <a:off x="8119872" y="4069080"/>
            <a:ext cx="3520440" cy="2103120"/>
          </a:xfrm>
          <a:prstGeom prst="roundRect">
            <a:avLst>
              <a:gd name="adj" fmla="val 5217"/>
            </a:avLst>
          </a:prstGeom>
          <a:solidFill>
            <a:schemeClr val="bg2"/>
          </a:solidFill>
          <a:ln/>
        </p:spPr>
      </p:sp>
      <p:sp>
        <p:nvSpPr>
          <p:cNvPr id="30" name="icon circle"/>
          <p:cNvSpPr/>
          <p:nvPr/>
        </p:nvSpPr>
        <p:spPr>
          <a:xfrm>
            <a:off x="8394192" y="4270248"/>
            <a:ext cx="548640" cy="548640"/>
          </a:xfrm>
          <a:prstGeom prst="ellipse">
            <a:avLst/>
          </a:prstGeom>
          <a:solidFill>
            <a:schemeClr val="accent2"/>
          </a:solidFill>
          <a:ln/>
        </p:spPr>
      </p:sp>
      <p:pic>
        <p:nvPicPr>
          <p:cNvPr id="31" name="Image 5" descr="icon">    </p:cNvPr>
          <p:cNvPicPr>
            <a:picLocks noChangeAspect="1"/>
          </p:cNvPicPr>
          <p:nvPr/>
        </p:nvPicPr>
        <p:blipFill>
          <a:blip r:embed="rId6"/>
          <a:stretch>
            <a:fillRect/>
          </a:stretch>
        </p:blipFill>
        <p:spPr>
          <a:xfrm>
            <a:off x="8536838" y="4412894"/>
            <a:ext cx="263347" cy="263347"/>
          </a:xfrm>
          <a:prstGeom prst="rect">
            <a:avLst/>
          </a:prstGeom>
        </p:spPr>
      </p:pic>
      <p:sp>
        <p:nvSpPr>
          <p:cNvPr id="32" name="Text 24"/>
          <p:cNvSpPr txBox="1"/>
          <p:nvPr/>
        </p:nvSpPr>
        <p:spPr>
          <a:xfrm>
            <a:off x="9125712" y="4270248"/>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Driver check each ride</a:t>
            </a:r>
            <a:endParaRPr lang="en-US" sz="1700" dirty="0"/>
          </a:p>
        </p:txBody>
      </p:sp>
      <p:sp>
        <p:nvSpPr>
          <p:cNvPr id="33" name="Text 25"/>
          <p:cNvSpPr txBox="1"/>
          <p:nvPr/>
        </p:nvSpPr>
        <p:spPr>
          <a:xfrm>
            <a:off x="8394192" y="4983480"/>
            <a:ext cx="3017520" cy="1097280"/>
          </a:xfrm>
          <a:prstGeom prst="rect">
            <a:avLst/>
          </a:prstGeom>
          <a:noFill/>
          <a:ln/>
        </p:spPr>
        <p:txBody>
          <a:bodyPr wrap="square" lIns="0" tIns="0" rIns="0" bIns="0" rtlCol="0" anchor="t"/>
          <a:lstStyle/>
          <a:p>
            <a:pPr indent="0" marL="0">
              <a:buNone/>
            </a:pPr>
            <a:r>
              <a:rPr lang="en-US" sz="1500" dirty="0">
                <a:solidFill>
                  <a:schemeClr val="tx1"/>
                </a:solidFill>
              </a:rPr>
              <a:t>Built (simulated): the driver card shows “verified with Face ID” or “not verified”.</a:t>
            </a:r>
            <a:endParaRPr lang="en-US" sz="15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Safety shouldn’t depend on a button</a:t>
            </a:r>
            <a:endParaRPr lang="en-US" sz="3600" dirty="0"/>
          </a:p>
        </p:txBody>
      </p:sp>
      <p:sp>
        <p:nvSpPr>
          <p:cNvPr id="3" name="takeaway"/>
          <p:cNvSpPr/>
          <p:nvPr/>
        </p:nvSpPr>
        <p:spPr>
          <a:xfrm>
            <a:off x="548640" y="1645920"/>
            <a:ext cx="3520440" cy="2926080"/>
          </a:xfrm>
          <a:prstGeom prst="roundRect">
            <a:avLst>
              <a:gd name="adj" fmla="val 3750"/>
            </a:avLst>
          </a:prstGeom>
          <a:solidFill>
            <a:schemeClr val="accent2"/>
          </a:solidFill>
          <a:ln/>
        </p:spPr>
      </p:sp>
      <p:sp>
        <p:nvSpPr>
          <p:cNvPr id="4" name="Text 2"/>
          <p:cNvSpPr txBox="1"/>
          <p:nvPr/>
        </p:nvSpPr>
        <p:spPr>
          <a:xfrm>
            <a:off x="822960" y="1828800"/>
            <a:ext cx="91440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1</a:t>
            </a:r>
            <a:endParaRPr lang="en-US" sz="4800" dirty="0"/>
          </a:p>
        </p:txBody>
      </p:sp>
      <p:sp>
        <p:nvSpPr>
          <p:cNvPr id="5" name="Text 3"/>
          <p:cNvSpPr txBox="1"/>
          <p:nvPr/>
        </p:nvSpPr>
        <p:spPr>
          <a:xfrm>
            <a:off x="822960" y="2743200"/>
            <a:ext cx="2971800" cy="731520"/>
          </a:xfrm>
          <a:prstGeom prst="rect">
            <a:avLst/>
          </a:prstGeom>
          <a:noFill/>
          <a:ln/>
        </p:spPr>
        <p:txBody>
          <a:bodyPr wrap="square" lIns="0" tIns="0" rIns="0" bIns="0" rtlCol="0" anchor="t"/>
          <a:lstStyle/>
          <a:p>
            <a:pPr indent="0" marL="0">
              <a:buNone/>
            </a:pPr>
            <a:r>
              <a:rPr lang="en-US" sz="2000" b="1" dirty="0">
                <a:solidFill>
                  <a:schemeClr val="bg1"/>
                </a:solidFill>
              </a:rPr>
              <a:t>Proactive, not reactive</a:t>
            </a:r>
            <a:endParaRPr lang="en-US" sz="2000" dirty="0"/>
          </a:p>
        </p:txBody>
      </p:sp>
      <p:sp>
        <p:nvSpPr>
          <p:cNvPr id="6" name="Text 4"/>
          <p:cNvSpPr txBox="1"/>
          <p:nvPr/>
        </p:nvSpPr>
        <p:spPr>
          <a:xfrm>
            <a:off x="822960" y="3520440"/>
            <a:ext cx="2971800" cy="914400"/>
          </a:xfrm>
          <a:prstGeom prst="rect">
            <a:avLst/>
          </a:prstGeom>
          <a:noFill/>
          <a:ln/>
        </p:spPr>
        <p:txBody>
          <a:bodyPr wrap="square" lIns="0" tIns="0" rIns="0" bIns="0" rtlCol="0" anchor="t"/>
          <a:lstStyle/>
          <a:p>
            <a:pPr indent="0" marL="0">
              <a:buNone/>
            </a:pPr>
            <a:r>
              <a:rPr lang="en-US" sz="1500" dirty="0">
                <a:solidFill>
                  <a:schemeClr val="bg1"/>
                </a:solidFill>
              </a:rPr>
              <a:t>We don’t wait for the worst moment to ask a passenger to act.</a:t>
            </a:r>
            <a:endParaRPr lang="en-US" sz="1500" dirty="0"/>
          </a:p>
        </p:txBody>
      </p:sp>
      <p:sp>
        <p:nvSpPr>
          <p:cNvPr id="7" name="takeaway"/>
          <p:cNvSpPr/>
          <p:nvPr/>
        </p:nvSpPr>
        <p:spPr>
          <a:xfrm>
            <a:off x="4334256" y="1645920"/>
            <a:ext cx="3520440" cy="2926080"/>
          </a:xfrm>
          <a:prstGeom prst="roundRect">
            <a:avLst>
              <a:gd name="adj" fmla="val 3750"/>
            </a:avLst>
          </a:prstGeom>
          <a:solidFill>
            <a:schemeClr val="accent2"/>
          </a:solidFill>
          <a:ln/>
        </p:spPr>
      </p:sp>
      <p:sp>
        <p:nvSpPr>
          <p:cNvPr id="8" name="Text 6"/>
          <p:cNvSpPr txBox="1"/>
          <p:nvPr/>
        </p:nvSpPr>
        <p:spPr>
          <a:xfrm>
            <a:off x="4608576" y="1828800"/>
            <a:ext cx="91440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2</a:t>
            </a:r>
            <a:endParaRPr lang="en-US" sz="4800" dirty="0"/>
          </a:p>
        </p:txBody>
      </p:sp>
      <p:sp>
        <p:nvSpPr>
          <p:cNvPr id="9" name="Text 7"/>
          <p:cNvSpPr txBox="1"/>
          <p:nvPr/>
        </p:nvSpPr>
        <p:spPr>
          <a:xfrm>
            <a:off x="4608576" y="2743200"/>
            <a:ext cx="2971800" cy="731520"/>
          </a:xfrm>
          <a:prstGeom prst="rect">
            <a:avLst/>
          </a:prstGeom>
          <a:noFill/>
          <a:ln/>
        </p:spPr>
        <p:txBody>
          <a:bodyPr wrap="square" lIns="0" tIns="0" rIns="0" bIns="0" rtlCol="0" anchor="t"/>
          <a:lstStyle/>
          <a:p>
            <a:pPr indent="0" marL="0">
              <a:buNone/>
            </a:pPr>
            <a:r>
              <a:rPr lang="en-US" sz="2000" b="1" dirty="0">
                <a:solidFill>
                  <a:schemeClr val="bg1"/>
                </a:solidFill>
              </a:rPr>
              <a:t>Rules detect. AI explains. People decide.</a:t>
            </a:r>
            <a:endParaRPr lang="en-US" sz="2000" dirty="0"/>
          </a:p>
        </p:txBody>
      </p:sp>
      <p:sp>
        <p:nvSpPr>
          <p:cNvPr id="10" name="Text 8"/>
          <p:cNvSpPr txBox="1"/>
          <p:nvPr/>
        </p:nvSpPr>
        <p:spPr>
          <a:xfrm>
            <a:off x="4608576" y="3520440"/>
            <a:ext cx="2971800" cy="914400"/>
          </a:xfrm>
          <a:prstGeom prst="rect">
            <a:avLst/>
          </a:prstGeom>
          <a:noFill/>
          <a:ln/>
        </p:spPr>
        <p:txBody>
          <a:bodyPr wrap="square" lIns="0" tIns="0" rIns="0" bIns="0" rtlCol="0" anchor="t"/>
          <a:lstStyle/>
          <a:p>
            <a:pPr indent="0" marL="0">
              <a:buNone/>
            </a:pPr>
            <a:r>
              <a:rPr lang="en-US" sz="1500" dirty="0">
                <a:solidFill>
                  <a:schemeClr val="bg1"/>
                </a:solidFill>
              </a:rPr>
              <a:t>AI helps. It never judges, and it never blames.</a:t>
            </a:r>
            <a:endParaRPr lang="en-US" sz="1500" dirty="0"/>
          </a:p>
        </p:txBody>
      </p:sp>
      <p:sp>
        <p:nvSpPr>
          <p:cNvPr id="11" name="takeaway"/>
          <p:cNvSpPr/>
          <p:nvPr/>
        </p:nvSpPr>
        <p:spPr>
          <a:xfrm>
            <a:off x="8119872" y="1645920"/>
            <a:ext cx="3520440" cy="2926080"/>
          </a:xfrm>
          <a:prstGeom prst="roundRect">
            <a:avLst>
              <a:gd name="adj" fmla="val 3750"/>
            </a:avLst>
          </a:prstGeom>
          <a:solidFill>
            <a:schemeClr val="accent2"/>
          </a:solidFill>
          <a:ln/>
        </p:spPr>
      </p:sp>
      <p:sp>
        <p:nvSpPr>
          <p:cNvPr id="12" name="Text 10"/>
          <p:cNvSpPr txBox="1"/>
          <p:nvPr/>
        </p:nvSpPr>
        <p:spPr>
          <a:xfrm>
            <a:off x="8394192" y="1828800"/>
            <a:ext cx="914400" cy="82296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3</a:t>
            </a:r>
            <a:endParaRPr lang="en-US" sz="4800" dirty="0"/>
          </a:p>
        </p:txBody>
      </p:sp>
      <p:sp>
        <p:nvSpPr>
          <p:cNvPr id="13" name="Text 11"/>
          <p:cNvSpPr txBox="1"/>
          <p:nvPr/>
        </p:nvSpPr>
        <p:spPr>
          <a:xfrm>
            <a:off x="8394192" y="2743200"/>
            <a:ext cx="2971800" cy="731520"/>
          </a:xfrm>
          <a:prstGeom prst="rect">
            <a:avLst/>
          </a:prstGeom>
          <a:noFill/>
          <a:ln/>
        </p:spPr>
        <p:txBody>
          <a:bodyPr wrap="square" lIns="0" tIns="0" rIns="0" bIns="0" rtlCol="0" anchor="t"/>
          <a:lstStyle/>
          <a:p>
            <a:pPr indent="0" marL="0">
              <a:buNone/>
            </a:pPr>
            <a:r>
              <a:rPr lang="en-US" sz="2000" b="1" dirty="0">
                <a:solidFill>
                  <a:schemeClr val="bg1"/>
                </a:solidFill>
              </a:rPr>
              <a:t>Built on AWS to scale</a:t>
            </a:r>
            <a:endParaRPr lang="en-US" sz="2000" dirty="0"/>
          </a:p>
        </p:txBody>
      </p:sp>
      <p:sp>
        <p:nvSpPr>
          <p:cNvPr id="14" name="Text 12"/>
          <p:cNvSpPr txBox="1"/>
          <p:nvPr/>
        </p:nvSpPr>
        <p:spPr>
          <a:xfrm>
            <a:off x="8394192" y="3520440"/>
            <a:ext cx="2971800" cy="914400"/>
          </a:xfrm>
          <a:prstGeom prst="rect">
            <a:avLst/>
          </a:prstGeom>
          <a:noFill/>
          <a:ln/>
        </p:spPr>
        <p:txBody>
          <a:bodyPr wrap="square" lIns="0" tIns="0" rIns="0" bIns="0" rtlCol="0" anchor="t"/>
          <a:lstStyle/>
          <a:p>
            <a:pPr indent="0" marL="0">
              <a:buNone/>
            </a:pPr>
            <a:r>
              <a:rPr lang="en-US" sz="1500" dirty="0">
                <a:solidFill>
                  <a:schemeClr val="bg1"/>
                </a:solidFill>
              </a:rPr>
              <a:t>Serverless, so one operator or a national fleet runs on the same design.</a:t>
            </a:r>
            <a:endParaRPr lang="en-US" sz="1500" dirty="0"/>
          </a:p>
        </p:txBody>
      </p:sp>
      <p:sp>
        <p:nvSpPr>
          <p:cNvPr id="15" name="Text 13"/>
          <p:cNvSpPr txBox="1"/>
          <p:nvPr/>
        </p:nvSpPr>
        <p:spPr>
          <a:xfrm>
            <a:off x="548640" y="5029200"/>
            <a:ext cx="11064240" cy="64008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Get there safely. Someone’s always checking in.</a:t>
            </a:r>
            <a:endParaRPr lang="en-US" sz="3000" dirty="0"/>
          </a:p>
        </p:txBody>
      </p:sp>
      <p:sp>
        <p:nvSpPr>
          <p:cNvPr id="16" name="Text 14"/>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dirty="0">
                <a:solidFill>
                  <a:schemeClr val="accent5"/>
                </a:solidFill>
              </a:rPr>
              <a:t>Thank you</a:t>
            </a:r>
            <a:endParaRPr lang="en-US" sz="18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D8C7"/>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we’ll cover</a:t>
            </a:r>
            <a:endParaRPr lang="en-US" sz="3600" dirty="0"/>
          </a:p>
        </p:txBody>
      </p:sp>
      <p:sp>
        <p:nvSpPr>
          <p:cNvPr id="3" name="card"/>
          <p:cNvSpPr/>
          <p:nvPr/>
        </p:nvSpPr>
        <p:spPr>
          <a:xfrm>
            <a:off x="548640" y="1783080"/>
            <a:ext cx="2580894" cy="2103120"/>
          </a:xfrm>
          <a:prstGeom prst="roundRect">
            <a:avLst>
              <a:gd name="adj" fmla="val 4898"/>
            </a:avLst>
          </a:prstGeom>
          <a:solidFill>
            <a:schemeClr val="bg2"/>
          </a:solidFill>
          <a:ln/>
        </p:spPr>
      </p:sp>
      <p:sp>
        <p:nvSpPr>
          <p:cNvPr id="4" name="icon circle"/>
          <p:cNvSpPr/>
          <p:nvPr/>
        </p:nvSpPr>
        <p:spPr>
          <a:xfrm>
            <a:off x="822960" y="2011680"/>
            <a:ext cx="548640" cy="548640"/>
          </a:xfrm>
          <a:prstGeom prst="ellipse">
            <a:avLst/>
          </a:prstGeom>
          <a:solidFill>
            <a:schemeClr val="accent2"/>
          </a:solidFill>
          <a:ln/>
        </p:spPr>
      </p:sp>
      <p:pic>
        <p:nvPicPr>
          <p:cNvPr id="5" name="Image 0" descr="icon">    </p:cNvPr>
          <p:cNvPicPr>
            <a:picLocks noChangeAspect="1"/>
          </p:cNvPicPr>
          <p:nvPr/>
        </p:nvPicPr>
        <p:blipFill>
          <a:blip r:embed="rId8"/>
          <a:stretch>
            <a:fillRect/>
          </a:stretch>
        </p:blipFill>
        <p:spPr>
          <a:xfrm>
            <a:off x="965606" y="2154326"/>
            <a:ext cx="263347" cy="263347"/>
          </a:xfrm>
          <a:prstGeom prst="rect">
            <a:avLst/>
          </a:prstGeom>
        </p:spPr>
      </p:pic>
      <p:sp>
        <p:nvSpPr>
          <p:cNvPr id="6" name="Text 3"/>
          <p:cNvSpPr txBox="1"/>
          <p:nvPr/>
        </p:nvSpPr>
        <p:spPr>
          <a:xfrm>
            <a:off x="1554480"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The problem</a:t>
            </a:r>
            <a:endParaRPr lang="en-US" sz="1500" dirty="0"/>
          </a:p>
        </p:txBody>
      </p:sp>
      <p:sp>
        <p:nvSpPr>
          <p:cNvPr id="7" name="Text 4"/>
          <p:cNvSpPr txBox="1"/>
          <p:nvPr/>
        </p:nvSpPr>
        <p:spPr>
          <a:xfrm>
            <a:off x="822960"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Magala · slide 4</a:t>
            </a:r>
            <a:endParaRPr lang="en-US" sz="1600" dirty="0"/>
          </a:p>
        </p:txBody>
      </p:sp>
      <p:sp>
        <p:nvSpPr>
          <p:cNvPr id="8" name="card"/>
          <p:cNvSpPr/>
          <p:nvPr/>
        </p:nvSpPr>
        <p:spPr>
          <a:xfrm>
            <a:off x="3385566" y="1783080"/>
            <a:ext cx="2580894" cy="2103120"/>
          </a:xfrm>
          <a:prstGeom prst="roundRect">
            <a:avLst>
              <a:gd name="adj" fmla="val 4898"/>
            </a:avLst>
          </a:prstGeom>
          <a:solidFill>
            <a:schemeClr val="bg2"/>
          </a:solidFill>
          <a:ln/>
        </p:spPr>
      </p:sp>
      <p:sp>
        <p:nvSpPr>
          <p:cNvPr id="9" name="icon circle"/>
          <p:cNvSpPr/>
          <p:nvPr/>
        </p:nvSpPr>
        <p:spPr>
          <a:xfrm>
            <a:off x="3659886" y="2011680"/>
            <a:ext cx="548640" cy="548640"/>
          </a:xfrm>
          <a:prstGeom prst="ellipse">
            <a:avLst/>
          </a:prstGeom>
          <a:solidFill>
            <a:schemeClr val="accent2"/>
          </a:solidFill>
          <a:ln/>
        </p:spPr>
      </p:sp>
      <p:pic>
        <p:nvPicPr>
          <p:cNvPr id="10" name="Image 1" descr="icon">    </p:cNvPr>
          <p:cNvPicPr>
            <a:picLocks noChangeAspect="1"/>
          </p:cNvPicPr>
          <p:nvPr/>
        </p:nvPicPr>
        <p:blipFill>
          <a:blip r:embed="rId9"/>
          <a:stretch>
            <a:fillRect/>
          </a:stretch>
        </p:blipFill>
        <p:spPr>
          <a:xfrm>
            <a:off x="3802532" y="2154326"/>
            <a:ext cx="263347" cy="263347"/>
          </a:xfrm>
          <a:prstGeom prst="rect">
            <a:avLst/>
          </a:prstGeom>
        </p:spPr>
      </p:pic>
      <p:sp>
        <p:nvSpPr>
          <p:cNvPr id="11" name="Text 7"/>
          <p:cNvSpPr txBox="1"/>
          <p:nvPr/>
        </p:nvSpPr>
        <p:spPr>
          <a:xfrm>
            <a:off x="4391406"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Our solution</a:t>
            </a:r>
            <a:endParaRPr lang="en-US" sz="1500" dirty="0"/>
          </a:p>
        </p:txBody>
      </p:sp>
      <p:sp>
        <p:nvSpPr>
          <p:cNvPr id="12" name="Text 8"/>
          <p:cNvSpPr txBox="1"/>
          <p:nvPr/>
        </p:nvSpPr>
        <p:spPr>
          <a:xfrm>
            <a:off x="3659886"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Magala · slides 5–12</a:t>
            </a:r>
            <a:endParaRPr lang="en-US" sz="1600" dirty="0"/>
          </a:p>
        </p:txBody>
      </p:sp>
      <p:sp>
        <p:nvSpPr>
          <p:cNvPr id="13" name="card"/>
          <p:cNvSpPr/>
          <p:nvPr/>
        </p:nvSpPr>
        <p:spPr>
          <a:xfrm>
            <a:off x="6222492" y="1783080"/>
            <a:ext cx="2580894" cy="2103120"/>
          </a:xfrm>
          <a:prstGeom prst="roundRect">
            <a:avLst>
              <a:gd name="adj" fmla="val 4898"/>
            </a:avLst>
          </a:prstGeom>
          <a:solidFill>
            <a:schemeClr val="bg2"/>
          </a:solidFill>
          <a:ln/>
        </p:spPr>
      </p:sp>
      <p:sp>
        <p:nvSpPr>
          <p:cNvPr id="14" name="icon circle"/>
          <p:cNvSpPr/>
          <p:nvPr/>
        </p:nvSpPr>
        <p:spPr>
          <a:xfrm>
            <a:off x="6496812" y="2011680"/>
            <a:ext cx="548640" cy="548640"/>
          </a:xfrm>
          <a:prstGeom prst="ellipse">
            <a:avLst/>
          </a:prstGeom>
          <a:solidFill>
            <a:schemeClr val="accent2"/>
          </a:solidFill>
          <a:ln/>
        </p:spPr>
      </p:sp>
      <p:pic>
        <p:nvPicPr>
          <p:cNvPr id="15" name="Image 2" descr="icon">    </p:cNvPr>
          <p:cNvPicPr>
            <a:picLocks noChangeAspect="1"/>
          </p:cNvPicPr>
          <p:nvPr/>
        </p:nvPicPr>
        <p:blipFill>
          <a:blip r:embed="rId10"/>
          <a:stretch>
            <a:fillRect/>
          </a:stretch>
        </p:blipFill>
        <p:spPr>
          <a:xfrm>
            <a:off x="6639458" y="2154326"/>
            <a:ext cx="263347" cy="263347"/>
          </a:xfrm>
          <a:prstGeom prst="rect">
            <a:avLst/>
          </a:prstGeom>
        </p:spPr>
      </p:pic>
      <p:sp>
        <p:nvSpPr>
          <p:cNvPr id="16" name="Text 11"/>
          <p:cNvSpPr txBox="1"/>
          <p:nvPr/>
        </p:nvSpPr>
        <p:spPr>
          <a:xfrm>
            <a:off x="7228332"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Architecture and security</a:t>
            </a:r>
            <a:endParaRPr lang="en-US" sz="1500" dirty="0"/>
          </a:p>
        </p:txBody>
      </p:sp>
      <p:sp>
        <p:nvSpPr>
          <p:cNvPr id="17" name="Text 12"/>
          <p:cNvSpPr txBox="1"/>
          <p:nvPr/>
        </p:nvSpPr>
        <p:spPr>
          <a:xfrm>
            <a:off x="6496812"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Nhlanhla · slides 13–14</a:t>
            </a:r>
            <a:endParaRPr lang="en-US" sz="1600" dirty="0"/>
          </a:p>
        </p:txBody>
      </p:sp>
      <p:sp>
        <p:nvSpPr>
          <p:cNvPr id="18" name="card"/>
          <p:cNvSpPr/>
          <p:nvPr/>
        </p:nvSpPr>
        <p:spPr>
          <a:xfrm>
            <a:off x="9059418" y="1783080"/>
            <a:ext cx="2580894" cy="2103120"/>
          </a:xfrm>
          <a:prstGeom prst="roundRect">
            <a:avLst>
              <a:gd name="adj" fmla="val 4898"/>
            </a:avLst>
          </a:prstGeom>
          <a:solidFill>
            <a:schemeClr val="bg2"/>
          </a:solidFill>
          <a:ln/>
        </p:spPr>
      </p:sp>
      <p:sp>
        <p:nvSpPr>
          <p:cNvPr id="19" name="icon circle"/>
          <p:cNvSpPr/>
          <p:nvPr/>
        </p:nvSpPr>
        <p:spPr>
          <a:xfrm>
            <a:off x="9333738" y="2011680"/>
            <a:ext cx="548640" cy="548640"/>
          </a:xfrm>
          <a:prstGeom prst="ellipse">
            <a:avLst/>
          </a:prstGeom>
          <a:solidFill>
            <a:schemeClr val="accent2"/>
          </a:solidFill>
          <a:ln/>
        </p:spPr>
      </p:sp>
      <p:pic>
        <p:nvPicPr>
          <p:cNvPr id="20" name="Image 3" descr="icon">    </p:cNvPr>
          <p:cNvPicPr>
            <a:picLocks noChangeAspect="1"/>
          </p:cNvPicPr>
          <p:nvPr/>
        </p:nvPicPr>
        <p:blipFill>
          <a:blip r:embed="rId11"/>
          <a:stretch>
            <a:fillRect/>
          </a:stretch>
        </p:blipFill>
        <p:spPr>
          <a:xfrm>
            <a:off x="9476384" y="2154326"/>
            <a:ext cx="263347" cy="263347"/>
          </a:xfrm>
          <a:prstGeom prst="rect">
            <a:avLst/>
          </a:prstGeom>
        </p:spPr>
      </p:pic>
      <p:sp>
        <p:nvSpPr>
          <p:cNvPr id="21" name="Text 15"/>
          <p:cNvSpPr txBox="1"/>
          <p:nvPr/>
        </p:nvSpPr>
        <p:spPr>
          <a:xfrm>
            <a:off x="10065258"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The frontend</a:t>
            </a:r>
            <a:endParaRPr lang="en-US" sz="1500" dirty="0"/>
          </a:p>
        </p:txBody>
      </p:sp>
      <p:sp>
        <p:nvSpPr>
          <p:cNvPr id="22" name="Text 16"/>
          <p:cNvSpPr txBox="1"/>
          <p:nvPr/>
        </p:nvSpPr>
        <p:spPr>
          <a:xfrm>
            <a:off x="9333738"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Nhlanhla · slides 15–18</a:t>
            </a:r>
            <a:endParaRPr lang="en-US" sz="1600" dirty="0"/>
          </a:p>
        </p:txBody>
      </p:sp>
      <p:sp>
        <p:nvSpPr>
          <p:cNvPr id="23" name="card"/>
          <p:cNvSpPr/>
          <p:nvPr/>
        </p:nvSpPr>
        <p:spPr>
          <a:xfrm>
            <a:off x="548640" y="4142232"/>
            <a:ext cx="2580894" cy="2103120"/>
          </a:xfrm>
          <a:prstGeom prst="roundRect">
            <a:avLst>
              <a:gd name="adj" fmla="val 4898"/>
            </a:avLst>
          </a:prstGeom>
          <a:solidFill>
            <a:schemeClr val="bg2"/>
          </a:solidFill>
          <a:ln/>
        </p:spPr>
      </p:sp>
      <p:sp>
        <p:nvSpPr>
          <p:cNvPr id="24" name="icon circle"/>
          <p:cNvSpPr/>
          <p:nvPr/>
        </p:nvSpPr>
        <p:spPr>
          <a:xfrm>
            <a:off x="822960" y="4370832"/>
            <a:ext cx="548640" cy="548640"/>
          </a:xfrm>
          <a:prstGeom prst="ellipse">
            <a:avLst/>
          </a:prstGeom>
          <a:solidFill>
            <a:schemeClr val="accent2"/>
          </a:solidFill>
          <a:ln/>
        </p:spPr>
      </p:sp>
      <p:pic>
        <p:nvPicPr>
          <p:cNvPr id="25" name="Image 4" descr="icon">    </p:cNvPr>
          <p:cNvPicPr>
            <a:picLocks noChangeAspect="1"/>
          </p:cNvPicPr>
          <p:nvPr/>
        </p:nvPicPr>
        <p:blipFill>
          <a:blip r:embed="rId12"/>
          <a:stretch>
            <a:fillRect/>
          </a:stretch>
        </p:blipFill>
        <p:spPr>
          <a:xfrm>
            <a:off x="965606" y="4513478"/>
            <a:ext cx="263347" cy="263347"/>
          </a:xfrm>
          <a:prstGeom prst="rect">
            <a:avLst/>
          </a:prstGeom>
        </p:spPr>
      </p:pic>
      <p:sp>
        <p:nvSpPr>
          <p:cNvPr id="26" name="Text 19"/>
          <p:cNvSpPr txBox="1"/>
          <p:nvPr/>
        </p:nvSpPr>
        <p:spPr>
          <a:xfrm>
            <a:off x="1554480"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AI integration</a:t>
            </a:r>
            <a:endParaRPr lang="en-US" sz="1500" dirty="0"/>
          </a:p>
        </p:txBody>
      </p:sp>
      <p:sp>
        <p:nvSpPr>
          <p:cNvPr id="27" name="Text 20"/>
          <p:cNvSpPr txBox="1"/>
          <p:nvPr/>
        </p:nvSpPr>
        <p:spPr>
          <a:xfrm>
            <a:off x="822960"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Magala · slides 19–20</a:t>
            </a:r>
            <a:endParaRPr lang="en-US" sz="1600" dirty="0"/>
          </a:p>
        </p:txBody>
      </p:sp>
      <p:sp>
        <p:nvSpPr>
          <p:cNvPr id="28" name="card"/>
          <p:cNvSpPr/>
          <p:nvPr/>
        </p:nvSpPr>
        <p:spPr>
          <a:xfrm>
            <a:off x="3385566" y="4142232"/>
            <a:ext cx="2580894" cy="2103120"/>
          </a:xfrm>
          <a:prstGeom prst="roundRect">
            <a:avLst>
              <a:gd name="adj" fmla="val 4898"/>
            </a:avLst>
          </a:prstGeom>
          <a:solidFill>
            <a:schemeClr val="bg2"/>
          </a:solidFill>
          <a:ln/>
        </p:spPr>
      </p:sp>
      <p:sp>
        <p:nvSpPr>
          <p:cNvPr id="29" name="icon circle"/>
          <p:cNvSpPr/>
          <p:nvPr/>
        </p:nvSpPr>
        <p:spPr>
          <a:xfrm>
            <a:off x="3659886" y="4370832"/>
            <a:ext cx="548640" cy="548640"/>
          </a:xfrm>
          <a:prstGeom prst="ellipse">
            <a:avLst/>
          </a:prstGeom>
          <a:solidFill>
            <a:schemeClr val="accent2"/>
          </a:solidFill>
          <a:ln/>
        </p:spPr>
      </p:sp>
      <p:pic>
        <p:nvPicPr>
          <p:cNvPr id="30" name="Image 5" descr="icon">    </p:cNvPr>
          <p:cNvPicPr>
            <a:picLocks noChangeAspect="1"/>
          </p:cNvPicPr>
          <p:nvPr/>
        </p:nvPicPr>
        <p:blipFill>
          <a:blip r:embed="rId13"/>
          <a:stretch>
            <a:fillRect/>
          </a:stretch>
        </p:blipFill>
        <p:spPr>
          <a:xfrm>
            <a:off x="3802532" y="4513478"/>
            <a:ext cx="263347" cy="263347"/>
          </a:xfrm>
          <a:prstGeom prst="rect">
            <a:avLst/>
          </a:prstGeom>
        </p:spPr>
      </p:pic>
      <p:sp>
        <p:nvSpPr>
          <p:cNvPr id="31" name="Text 23"/>
          <p:cNvSpPr txBox="1"/>
          <p:nvPr/>
        </p:nvSpPr>
        <p:spPr>
          <a:xfrm>
            <a:off x="4391406"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AWS implementation</a:t>
            </a:r>
            <a:endParaRPr lang="en-US" sz="1500" dirty="0"/>
          </a:p>
        </p:txBody>
      </p:sp>
      <p:sp>
        <p:nvSpPr>
          <p:cNvPr id="32" name="Text 24"/>
          <p:cNvSpPr txBox="1"/>
          <p:nvPr/>
        </p:nvSpPr>
        <p:spPr>
          <a:xfrm>
            <a:off x="3659886"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Nhlanhla · slide 21</a:t>
            </a:r>
            <a:endParaRPr lang="en-US" sz="1600" dirty="0"/>
          </a:p>
        </p:txBody>
      </p:sp>
      <p:sp>
        <p:nvSpPr>
          <p:cNvPr id="60" name="card"/>
          <p:cNvSpPr/>
          <p:nvPr/>
        </p:nvSpPr>
        <p:spPr>
          <a:xfrm>
            <a:off x="6222492" y="4142232"/>
            <a:ext cx="2580894" cy="2103120"/>
          </a:xfrm>
          <a:prstGeom prst="roundRect">
            <a:avLst>
              <a:gd name="adj" fmla="val 4898"/>
            </a:avLst>
          </a:prstGeom>
          <a:solidFill>
            <a:schemeClr val="bg2"/>
          </a:solidFill>
          <a:ln/>
        </p:spPr>
      </p:sp>
      <p:sp>
        <p:nvSpPr>
          <p:cNvPr id="61" name="icon circle"/>
          <p:cNvSpPr/>
          <p:nvPr/>
        </p:nvSpPr>
        <p:spPr>
          <a:xfrm>
            <a:off x="6496812" y="4370832"/>
            <a:ext cx="548640" cy="548640"/>
          </a:xfrm>
          <a:prstGeom prst="ellipse">
            <a:avLst/>
          </a:prstGeom>
          <a:solidFill>
            <a:schemeClr val="accent2"/>
          </a:solidFill>
          <a:ln/>
        </p:spPr>
      </p:sp>
      <p:pic>
        <p:nvPicPr>
          <p:cNvPr id="62" name="Image 0" descr="icon">    </p:cNvPr>
          <p:cNvPicPr>
            <a:picLocks noChangeAspect="1"/>
          </p:cNvPicPr>
          <p:nvPr/>
        </p:nvPicPr>
        <p:blipFill>
          <a:blip r:embed="rId14"/>
          <a:stretch>
            <a:fillRect/>
          </a:stretch>
        </p:blipFill>
        <p:spPr>
          <a:xfrm>
            <a:off x="6639458" y="4513478"/>
            <a:ext cx="263347" cy="263347"/>
          </a:xfrm>
          <a:prstGeom prst="rect">
            <a:avLst/>
          </a:prstGeom>
        </p:spPr>
      </p:pic>
      <p:sp>
        <p:nvSpPr>
          <p:cNvPr id="63" name="Text 3"/>
          <p:cNvSpPr txBox="1"/>
          <p:nvPr/>
        </p:nvSpPr>
        <p:spPr>
          <a:xfrm>
            <a:off x="7228332"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Working prototype</a:t>
            </a:r>
            <a:endParaRPr lang="en-US" sz="1500" dirty="0"/>
          </a:p>
        </p:txBody>
      </p:sp>
      <p:sp>
        <p:nvSpPr>
          <p:cNvPr id="64" name="Text 4"/>
          <p:cNvSpPr txBox="1"/>
          <p:nvPr/>
        </p:nvSpPr>
        <p:spPr>
          <a:xfrm>
            <a:off x="6496812"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Nhlanhla · slides 22–23</a:t>
            </a:r>
            <a:endParaRPr lang="en-US" sz="1600" dirty="0"/>
          </a:p>
        </p:txBody>
      </p:sp>
      <p:sp>
        <p:nvSpPr>
          <p:cNvPr id="65" name="card"/>
          <p:cNvSpPr/>
          <p:nvPr/>
        </p:nvSpPr>
        <p:spPr>
          <a:xfrm>
            <a:off x="9059418" y="4142232"/>
            <a:ext cx="2580894" cy="2103120"/>
          </a:xfrm>
          <a:prstGeom prst="roundRect">
            <a:avLst>
              <a:gd name="adj" fmla="val 4898"/>
            </a:avLst>
          </a:prstGeom>
          <a:solidFill>
            <a:schemeClr val="bg2"/>
          </a:solidFill>
          <a:ln/>
        </p:spPr>
      </p:sp>
      <p:sp>
        <p:nvSpPr>
          <p:cNvPr id="66" name="icon circle"/>
          <p:cNvSpPr/>
          <p:nvPr/>
        </p:nvSpPr>
        <p:spPr>
          <a:xfrm>
            <a:off x="9333738" y="4370832"/>
            <a:ext cx="548640" cy="548640"/>
          </a:xfrm>
          <a:prstGeom prst="ellipse">
            <a:avLst/>
          </a:prstGeom>
          <a:solidFill>
            <a:schemeClr val="accent2"/>
          </a:solidFill>
          <a:ln/>
        </p:spPr>
      </p:sp>
      <p:pic>
        <p:nvPicPr>
          <p:cNvPr id="67" name="Image 0" descr="icon">    </p:cNvPr>
          <p:cNvPicPr>
            <a:picLocks noChangeAspect="1"/>
          </p:cNvPicPr>
          <p:nvPr/>
        </p:nvPicPr>
        <p:blipFill>
          <a:blip r:embed="rId15"/>
          <a:stretch>
            <a:fillRect/>
          </a:stretch>
        </p:blipFill>
        <p:spPr>
          <a:xfrm>
            <a:off x="9476384" y="4513478"/>
            <a:ext cx="263347" cy="263347"/>
          </a:xfrm>
          <a:prstGeom prst="rect">
            <a:avLst/>
          </a:prstGeom>
        </p:spPr>
      </p:pic>
      <p:sp>
        <p:nvSpPr>
          <p:cNvPr id="68" name="Text 3"/>
          <p:cNvSpPr txBox="1"/>
          <p:nvPr/>
        </p:nvSpPr>
        <p:spPr>
          <a:xfrm>
            <a:off x="10065258"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Outstanding work and close</a:t>
            </a:r>
            <a:endParaRPr lang="en-US" sz="1500" dirty="0"/>
          </a:p>
        </p:txBody>
      </p:sp>
      <p:sp>
        <p:nvSpPr>
          <p:cNvPr id="69" name="Text 4"/>
          <p:cNvSpPr txBox="1"/>
          <p:nvPr/>
        </p:nvSpPr>
        <p:spPr>
          <a:xfrm>
            <a:off x="9333738"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Nhlanhla, then Magala · 24–26</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18</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Who it’s for</a:t>
            </a:r>
            <a:endParaRPr lang="en-US" sz="3600" dirty="0"/>
          </a:p>
        </p:txBody>
      </p:sp>
      <p:sp>
        <p:nvSpPr>
          <p:cNvPr id="3" name="card"/>
          <p:cNvSpPr/>
          <p:nvPr/>
        </p:nvSpPr>
        <p:spPr>
          <a:xfrm>
            <a:off x="548640" y="1783080"/>
            <a:ext cx="3526536" cy="2103120"/>
          </a:xfrm>
          <a:prstGeom prst="roundRect">
            <a:avLst>
              <a:gd name="adj" fmla="val 4898"/>
            </a:avLst>
          </a:prstGeom>
          <a:solidFill>
            <a:schemeClr val="bg2"/>
          </a:solidFill>
          <a:ln/>
        </p:spPr>
      </p:sp>
      <p:sp>
        <p:nvSpPr>
          <p:cNvPr id="4" name="icon circle"/>
          <p:cNvSpPr/>
          <p:nvPr/>
        </p:nvSpPr>
        <p:spPr>
          <a:xfrm>
            <a:off x="822960" y="2011680"/>
            <a:ext cx="548640" cy="548640"/>
          </a:xfrm>
          <a:prstGeom prst="ellipse">
            <a:avLst/>
          </a:prstGeom>
          <a:solidFill>
            <a:schemeClr val="accent2"/>
          </a:solidFill>
          <a:ln/>
        </p:spPr>
      </p:sp>
      <p:pic>
        <p:nvPicPr>
          <p:cNvPr id="5" name="Image 0" descr="icon">    </p:cNvPr>
          <p:cNvPicPr>
            <a:picLocks noChangeAspect="1"/>
          </p:cNvPicPr>
          <p:nvPr/>
        </p:nvPicPr>
        <p:blipFill>
          <a:blip r:embed="rId8"/>
          <a:stretch>
            <a:fillRect/>
          </a:stretch>
        </p:blipFill>
        <p:spPr>
          <a:xfrm>
            <a:off x="965606" y="2154326"/>
            <a:ext cx="263347" cy="263347"/>
          </a:xfrm>
          <a:prstGeom prst="rect">
            <a:avLst/>
          </a:prstGeom>
        </p:spPr>
      </p:pic>
      <p:sp>
        <p:nvSpPr>
          <p:cNvPr id="6" name="Text 3"/>
          <p:cNvSpPr txBox="1"/>
          <p:nvPr/>
        </p:nvSpPr>
        <p:spPr>
          <a:xfrm>
            <a:off x="1554480" y="2011680"/>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Women and vulnerable passengers</a:t>
            </a:r>
            <a:endParaRPr lang="en-US" sz="1800" dirty="0"/>
          </a:p>
        </p:txBody>
      </p:sp>
      <p:sp>
        <p:nvSpPr>
          <p:cNvPr id="7" name="Text 4"/>
          <p:cNvSpPr txBox="1"/>
          <p:nvPr/>
        </p:nvSpPr>
        <p:spPr>
          <a:xfrm>
            <a:off x="822960" y="2743200"/>
            <a:ext cx="3023616" cy="1051560"/>
          </a:xfrm>
          <a:prstGeom prst="rect">
            <a:avLst/>
          </a:prstGeom>
          <a:noFill/>
          <a:ln/>
        </p:spPr>
        <p:txBody>
          <a:bodyPr wrap="square" lIns="0" tIns="0" rIns="0" bIns="0" rtlCol="0" anchor="t"/>
          <a:lstStyle/>
          <a:p>
            <a:pPr indent="0" marL="0">
              <a:buNone/>
            </a:pPr>
            <a:r>
              <a:rPr lang="en-US" sz="1600" dirty="0">
                <a:solidFill>
                  <a:schemeClr val="tx1"/>
                </a:solidFill>
              </a:rPr>
              <a:t>Extra safety support on every trip.</a:t>
            </a:r>
            <a:endParaRPr lang="en-US" sz="1600" dirty="0"/>
          </a:p>
        </p:txBody>
      </p:sp>
      <p:sp>
        <p:nvSpPr>
          <p:cNvPr id="8" name="card"/>
          <p:cNvSpPr/>
          <p:nvPr/>
        </p:nvSpPr>
        <p:spPr>
          <a:xfrm>
            <a:off x="4331208" y="1783080"/>
            <a:ext cx="3526536" cy="2103120"/>
          </a:xfrm>
          <a:prstGeom prst="roundRect">
            <a:avLst>
              <a:gd name="adj" fmla="val 4898"/>
            </a:avLst>
          </a:prstGeom>
          <a:solidFill>
            <a:schemeClr val="bg2"/>
          </a:solidFill>
          <a:ln/>
        </p:spPr>
      </p:sp>
      <p:sp>
        <p:nvSpPr>
          <p:cNvPr id="9" name="icon circle"/>
          <p:cNvSpPr/>
          <p:nvPr/>
        </p:nvSpPr>
        <p:spPr>
          <a:xfrm>
            <a:off x="4605528" y="2011680"/>
            <a:ext cx="548640" cy="548640"/>
          </a:xfrm>
          <a:prstGeom prst="ellipse">
            <a:avLst/>
          </a:prstGeom>
          <a:solidFill>
            <a:schemeClr val="accent2"/>
          </a:solidFill>
          <a:ln/>
        </p:spPr>
      </p:sp>
      <p:pic>
        <p:nvPicPr>
          <p:cNvPr id="10" name="Image 1" descr="icon">    </p:cNvPr>
          <p:cNvPicPr>
            <a:picLocks noChangeAspect="1"/>
          </p:cNvPicPr>
          <p:nvPr/>
        </p:nvPicPr>
        <p:blipFill>
          <a:blip r:embed="rId9"/>
          <a:stretch>
            <a:fillRect/>
          </a:stretch>
        </p:blipFill>
        <p:spPr>
          <a:xfrm>
            <a:off x="4748174" y="2154326"/>
            <a:ext cx="263347" cy="263347"/>
          </a:xfrm>
          <a:prstGeom prst="rect">
            <a:avLst/>
          </a:prstGeom>
        </p:spPr>
      </p:pic>
      <p:sp>
        <p:nvSpPr>
          <p:cNvPr id="11" name="Text 7"/>
          <p:cNvSpPr txBox="1"/>
          <p:nvPr/>
        </p:nvSpPr>
        <p:spPr>
          <a:xfrm>
            <a:off x="5337048" y="2011680"/>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Students</a:t>
            </a:r>
            <a:endParaRPr lang="en-US" sz="1800" dirty="0"/>
          </a:p>
        </p:txBody>
      </p:sp>
      <p:sp>
        <p:nvSpPr>
          <p:cNvPr id="12" name="Text 8"/>
          <p:cNvSpPr txBox="1"/>
          <p:nvPr/>
        </p:nvSpPr>
        <p:spPr>
          <a:xfrm>
            <a:off x="4605528" y="2743200"/>
            <a:ext cx="3023616" cy="1051560"/>
          </a:xfrm>
          <a:prstGeom prst="rect">
            <a:avLst/>
          </a:prstGeom>
          <a:noFill/>
          <a:ln/>
        </p:spPr>
        <p:txBody>
          <a:bodyPr wrap="square" lIns="0" tIns="0" rIns="0" bIns="0" rtlCol="0" anchor="t"/>
          <a:lstStyle/>
          <a:p>
            <a:pPr indent="0" marL="0">
              <a:buNone/>
            </a:pPr>
            <a:r>
              <a:rPr lang="en-US" sz="1600" dirty="0">
                <a:solidFill>
                  <a:schemeClr val="tx1"/>
                </a:solidFill>
              </a:rPr>
              <a:t>Affordable transport, and the confidence to share rides.</a:t>
            </a:r>
            <a:endParaRPr lang="en-US" sz="1600" dirty="0"/>
          </a:p>
        </p:txBody>
      </p:sp>
      <p:sp>
        <p:nvSpPr>
          <p:cNvPr id="13" name="card"/>
          <p:cNvSpPr/>
          <p:nvPr/>
        </p:nvSpPr>
        <p:spPr>
          <a:xfrm>
            <a:off x="8113776" y="1783080"/>
            <a:ext cx="3526536" cy="2103120"/>
          </a:xfrm>
          <a:prstGeom prst="roundRect">
            <a:avLst>
              <a:gd name="adj" fmla="val 4898"/>
            </a:avLst>
          </a:prstGeom>
          <a:solidFill>
            <a:schemeClr val="bg2"/>
          </a:solidFill>
          <a:ln/>
        </p:spPr>
      </p:sp>
      <p:sp>
        <p:nvSpPr>
          <p:cNvPr id="14" name="icon circle"/>
          <p:cNvSpPr/>
          <p:nvPr/>
        </p:nvSpPr>
        <p:spPr>
          <a:xfrm>
            <a:off x="8388096" y="2011680"/>
            <a:ext cx="548640" cy="548640"/>
          </a:xfrm>
          <a:prstGeom prst="ellipse">
            <a:avLst/>
          </a:prstGeom>
          <a:solidFill>
            <a:schemeClr val="accent2"/>
          </a:solidFill>
          <a:ln/>
        </p:spPr>
      </p:sp>
      <p:pic>
        <p:nvPicPr>
          <p:cNvPr id="15" name="Image 2" descr="icon">    </p:cNvPr>
          <p:cNvPicPr>
            <a:picLocks noChangeAspect="1"/>
          </p:cNvPicPr>
          <p:nvPr/>
        </p:nvPicPr>
        <p:blipFill>
          <a:blip r:embed="rId10"/>
          <a:stretch>
            <a:fillRect/>
          </a:stretch>
        </p:blipFill>
        <p:spPr>
          <a:xfrm>
            <a:off x="8530742" y="2154326"/>
            <a:ext cx="263347" cy="263347"/>
          </a:xfrm>
          <a:prstGeom prst="rect">
            <a:avLst/>
          </a:prstGeom>
        </p:spPr>
      </p:pic>
      <p:sp>
        <p:nvSpPr>
          <p:cNvPr id="16" name="Text 11"/>
          <p:cNvSpPr txBox="1"/>
          <p:nvPr/>
        </p:nvSpPr>
        <p:spPr>
          <a:xfrm>
            <a:off x="9119616" y="2011680"/>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Daily commuters</a:t>
            </a:r>
            <a:endParaRPr lang="en-US" sz="1800" dirty="0"/>
          </a:p>
        </p:txBody>
      </p:sp>
      <p:sp>
        <p:nvSpPr>
          <p:cNvPr id="17" name="Text 12"/>
          <p:cNvSpPr txBox="1"/>
          <p:nvPr/>
        </p:nvSpPr>
        <p:spPr>
          <a:xfrm>
            <a:off x="8388096" y="2743200"/>
            <a:ext cx="3023616" cy="1051560"/>
          </a:xfrm>
          <a:prstGeom prst="rect">
            <a:avLst/>
          </a:prstGeom>
          <a:noFill/>
          <a:ln/>
        </p:spPr>
        <p:txBody>
          <a:bodyPr wrap="square" lIns="0" tIns="0" rIns="0" bIns="0" rtlCol="0" anchor="t"/>
          <a:lstStyle/>
          <a:p>
            <a:pPr indent="0" marL="0">
              <a:buNone/>
            </a:pPr>
            <a:r>
              <a:rPr lang="en-US" sz="1600" dirty="0">
                <a:solidFill>
                  <a:schemeClr val="tx1"/>
                </a:solidFill>
              </a:rPr>
              <a:t>Regular trips, with a weekly or monthly budget.</a:t>
            </a:r>
            <a:endParaRPr lang="en-US" sz="1600" dirty="0"/>
          </a:p>
        </p:txBody>
      </p:sp>
      <p:sp>
        <p:nvSpPr>
          <p:cNvPr id="18" name="card"/>
          <p:cNvSpPr/>
          <p:nvPr/>
        </p:nvSpPr>
        <p:spPr>
          <a:xfrm>
            <a:off x="548640" y="4142232"/>
            <a:ext cx="3526536" cy="2103120"/>
          </a:xfrm>
          <a:prstGeom prst="roundRect">
            <a:avLst>
              <a:gd name="adj" fmla="val 4898"/>
            </a:avLst>
          </a:prstGeom>
          <a:solidFill>
            <a:schemeClr val="bg2"/>
          </a:solidFill>
          <a:ln/>
        </p:spPr>
      </p:sp>
      <p:sp>
        <p:nvSpPr>
          <p:cNvPr id="19" name="icon circle"/>
          <p:cNvSpPr/>
          <p:nvPr/>
        </p:nvSpPr>
        <p:spPr>
          <a:xfrm>
            <a:off x="822960" y="4370832"/>
            <a:ext cx="548640" cy="548640"/>
          </a:xfrm>
          <a:prstGeom prst="ellipse">
            <a:avLst/>
          </a:prstGeom>
          <a:solidFill>
            <a:schemeClr val="accent2"/>
          </a:solidFill>
          <a:ln/>
        </p:spPr>
      </p:sp>
      <p:pic>
        <p:nvPicPr>
          <p:cNvPr id="20" name="Image 3" descr="icon">    </p:cNvPr>
          <p:cNvPicPr>
            <a:picLocks noChangeAspect="1"/>
          </p:cNvPicPr>
          <p:nvPr/>
        </p:nvPicPr>
        <p:blipFill>
          <a:blip r:embed="rId11"/>
          <a:stretch>
            <a:fillRect/>
          </a:stretch>
        </p:blipFill>
        <p:spPr>
          <a:xfrm>
            <a:off x="965606" y="4513478"/>
            <a:ext cx="263347" cy="263347"/>
          </a:xfrm>
          <a:prstGeom prst="rect">
            <a:avLst/>
          </a:prstGeom>
        </p:spPr>
      </p:pic>
      <p:sp>
        <p:nvSpPr>
          <p:cNvPr id="21" name="Text 15"/>
          <p:cNvSpPr txBox="1"/>
          <p:nvPr/>
        </p:nvSpPr>
        <p:spPr>
          <a:xfrm>
            <a:off x="1554480" y="4370832"/>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Budget-conscious riders</a:t>
            </a:r>
            <a:endParaRPr lang="en-US" sz="1800" dirty="0"/>
          </a:p>
        </p:txBody>
      </p:sp>
      <p:sp>
        <p:nvSpPr>
          <p:cNvPr id="22" name="Text 16"/>
          <p:cNvSpPr txBox="1"/>
          <p:nvPr/>
        </p:nvSpPr>
        <p:spPr>
          <a:xfrm>
            <a:off x="822960" y="5102352"/>
            <a:ext cx="3023616" cy="1051560"/>
          </a:xfrm>
          <a:prstGeom prst="rect">
            <a:avLst/>
          </a:prstGeom>
          <a:noFill/>
          <a:ln/>
        </p:spPr>
        <p:txBody>
          <a:bodyPr wrap="square" lIns="0" tIns="0" rIns="0" bIns="0" rtlCol="0" anchor="t"/>
          <a:lstStyle/>
          <a:p>
            <a:pPr indent="0" marL="0">
              <a:buNone/>
            </a:pPr>
            <a:r>
              <a:rPr lang="en-US" sz="1600" dirty="0">
                <a:solidFill>
                  <a:schemeClr val="tx1"/>
                </a:solidFill>
              </a:rPr>
              <a:t>Shared rides, up to 60% cheaper (illustrative).</a:t>
            </a:r>
            <a:endParaRPr lang="en-US" sz="1600" dirty="0"/>
          </a:p>
        </p:txBody>
      </p:sp>
      <p:sp>
        <p:nvSpPr>
          <p:cNvPr id="23" name="card"/>
          <p:cNvSpPr/>
          <p:nvPr/>
        </p:nvSpPr>
        <p:spPr>
          <a:xfrm>
            <a:off x="4331208" y="4142232"/>
            <a:ext cx="3526536" cy="2103120"/>
          </a:xfrm>
          <a:prstGeom prst="roundRect">
            <a:avLst>
              <a:gd name="adj" fmla="val 4898"/>
            </a:avLst>
          </a:prstGeom>
          <a:solidFill>
            <a:schemeClr val="bg2"/>
          </a:solidFill>
          <a:ln/>
        </p:spPr>
      </p:sp>
      <p:sp>
        <p:nvSpPr>
          <p:cNvPr id="24" name="icon circle"/>
          <p:cNvSpPr/>
          <p:nvPr/>
        </p:nvSpPr>
        <p:spPr>
          <a:xfrm>
            <a:off x="4605528" y="4370832"/>
            <a:ext cx="548640" cy="548640"/>
          </a:xfrm>
          <a:prstGeom prst="ellipse">
            <a:avLst/>
          </a:prstGeom>
          <a:solidFill>
            <a:schemeClr val="accent2"/>
          </a:solidFill>
          <a:ln/>
        </p:spPr>
      </p:sp>
      <p:pic>
        <p:nvPicPr>
          <p:cNvPr id="25" name="Image 4" descr="icon">    </p:cNvPr>
          <p:cNvPicPr>
            <a:picLocks noChangeAspect="1"/>
          </p:cNvPicPr>
          <p:nvPr/>
        </p:nvPicPr>
        <p:blipFill>
          <a:blip r:embed="rId12"/>
          <a:stretch>
            <a:fillRect/>
          </a:stretch>
        </p:blipFill>
        <p:spPr>
          <a:xfrm>
            <a:off x="4748174" y="4513478"/>
            <a:ext cx="263347" cy="263347"/>
          </a:xfrm>
          <a:prstGeom prst="rect">
            <a:avLst/>
          </a:prstGeom>
        </p:spPr>
      </p:pic>
      <p:sp>
        <p:nvSpPr>
          <p:cNvPr id="26" name="Text 19"/>
          <p:cNvSpPr txBox="1"/>
          <p:nvPr/>
        </p:nvSpPr>
        <p:spPr>
          <a:xfrm>
            <a:off x="5337048" y="4370832"/>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Drivers</a:t>
            </a:r>
            <a:endParaRPr lang="en-US" sz="1800" dirty="0"/>
          </a:p>
        </p:txBody>
      </p:sp>
      <p:sp>
        <p:nvSpPr>
          <p:cNvPr id="27" name="Text 20"/>
          <p:cNvSpPr txBox="1"/>
          <p:nvPr/>
        </p:nvSpPr>
        <p:spPr>
          <a:xfrm>
            <a:off x="4605528" y="5102352"/>
            <a:ext cx="3023616" cy="1051560"/>
          </a:xfrm>
          <a:prstGeom prst="rect">
            <a:avLst/>
          </a:prstGeom>
          <a:noFill/>
          <a:ln/>
        </p:spPr>
        <p:txBody>
          <a:bodyPr wrap="square" lIns="0" tIns="0" rIns="0" bIns="0" rtlCol="0" anchor="t"/>
          <a:lstStyle/>
          <a:p>
            <a:pPr indent="0" marL="0">
              <a:buNone/>
            </a:pPr>
            <a:r>
              <a:rPr lang="en-US" sz="1600" dirty="0">
                <a:solidFill>
                  <a:schemeClr val="tx1"/>
                </a:solidFill>
              </a:rPr>
              <a:t>Their details and trip status, visible to passengers.</a:t>
            </a:r>
            <a:endParaRPr lang="en-US" sz="1600" dirty="0"/>
          </a:p>
        </p:txBody>
      </p:sp>
      <p:sp>
        <p:nvSpPr>
          <p:cNvPr id="28" name="card"/>
          <p:cNvSpPr/>
          <p:nvPr/>
        </p:nvSpPr>
        <p:spPr>
          <a:xfrm>
            <a:off x="8113776" y="4142232"/>
            <a:ext cx="3526536" cy="2103120"/>
          </a:xfrm>
          <a:prstGeom prst="roundRect">
            <a:avLst>
              <a:gd name="adj" fmla="val 4898"/>
            </a:avLst>
          </a:prstGeom>
          <a:solidFill>
            <a:schemeClr val="bg2"/>
          </a:solidFill>
          <a:ln/>
        </p:spPr>
      </p:sp>
      <p:sp>
        <p:nvSpPr>
          <p:cNvPr id="29" name="icon circle"/>
          <p:cNvSpPr/>
          <p:nvPr/>
        </p:nvSpPr>
        <p:spPr>
          <a:xfrm>
            <a:off x="8388096" y="4370832"/>
            <a:ext cx="548640" cy="548640"/>
          </a:xfrm>
          <a:prstGeom prst="ellipse">
            <a:avLst/>
          </a:prstGeom>
          <a:solidFill>
            <a:schemeClr val="accent2"/>
          </a:solidFill>
          <a:ln/>
        </p:spPr>
      </p:sp>
      <p:pic>
        <p:nvPicPr>
          <p:cNvPr id="30" name="Image 5" descr="icon">    </p:cNvPr>
          <p:cNvPicPr>
            <a:picLocks noChangeAspect="1"/>
          </p:cNvPicPr>
          <p:nvPr/>
        </p:nvPicPr>
        <p:blipFill>
          <a:blip r:embed="rId13"/>
          <a:stretch>
            <a:fillRect/>
          </a:stretch>
        </p:blipFill>
        <p:spPr>
          <a:xfrm>
            <a:off x="8530742" y="4513478"/>
            <a:ext cx="263347" cy="263347"/>
          </a:xfrm>
          <a:prstGeom prst="rect">
            <a:avLst/>
          </a:prstGeom>
        </p:spPr>
      </p:pic>
      <p:sp>
        <p:nvSpPr>
          <p:cNvPr id="31" name="Text 23"/>
          <p:cNvSpPr txBox="1"/>
          <p:nvPr/>
        </p:nvSpPr>
        <p:spPr>
          <a:xfrm>
            <a:off x="9119616" y="4370832"/>
            <a:ext cx="2383536" cy="548640"/>
          </a:xfrm>
          <a:prstGeom prst="rect">
            <a:avLst/>
          </a:prstGeom>
          <a:noFill/>
          <a:ln/>
        </p:spPr>
        <p:txBody>
          <a:bodyPr wrap="square" lIns="0" tIns="0" rIns="0" bIns="0" rtlCol="0" anchor="ctr"/>
          <a:lstStyle/>
          <a:p>
            <a:pPr indent="0" marL="0">
              <a:buNone/>
            </a:pPr>
            <a:r>
              <a:rPr lang="en-US" sz="1800" b="1" dirty="0">
                <a:solidFill>
                  <a:schemeClr val="tx2"/>
                </a:solidFill>
              </a:rPr>
              <a:t>Transport operators</a:t>
            </a:r>
            <a:endParaRPr lang="en-US" sz="1800" dirty="0"/>
          </a:p>
        </p:txBody>
      </p:sp>
      <p:sp>
        <p:nvSpPr>
          <p:cNvPr id="32" name="Text 24"/>
          <p:cNvSpPr txBox="1"/>
          <p:nvPr/>
        </p:nvSpPr>
        <p:spPr>
          <a:xfrm>
            <a:off x="8388096" y="5102352"/>
            <a:ext cx="3023616" cy="1051560"/>
          </a:xfrm>
          <a:prstGeom prst="rect">
            <a:avLst/>
          </a:prstGeom>
          <a:noFill/>
          <a:ln/>
        </p:spPr>
        <p:txBody>
          <a:bodyPr wrap="square" lIns="0" tIns="0" rIns="0" bIns="0" rtlCol="0" anchor="t"/>
          <a:lstStyle/>
          <a:p>
            <a:pPr indent="0" marL="0">
              <a:buNone/>
            </a:pPr>
            <a:r>
              <a:rPr lang="en-US" sz="1600" dirty="0">
                <a:solidFill>
                  <a:schemeClr val="tx1"/>
                </a:solidFill>
              </a:rPr>
              <a:t>Clear, live visibility of trips and alerts.</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18</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AI assistant in action</a:t>
            </a:r>
            <a:endParaRPr lang="en-US" sz="3600" dirty="0"/>
          </a:p>
        </p:txBody>
      </p:sp>
      <p:sp>
        <p:nvSpPr>
          <p:cNvPr id="3" name="screenshot frame"/>
          <p:cNvSpPr/>
          <p:nvPr/>
        </p:nvSpPr>
        <p:spPr>
          <a:xfrm>
            <a:off x="576072" y="2182515"/>
            <a:ext cx="5660136" cy="2127210"/>
          </a:xfrm>
          <a:prstGeom prst="roundRect">
            <a:avLst>
              <a:gd name="adj" fmla="val 3431"/>
            </a:avLst>
          </a:prstGeom>
          <a:solidFill>
            <a:schemeClr val="bg2"/>
          </a:solidFill>
          <a:ln/>
        </p:spPr>
      </p:sp>
      <p:pic>
        <p:nvPicPr>
          <p:cNvPr id="4" name="Image 0" descr="A real WhatsApp chat with the prototype number: the assistant stays on topic and greets in isiZulu">    </p:cNvPr>
          <p:cNvPicPr>
            <a:picLocks noChangeAspect="1"/>
          </p:cNvPicPr>
          <p:nvPr/>
        </p:nvPicPr>
        <p:blipFill>
          <a:blip r:embed="rId4"/>
          <a:stretch>
            <a:fillRect/>
          </a:stretch>
        </p:blipFill>
        <p:spPr>
          <a:xfrm>
            <a:off x="640080" y="2246523"/>
            <a:ext cx="5532120" cy="1999194"/>
          </a:xfrm>
          <a:prstGeom prst="rect">
            <a:avLst/>
          </a:prstGeom>
        </p:spPr>
      </p:pic>
      <p:sp>
        <p:nvSpPr>
          <p:cNvPr id="5" name="screenshot frame"/>
          <p:cNvSpPr/>
          <p:nvPr/>
        </p:nvSpPr>
        <p:spPr>
          <a:xfrm>
            <a:off x="6291072" y="1649147"/>
            <a:ext cx="5340096" cy="3193945"/>
          </a:xfrm>
          <a:prstGeom prst="roundRect">
            <a:avLst>
              <a:gd name="adj" fmla="val 3922"/>
            </a:avLst>
          </a:prstGeom>
          <a:solidFill>
            <a:schemeClr val="bg2"/>
          </a:solidFill>
          <a:ln/>
        </p:spPr>
      </p:sp>
      <p:pic>
        <p:nvPicPr>
          <p:cNvPr id="6" name="Image 1" descr="Live app: the Assistant answers a passenger whose driver asks for extra cash, from approved guidance, with 10111 and 112">    </p:cNvPr>
          <p:cNvPicPr>
            <a:picLocks noChangeAspect="1"/>
          </p:cNvPicPr>
          <p:nvPr/>
        </p:nvPicPr>
        <p:blipFill>
          <a:blip r:embed="rId5"/>
          <a:stretch>
            <a:fillRect/>
          </a:stretch>
        </p:blipFill>
        <p:spPr>
          <a:xfrm>
            <a:off x="6355080" y="1713155"/>
            <a:ext cx="5212080" cy="3065929"/>
          </a:xfrm>
          <a:prstGeom prst="rect">
            <a:avLst/>
          </a:prstGeom>
        </p:spPr>
      </p:pic>
      <p:sp>
        <p:nvSpPr>
          <p:cNvPr id="7" name="callout"/>
          <p:cNvSpPr/>
          <p:nvPr/>
        </p:nvSpPr>
        <p:spPr>
          <a:xfrm>
            <a:off x="548640" y="5018147"/>
            <a:ext cx="3520440" cy="1154053"/>
          </a:xfrm>
          <a:prstGeom prst="roundRect">
            <a:avLst>
              <a:gd name="adj" fmla="val 9508"/>
            </a:avLst>
          </a:prstGeom>
          <a:solidFill>
            <a:schemeClr val="bg2"/>
          </a:solidFill>
          <a:ln/>
        </p:spPr>
      </p:sp>
      <p:sp>
        <p:nvSpPr>
          <p:cNvPr id="8" name="Text 4"/>
          <p:cNvSpPr txBox="1"/>
          <p:nvPr/>
        </p:nvSpPr>
        <p:spPr>
          <a:xfrm>
            <a:off x="777240"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On WhatsApp</a:t>
            </a:r>
            <a:endParaRPr lang="en-US" sz="1600" dirty="0"/>
          </a:p>
        </p:txBody>
      </p:sp>
      <p:sp>
        <p:nvSpPr>
          <p:cNvPr id="9" name="Text 5"/>
          <p:cNvSpPr txBox="1"/>
          <p:nvPr/>
        </p:nvSpPr>
        <p:spPr>
          <a:xfrm>
            <a:off x="777240"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A real chat with our number. It stays on topic, says trips are simulated, and greets in isiZulu.</a:t>
            </a:r>
            <a:endParaRPr lang="en-US" sz="1400" dirty="0"/>
          </a:p>
        </p:txBody>
      </p:sp>
      <p:sp>
        <p:nvSpPr>
          <p:cNvPr id="10" name="callout"/>
          <p:cNvSpPr/>
          <p:nvPr/>
        </p:nvSpPr>
        <p:spPr>
          <a:xfrm>
            <a:off x="4334256" y="5018147"/>
            <a:ext cx="3520440" cy="1154053"/>
          </a:xfrm>
          <a:prstGeom prst="roundRect">
            <a:avLst>
              <a:gd name="adj" fmla="val 9508"/>
            </a:avLst>
          </a:prstGeom>
          <a:solidFill>
            <a:schemeClr val="bg2"/>
          </a:solidFill>
          <a:ln/>
        </p:spPr>
      </p:sp>
      <p:sp>
        <p:nvSpPr>
          <p:cNvPr id="11" name="Text 7"/>
          <p:cNvSpPr txBox="1"/>
          <p:nvPr/>
        </p:nvSpPr>
        <p:spPr>
          <a:xfrm>
            <a:off x="4562856"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In the app</a:t>
            </a:r>
            <a:endParaRPr lang="en-US" sz="1600" dirty="0"/>
          </a:p>
        </p:txBody>
      </p:sp>
      <p:sp>
        <p:nvSpPr>
          <p:cNvPr id="12" name="Text 8"/>
          <p:cNvSpPr txBox="1"/>
          <p:nvPr/>
        </p:nvSpPr>
        <p:spPr>
          <a:xfrm>
            <a:off x="4562856"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The Assistant tab, one tap away on every page. Here: a driver asking for extra cash.</a:t>
            </a:r>
            <a:endParaRPr lang="en-US" sz="1400" dirty="0"/>
          </a:p>
        </p:txBody>
      </p:sp>
      <p:sp>
        <p:nvSpPr>
          <p:cNvPr id="13" name="callout"/>
          <p:cNvSpPr/>
          <p:nvPr/>
        </p:nvSpPr>
        <p:spPr>
          <a:xfrm>
            <a:off x="8119872" y="5018147"/>
            <a:ext cx="3520440" cy="1154053"/>
          </a:xfrm>
          <a:prstGeom prst="roundRect">
            <a:avLst>
              <a:gd name="adj" fmla="val 9508"/>
            </a:avLst>
          </a:prstGeom>
          <a:solidFill>
            <a:schemeClr val="bg2"/>
          </a:solidFill>
          <a:ln/>
        </p:spPr>
      </p:sp>
      <p:sp>
        <p:nvSpPr>
          <p:cNvPr id="14" name="Text 10"/>
          <p:cNvSpPr txBox="1"/>
          <p:nvPr/>
        </p:nvSpPr>
        <p:spPr>
          <a:xfrm>
            <a:off x="8348472" y="5127875"/>
            <a:ext cx="3063240" cy="320040"/>
          </a:xfrm>
          <a:prstGeom prst="rect">
            <a:avLst/>
          </a:prstGeom>
          <a:noFill/>
          <a:ln/>
        </p:spPr>
        <p:txBody>
          <a:bodyPr wrap="square" lIns="0" tIns="0" rIns="0" bIns="0" rtlCol="0" anchor="t"/>
          <a:lstStyle/>
          <a:p>
            <a:pPr indent="0" marL="0">
              <a:buNone/>
            </a:pPr>
            <a:r>
              <a:rPr lang="en-US" sz="1600" b="1" dirty="0">
                <a:solidFill>
                  <a:schemeClr val="tx2"/>
                </a:solidFill>
              </a:rPr>
              <a:t>For the operator</a:t>
            </a:r>
            <a:endParaRPr lang="en-US" sz="1600" dirty="0"/>
          </a:p>
        </p:txBody>
      </p:sp>
      <p:sp>
        <p:nvSpPr>
          <p:cNvPr id="15" name="Text 11"/>
          <p:cNvSpPr txBox="1"/>
          <p:nvPr/>
        </p:nvSpPr>
        <p:spPr>
          <a:xfrm>
            <a:off x="8348472" y="5475347"/>
            <a:ext cx="3063240" cy="685800"/>
          </a:xfrm>
          <a:prstGeom prst="rect">
            <a:avLst/>
          </a:prstGeom>
          <a:noFill/>
          <a:ln/>
        </p:spPr>
        <p:txBody>
          <a:bodyPr wrap="square" lIns="0" tIns="0" rIns="0" bIns="0" rtlCol="0" anchor="t"/>
          <a:lstStyle/>
          <a:p>
            <a:pPr indent="0" marL="0">
              <a:buNone/>
            </a:pPr>
            <a:r>
              <a:rPr lang="en-US" sz="1400" dirty="0">
                <a:solidFill>
                  <a:schemeClr val="tx1"/>
                </a:solidFill>
              </a:rPr>
              <a:t>The AI’s one-line next step appears on the fleet dashboard.</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Why each AWS service</a:t>
            </a:r>
            <a:endParaRPr lang="en-US" sz="3600" dirty="0"/>
          </a:p>
        </p:txBody>
      </p:sp>
      <p:sp>
        <p:nvSpPr>
          <p:cNvPr id="3" name="card"/>
          <p:cNvSpPr/>
          <p:nvPr/>
        </p:nvSpPr>
        <p:spPr>
          <a:xfrm>
            <a:off x="548640" y="1783080"/>
            <a:ext cx="2580894" cy="2103120"/>
          </a:xfrm>
          <a:prstGeom prst="roundRect">
            <a:avLst>
              <a:gd name="adj" fmla="val 4898"/>
            </a:avLst>
          </a:prstGeom>
          <a:solidFill>
            <a:schemeClr val="bg2"/>
          </a:solidFill>
          <a:ln/>
        </p:spPr>
      </p:sp>
      <p:sp>
        <p:nvSpPr>
          <p:cNvPr id="4" name="icon circle"/>
          <p:cNvSpPr/>
          <p:nvPr/>
        </p:nvSpPr>
        <p:spPr>
          <a:xfrm>
            <a:off x="822960" y="2011680"/>
            <a:ext cx="548640" cy="548640"/>
          </a:xfrm>
          <a:prstGeom prst="ellipse">
            <a:avLst/>
          </a:prstGeom>
          <a:solidFill>
            <a:schemeClr val="accent2"/>
          </a:solidFill>
          <a:ln/>
        </p:spPr>
      </p:sp>
      <p:pic>
        <p:nvPicPr>
          <p:cNvPr id="5" name="Image 0" descr="icon">    </p:cNvPr>
          <p:cNvPicPr>
            <a:picLocks noChangeAspect="1"/>
          </p:cNvPicPr>
          <p:nvPr/>
        </p:nvPicPr>
        <p:blipFill>
          <a:blip r:embed="rId8"/>
          <a:stretch>
            <a:fillRect/>
          </a:stretch>
        </p:blipFill>
        <p:spPr>
          <a:xfrm>
            <a:off x="965606" y="2154326"/>
            <a:ext cx="263347" cy="263347"/>
          </a:xfrm>
          <a:prstGeom prst="rect">
            <a:avLst/>
          </a:prstGeom>
        </p:spPr>
      </p:pic>
      <p:sp>
        <p:nvSpPr>
          <p:cNvPr id="6" name="Text 3"/>
          <p:cNvSpPr txBox="1"/>
          <p:nvPr/>
        </p:nvSpPr>
        <p:spPr>
          <a:xfrm>
            <a:off x="1554480"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CloudFront + S3</a:t>
            </a:r>
            <a:endParaRPr lang="en-US" sz="1500" dirty="0"/>
          </a:p>
        </p:txBody>
      </p:sp>
      <p:sp>
        <p:nvSpPr>
          <p:cNvPr id="7" name="Text 4"/>
          <p:cNvSpPr txBox="1"/>
          <p:nvPr/>
        </p:nvSpPr>
        <p:spPr>
          <a:xfrm>
            <a:off x="822960"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Serves the app fast and securely, with no web servers to run.</a:t>
            </a:r>
            <a:endParaRPr lang="en-US" sz="1600" dirty="0"/>
          </a:p>
        </p:txBody>
      </p:sp>
      <p:sp>
        <p:nvSpPr>
          <p:cNvPr id="8" name="card"/>
          <p:cNvSpPr/>
          <p:nvPr/>
        </p:nvSpPr>
        <p:spPr>
          <a:xfrm>
            <a:off x="3385566" y="1783080"/>
            <a:ext cx="2580894" cy="2103120"/>
          </a:xfrm>
          <a:prstGeom prst="roundRect">
            <a:avLst>
              <a:gd name="adj" fmla="val 4898"/>
            </a:avLst>
          </a:prstGeom>
          <a:solidFill>
            <a:schemeClr val="bg2"/>
          </a:solidFill>
          <a:ln/>
        </p:spPr>
      </p:sp>
      <p:sp>
        <p:nvSpPr>
          <p:cNvPr id="9" name="icon circle"/>
          <p:cNvSpPr/>
          <p:nvPr/>
        </p:nvSpPr>
        <p:spPr>
          <a:xfrm>
            <a:off x="3659886" y="2011680"/>
            <a:ext cx="548640" cy="548640"/>
          </a:xfrm>
          <a:prstGeom prst="ellipse">
            <a:avLst/>
          </a:prstGeom>
          <a:solidFill>
            <a:schemeClr val="accent2"/>
          </a:solidFill>
          <a:ln/>
        </p:spPr>
      </p:sp>
      <p:pic>
        <p:nvPicPr>
          <p:cNvPr id="10" name="Image 1" descr="icon">    </p:cNvPr>
          <p:cNvPicPr>
            <a:picLocks noChangeAspect="1"/>
          </p:cNvPicPr>
          <p:nvPr/>
        </p:nvPicPr>
        <p:blipFill>
          <a:blip r:embed="rId9"/>
          <a:stretch>
            <a:fillRect/>
          </a:stretch>
        </p:blipFill>
        <p:spPr>
          <a:xfrm>
            <a:off x="3802532" y="2154326"/>
            <a:ext cx="263347" cy="263347"/>
          </a:xfrm>
          <a:prstGeom prst="rect">
            <a:avLst/>
          </a:prstGeom>
        </p:spPr>
      </p:pic>
      <p:sp>
        <p:nvSpPr>
          <p:cNvPr id="11" name="Text 7"/>
          <p:cNvSpPr txBox="1"/>
          <p:nvPr/>
        </p:nvSpPr>
        <p:spPr>
          <a:xfrm>
            <a:off x="4391406"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API Gateway</a:t>
            </a:r>
            <a:endParaRPr lang="en-US" sz="1500" dirty="0"/>
          </a:p>
        </p:txBody>
      </p:sp>
      <p:sp>
        <p:nvSpPr>
          <p:cNvPr id="12" name="Text 8"/>
          <p:cNvSpPr txBox="1"/>
          <p:nvPr/>
        </p:nvSpPr>
        <p:spPr>
          <a:xfrm>
            <a:off x="3659886"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The front door, including the WhatsApp webhook. Managed and throttled.</a:t>
            </a:r>
            <a:endParaRPr lang="en-US" sz="1600" dirty="0"/>
          </a:p>
        </p:txBody>
      </p:sp>
      <p:sp>
        <p:nvSpPr>
          <p:cNvPr id="13" name="card"/>
          <p:cNvSpPr/>
          <p:nvPr/>
        </p:nvSpPr>
        <p:spPr>
          <a:xfrm>
            <a:off x="6222492" y="1783080"/>
            <a:ext cx="2580894" cy="2103120"/>
          </a:xfrm>
          <a:prstGeom prst="roundRect">
            <a:avLst>
              <a:gd name="adj" fmla="val 4898"/>
            </a:avLst>
          </a:prstGeom>
          <a:solidFill>
            <a:schemeClr val="bg2"/>
          </a:solidFill>
          <a:ln/>
        </p:spPr>
      </p:sp>
      <p:sp>
        <p:nvSpPr>
          <p:cNvPr id="14" name="icon circle"/>
          <p:cNvSpPr/>
          <p:nvPr/>
        </p:nvSpPr>
        <p:spPr>
          <a:xfrm>
            <a:off x="6496812" y="2011680"/>
            <a:ext cx="548640" cy="548640"/>
          </a:xfrm>
          <a:prstGeom prst="ellipse">
            <a:avLst/>
          </a:prstGeom>
          <a:solidFill>
            <a:schemeClr val="accent2"/>
          </a:solidFill>
          <a:ln/>
        </p:spPr>
      </p:sp>
      <p:pic>
        <p:nvPicPr>
          <p:cNvPr id="15" name="Image 2" descr="icon">    </p:cNvPr>
          <p:cNvPicPr>
            <a:picLocks noChangeAspect="1"/>
          </p:cNvPicPr>
          <p:nvPr/>
        </p:nvPicPr>
        <p:blipFill>
          <a:blip r:embed="rId10"/>
          <a:stretch>
            <a:fillRect/>
          </a:stretch>
        </p:blipFill>
        <p:spPr>
          <a:xfrm>
            <a:off x="6639458" y="2154326"/>
            <a:ext cx="263347" cy="263347"/>
          </a:xfrm>
          <a:prstGeom prst="rect">
            <a:avLst/>
          </a:prstGeom>
        </p:spPr>
      </p:pic>
      <p:sp>
        <p:nvSpPr>
          <p:cNvPr id="16" name="Text 11"/>
          <p:cNvSpPr txBox="1"/>
          <p:nvPr/>
        </p:nvSpPr>
        <p:spPr>
          <a:xfrm>
            <a:off x="7228332"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Lambda</a:t>
            </a:r>
            <a:endParaRPr lang="en-US" sz="1500" dirty="0"/>
          </a:p>
        </p:txBody>
      </p:sp>
      <p:sp>
        <p:nvSpPr>
          <p:cNvPr id="17" name="Text 12"/>
          <p:cNvSpPr txBox="1"/>
          <p:nvPr/>
        </p:nvSpPr>
        <p:spPr>
          <a:xfrm>
            <a:off x="6496812"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Rules, check-ins, escalation and AI calls. Pay only when it runs.</a:t>
            </a:r>
            <a:endParaRPr lang="en-US" sz="1600" dirty="0"/>
          </a:p>
        </p:txBody>
      </p:sp>
      <p:sp>
        <p:nvSpPr>
          <p:cNvPr id="18" name="card"/>
          <p:cNvSpPr/>
          <p:nvPr/>
        </p:nvSpPr>
        <p:spPr>
          <a:xfrm>
            <a:off x="9059418" y="1783080"/>
            <a:ext cx="2580894" cy="2103120"/>
          </a:xfrm>
          <a:prstGeom prst="roundRect">
            <a:avLst>
              <a:gd name="adj" fmla="val 4898"/>
            </a:avLst>
          </a:prstGeom>
          <a:solidFill>
            <a:schemeClr val="bg2"/>
          </a:solidFill>
          <a:ln/>
        </p:spPr>
      </p:sp>
      <p:sp>
        <p:nvSpPr>
          <p:cNvPr id="19" name="icon circle"/>
          <p:cNvSpPr/>
          <p:nvPr/>
        </p:nvSpPr>
        <p:spPr>
          <a:xfrm>
            <a:off x="9333738" y="2011680"/>
            <a:ext cx="548640" cy="548640"/>
          </a:xfrm>
          <a:prstGeom prst="ellipse">
            <a:avLst/>
          </a:prstGeom>
          <a:solidFill>
            <a:schemeClr val="accent2"/>
          </a:solidFill>
          <a:ln/>
        </p:spPr>
      </p:sp>
      <p:pic>
        <p:nvPicPr>
          <p:cNvPr id="20" name="Image 3" descr="icon">    </p:cNvPr>
          <p:cNvPicPr>
            <a:picLocks noChangeAspect="1"/>
          </p:cNvPicPr>
          <p:nvPr/>
        </p:nvPicPr>
        <p:blipFill>
          <a:blip r:embed="rId11"/>
          <a:stretch>
            <a:fillRect/>
          </a:stretch>
        </p:blipFill>
        <p:spPr>
          <a:xfrm>
            <a:off x="9476384" y="2154326"/>
            <a:ext cx="263347" cy="263347"/>
          </a:xfrm>
          <a:prstGeom prst="rect">
            <a:avLst/>
          </a:prstGeom>
        </p:spPr>
      </p:pic>
      <p:sp>
        <p:nvSpPr>
          <p:cNvPr id="21" name="Text 15"/>
          <p:cNvSpPr txBox="1"/>
          <p:nvPr/>
        </p:nvSpPr>
        <p:spPr>
          <a:xfrm>
            <a:off x="10065258" y="2011680"/>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Bedrock</a:t>
            </a:r>
            <a:endParaRPr lang="en-US" sz="1500" dirty="0"/>
          </a:p>
        </p:txBody>
      </p:sp>
      <p:sp>
        <p:nvSpPr>
          <p:cNvPr id="22" name="Text 16"/>
          <p:cNvSpPr txBox="1"/>
          <p:nvPr/>
        </p:nvSpPr>
        <p:spPr>
          <a:xfrm>
            <a:off x="9333738" y="2743200"/>
            <a:ext cx="2077974" cy="1051560"/>
          </a:xfrm>
          <a:prstGeom prst="rect">
            <a:avLst/>
          </a:prstGeom>
          <a:noFill/>
          <a:ln/>
        </p:spPr>
        <p:txBody>
          <a:bodyPr wrap="square" lIns="0" tIns="0" rIns="0" bIns="0" rtlCol="0" anchor="t"/>
          <a:lstStyle/>
          <a:p>
            <a:pPr indent="0" marL="0">
              <a:buNone/>
            </a:pPr>
            <a:r>
              <a:rPr lang="en-US" sz="1600" dirty="0">
                <a:solidFill>
                  <a:schemeClr val="tx1"/>
                </a:solidFill>
              </a:rPr>
              <a:t>Foundation models as a service, with Guardrails. No model servers.</a:t>
            </a:r>
            <a:endParaRPr lang="en-US" sz="1600" dirty="0"/>
          </a:p>
        </p:txBody>
      </p:sp>
      <p:sp>
        <p:nvSpPr>
          <p:cNvPr id="23" name="card"/>
          <p:cNvSpPr/>
          <p:nvPr/>
        </p:nvSpPr>
        <p:spPr>
          <a:xfrm>
            <a:off x="548640" y="4142232"/>
            <a:ext cx="2580894" cy="2103120"/>
          </a:xfrm>
          <a:prstGeom prst="roundRect">
            <a:avLst>
              <a:gd name="adj" fmla="val 4898"/>
            </a:avLst>
          </a:prstGeom>
          <a:solidFill>
            <a:schemeClr val="bg2"/>
          </a:solidFill>
          <a:ln/>
        </p:spPr>
      </p:sp>
      <p:sp>
        <p:nvSpPr>
          <p:cNvPr id="24" name="icon circle"/>
          <p:cNvSpPr/>
          <p:nvPr/>
        </p:nvSpPr>
        <p:spPr>
          <a:xfrm>
            <a:off x="822960" y="4370832"/>
            <a:ext cx="548640" cy="548640"/>
          </a:xfrm>
          <a:prstGeom prst="ellipse">
            <a:avLst/>
          </a:prstGeom>
          <a:solidFill>
            <a:schemeClr val="accent2"/>
          </a:solidFill>
          <a:ln/>
        </p:spPr>
      </p:sp>
      <p:pic>
        <p:nvPicPr>
          <p:cNvPr id="25" name="Image 4" descr="icon">    </p:cNvPr>
          <p:cNvPicPr>
            <a:picLocks noChangeAspect="1"/>
          </p:cNvPicPr>
          <p:nvPr/>
        </p:nvPicPr>
        <p:blipFill>
          <a:blip r:embed="rId12"/>
          <a:stretch>
            <a:fillRect/>
          </a:stretch>
        </p:blipFill>
        <p:spPr>
          <a:xfrm>
            <a:off x="965606" y="4513478"/>
            <a:ext cx="263347" cy="263347"/>
          </a:xfrm>
          <a:prstGeom prst="rect">
            <a:avLst/>
          </a:prstGeom>
        </p:spPr>
      </p:pic>
      <p:sp>
        <p:nvSpPr>
          <p:cNvPr id="26" name="Text 19"/>
          <p:cNvSpPr txBox="1"/>
          <p:nvPr/>
        </p:nvSpPr>
        <p:spPr>
          <a:xfrm>
            <a:off x="1554480"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DynamoDB</a:t>
            </a:r>
            <a:endParaRPr lang="en-US" sz="1500" dirty="0"/>
          </a:p>
        </p:txBody>
      </p:sp>
      <p:sp>
        <p:nvSpPr>
          <p:cNvPr id="27" name="Text 20"/>
          <p:cNvSpPr txBox="1"/>
          <p:nvPr/>
        </p:nvSpPr>
        <p:spPr>
          <a:xfrm>
            <a:off x="822960"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Trips, alerts and the safety log: the operator’s audit trail.</a:t>
            </a:r>
            <a:endParaRPr lang="en-US" sz="1600" dirty="0"/>
          </a:p>
        </p:txBody>
      </p:sp>
      <p:sp>
        <p:nvSpPr>
          <p:cNvPr id="28" name="card"/>
          <p:cNvSpPr/>
          <p:nvPr/>
        </p:nvSpPr>
        <p:spPr>
          <a:xfrm>
            <a:off x="3385566" y="4142232"/>
            <a:ext cx="2580894" cy="2103120"/>
          </a:xfrm>
          <a:prstGeom prst="roundRect">
            <a:avLst>
              <a:gd name="adj" fmla="val 4898"/>
            </a:avLst>
          </a:prstGeom>
          <a:solidFill>
            <a:schemeClr val="bg2"/>
          </a:solidFill>
          <a:ln/>
        </p:spPr>
      </p:sp>
      <p:sp>
        <p:nvSpPr>
          <p:cNvPr id="29" name="icon circle"/>
          <p:cNvSpPr/>
          <p:nvPr/>
        </p:nvSpPr>
        <p:spPr>
          <a:xfrm>
            <a:off x="3659886" y="4370832"/>
            <a:ext cx="548640" cy="548640"/>
          </a:xfrm>
          <a:prstGeom prst="ellipse">
            <a:avLst/>
          </a:prstGeom>
          <a:solidFill>
            <a:schemeClr val="accent2"/>
          </a:solidFill>
          <a:ln/>
        </p:spPr>
      </p:sp>
      <p:pic>
        <p:nvPicPr>
          <p:cNvPr id="30" name="Image 5" descr="icon">    </p:cNvPr>
          <p:cNvPicPr>
            <a:picLocks noChangeAspect="1"/>
          </p:cNvPicPr>
          <p:nvPr/>
        </p:nvPicPr>
        <p:blipFill>
          <a:blip r:embed="rId13"/>
          <a:stretch>
            <a:fillRect/>
          </a:stretch>
        </p:blipFill>
        <p:spPr>
          <a:xfrm>
            <a:off x="3802532" y="4513478"/>
            <a:ext cx="263347" cy="263347"/>
          </a:xfrm>
          <a:prstGeom prst="rect">
            <a:avLst/>
          </a:prstGeom>
        </p:spPr>
      </p:pic>
      <p:sp>
        <p:nvSpPr>
          <p:cNvPr id="31" name="Text 23"/>
          <p:cNvSpPr txBox="1"/>
          <p:nvPr/>
        </p:nvSpPr>
        <p:spPr>
          <a:xfrm>
            <a:off x="4391406"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CloudWatch</a:t>
            </a:r>
            <a:endParaRPr lang="en-US" sz="1500" dirty="0"/>
          </a:p>
        </p:txBody>
      </p:sp>
      <p:sp>
        <p:nvSpPr>
          <p:cNvPr id="32" name="Text 24"/>
          <p:cNvSpPr txBox="1"/>
          <p:nvPr/>
        </p:nvSpPr>
        <p:spPr>
          <a:xfrm>
            <a:off x="3659886"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Logs, a dashboard and alarms, so we can trace every alert.</a:t>
            </a:r>
            <a:endParaRPr lang="en-US" sz="1600" dirty="0"/>
          </a:p>
        </p:txBody>
      </p:sp>
      <p:sp>
        <p:nvSpPr>
          <p:cNvPr id="60" name="card"/>
          <p:cNvSpPr/>
          <p:nvPr/>
        </p:nvSpPr>
        <p:spPr>
          <a:xfrm>
            <a:off x="6222492" y="4142232"/>
            <a:ext cx="2580894" cy="2103120"/>
          </a:xfrm>
          <a:prstGeom prst="roundRect">
            <a:avLst>
              <a:gd name="adj" fmla="val 4898"/>
            </a:avLst>
          </a:prstGeom>
          <a:solidFill>
            <a:schemeClr val="bg2"/>
          </a:solidFill>
          <a:ln/>
        </p:spPr>
      </p:sp>
      <p:sp>
        <p:nvSpPr>
          <p:cNvPr id="61" name="icon circle"/>
          <p:cNvSpPr/>
          <p:nvPr/>
        </p:nvSpPr>
        <p:spPr>
          <a:xfrm>
            <a:off x="6496812" y="4370832"/>
            <a:ext cx="548640" cy="548640"/>
          </a:xfrm>
          <a:prstGeom prst="ellipse">
            <a:avLst/>
          </a:prstGeom>
          <a:solidFill>
            <a:schemeClr val="accent2"/>
          </a:solidFill>
          <a:ln/>
        </p:spPr>
      </p:sp>
      <p:pic>
        <p:nvPicPr>
          <p:cNvPr id="62" name="Image 0" descr="icon">    </p:cNvPr>
          <p:cNvPicPr>
            <a:picLocks noChangeAspect="1"/>
          </p:cNvPicPr>
          <p:nvPr/>
        </p:nvPicPr>
        <p:blipFill>
          <a:blip r:embed="rId14"/>
          <a:stretch>
            <a:fillRect/>
          </a:stretch>
        </p:blipFill>
        <p:spPr>
          <a:xfrm>
            <a:off x="6639458" y="4513478"/>
            <a:ext cx="263347" cy="263347"/>
          </a:xfrm>
          <a:prstGeom prst="rect">
            <a:avLst/>
          </a:prstGeom>
        </p:spPr>
      </p:pic>
      <p:sp>
        <p:nvSpPr>
          <p:cNvPr id="63" name="Text 3"/>
          <p:cNvSpPr txBox="1"/>
          <p:nvPr/>
        </p:nvSpPr>
        <p:spPr>
          <a:xfrm>
            <a:off x="7228332"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IAM</a:t>
            </a:r>
            <a:endParaRPr lang="en-US" sz="1500" dirty="0"/>
          </a:p>
        </p:txBody>
      </p:sp>
      <p:sp>
        <p:nvSpPr>
          <p:cNvPr id="64" name="Text 4"/>
          <p:cNvSpPr txBox="1"/>
          <p:nvPr/>
        </p:nvSpPr>
        <p:spPr>
          <a:xfrm>
            <a:off x="6496812"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Each function gets only the access it needs. No keys in the browser.</a:t>
            </a:r>
            <a:endParaRPr lang="en-US" sz="1600" dirty="0"/>
          </a:p>
        </p:txBody>
      </p:sp>
      <p:sp>
        <p:nvSpPr>
          <p:cNvPr id="65" name="card"/>
          <p:cNvSpPr/>
          <p:nvPr/>
        </p:nvSpPr>
        <p:spPr>
          <a:xfrm>
            <a:off x="9059418" y="4142232"/>
            <a:ext cx="2580894" cy="2103120"/>
          </a:xfrm>
          <a:prstGeom prst="roundRect">
            <a:avLst>
              <a:gd name="adj" fmla="val 4898"/>
            </a:avLst>
          </a:prstGeom>
          <a:solidFill>
            <a:schemeClr val="bg2"/>
          </a:solidFill>
          <a:ln/>
        </p:spPr>
      </p:sp>
      <p:sp>
        <p:nvSpPr>
          <p:cNvPr id="66" name="icon circle"/>
          <p:cNvSpPr/>
          <p:nvPr/>
        </p:nvSpPr>
        <p:spPr>
          <a:xfrm>
            <a:off x="9333738" y="4370832"/>
            <a:ext cx="548640" cy="548640"/>
          </a:xfrm>
          <a:prstGeom prst="ellipse">
            <a:avLst/>
          </a:prstGeom>
          <a:solidFill>
            <a:schemeClr val="accent2"/>
          </a:solidFill>
          <a:ln/>
        </p:spPr>
      </p:sp>
      <p:pic>
        <p:nvPicPr>
          <p:cNvPr id="67" name="Image 0" descr="icon">    </p:cNvPr>
          <p:cNvPicPr>
            <a:picLocks noChangeAspect="1"/>
          </p:cNvPicPr>
          <p:nvPr/>
        </p:nvPicPr>
        <p:blipFill>
          <a:blip r:embed="rId15"/>
          <a:stretch>
            <a:fillRect/>
          </a:stretch>
        </p:blipFill>
        <p:spPr>
          <a:xfrm>
            <a:off x="9476384" y="4513478"/>
            <a:ext cx="263347" cy="263347"/>
          </a:xfrm>
          <a:prstGeom prst="rect">
            <a:avLst/>
          </a:prstGeom>
        </p:spPr>
      </p:pic>
      <p:sp>
        <p:nvSpPr>
          <p:cNvPr id="68" name="Text 3"/>
          <p:cNvSpPr txBox="1"/>
          <p:nvPr/>
        </p:nvSpPr>
        <p:spPr>
          <a:xfrm>
            <a:off x="10065258" y="4370832"/>
            <a:ext cx="1437894" cy="548640"/>
          </a:xfrm>
          <a:prstGeom prst="rect">
            <a:avLst/>
          </a:prstGeom>
          <a:noFill/>
          <a:ln/>
        </p:spPr>
        <p:txBody>
          <a:bodyPr wrap="square" lIns="0" tIns="0" rIns="0" bIns="0" rtlCol="0" anchor="ctr"/>
          <a:lstStyle/>
          <a:p>
            <a:pPr indent="0" marL="0">
              <a:buNone/>
            </a:pPr>
            <a:r>
              <a:rPr lang="en-US" sz="1500" b="1" dirty="0">
                <a:solidFill>
                  <a:schemeClr val="tx2"/>
                </a:solidFill>
              </a:rPr>
              <a:t>EC2 (WhatsApp)</a:t>
            </a:r>
            <a:endParaRPr lang="en-US" sz="1500" dirty="0"/>
          </a:p>
        </p:txBody>
      </p:sp>
      <p:sp>
        <p:nvSpPr>
          <p:cNvPr id="69" name="Text 4"/>
          <p:cNvSpPr txBox="1"/>
          <p:nvPr/>
        </p:nvSpPr>
        <p:spPr>
          <a:xfrm>
            <a:off x="9333738" y="5102352"/>
            <a:ext cx="2077974" cy="1051560"/>
          </a:xfrm>
          <a:prstGeom prst="rect">
            <a:avLst/>
          </a:prstGeom>
          <a:noFill/>
          <a:ln/>
        </p:spPr>
        <p:txBody>
          <a:bodyPr wrap="square" lIns="0" tIns="0" rIns="0" bIns="0" rtlCol="0" anchor="t"/>
          <a:lstStyle/>
          <a:p>
            <a:pPr indent="0" marL="0">
              <a:buNone/>
            </a:pPr>
            <a:r>
              <a:rPr lang="en-US" sz="1600" dirty="0">
                <a:solidFill>
                  <a:schemeClr val="tx1"/>
                </a:solidFill>
              </a:rPr>
              <a:t>Runs the open-source WhatsApp gateway for our real number.</a:t>
            </a:r>
            <a:endParaRPr lang="en-US" sz="1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18</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Live demo: the main user journey</a:t>
            </a:r>
            <a:endParaRPr lang="en-US" sz="3600" dirty="0"/>
          </a:p>
        </p:txBody>
      </p:sp>
      <p:sp>
        <p:nvSpPr>
          <p:cNvPr id="3" name="screenshot frame"/>
          <p:cNvSpPr/>
          <p:nvPr/>
        </p:nvSpPr>
        <p:spPr>
          <a:xfrm>
            <a:off x="955777" y="1353312"/>
            <a:ext cx="10277399" cy="3739896"/>
          </a:xfrm>
          <a:prstGeom prst="roundRect">
            <a:avLst>
              <a:gd name="adj" fmla="val 3571"/>
            </a:avLst>
          </a:prstGeom>
          <a:solidFill>
            <a:schemeClr val="bg2"/>
          </a:solidFill>
          <a:ln/>
        </p:spPr>
      </p:sp>
      <p:pic>
        <p:nvPicPr>
          <p:cNvPr id="4" name="Image 0" descr="The demo in seven steps: request a ride and see the driver; simulated stop and check-in; the WhatsApp check-in; the operator's fleet alert with AI triage; the shared-ride saving">    </p:cNvPr>
          <p:cNvPicPr>
            <a:picLocks noChangeAspect="1"/>
          </p:cNvPicPr>
          <p:nvPr/>
        </p:nvPicPr>
        <p:blipFill>
          <a:blip r:embed="rId6"/>
          <a:stretch>
            <a:fillRect/>
          </a:stretch>
        </p:blipFill>
        <p:spPr>
          <a:xfrm>
            <a:off x="1019785" y="1417320"/>
            <a:ext cx="10149383" cy="3611880"/>
          </a:xfrm>
          <a:prstGeom prst="rect">
            <a:avLst/>
          </a:prstGeom>
        </p:spPr>
      </p:pic>
      <p:sp>
        <p:nvSpPr>
          <p:cNvPr id="5" name="callout"/>
          <p:cNvSpPr/>
          <p:nvPr/>
        </p:nvSpPr>
        <p:spPr>
          <a:xfrm>
            <a:off x="548640" y="4937760"/>
            <a:ext cx="3520440" cy="1188720"/>
          </a:xfrm>
          <a:prstGeom prst="roundRect">
            <a:avLst>
              <a:gd name="adj" fmla="val 9231"/>
            </a:avLst>
          </a:prstGeom>
          <a:solidFill>
            <a:schemeClr val="bg2"/>
          </a:solidFill>
          <a:ln/>
        </p:spPr>
      </p:sp>
      <p:sp>
        <p:nvSpPr>
          <p:cNvPr id="6" name="icon circle"/>
          <p:cNvSpPr/>
          <p:nvPr/>
        </p:nvSpPr>
        <p:spPr>
          <a:xfrm>
            <a:off x="777240" y="5138928"/>
            <a:ext cx="502920" cy="502920"/>
          </a:xfrm>
          <a:prstGeom prst="ellipse">
            <a:avLst/>
          </a:prstGeom>
          <a:solidFill>
            <a:schemeClr val="accent2"/>
          </a:solidFill>
          <a:ln/>
        </p:spPr>
      </p:sp>
      <p:pic>
        <p:nvPicPr>
          <p:cNvPr id="7" name="Image 1" descr="icon">    </p:cNvPr>
          <p:cNvPicPr>
            <a:picLocks noChangeAspect="1"/>
          </p:cNvPicPr>
          <p:nvPr/>
        </p:nvPicPr>
        <p:blipFill>
          <a:blip r:embed="rId7"/>
          <a:stretch>
            <a:fillRect/>
          </a:stretch>
        </p:blipFill>
        <p:spPr>
          <a:xfrm>
            <a:off x="907999" y="5269687"/>
            <a:ext cx="241402" cy="241402"/>
          </a:xfrm>
          <a:prstGeom prst="rect">
            <a:avLst/>
          </a:prstGeom>
        </p:spPr>
      </p:pic>
      <p:sp>
        <p:nvSpPr>
          <p:cNvPr id="8" name="Text 4"/>
          <p:cNvSpPr txBox="1"/>
          <p:nvPr/>
        </p:nvSpPr>
        <p:spPr>
          <a:xfrm>
            <a:off x="1463040"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Simulated</a:t>
            </a:r>
            <a:endParaRPr lang="en-US" sz="1800" dirty="0"/>
          </a:p>
        </p:txBody>
      </p:sp>
      <p:sp>
        <p:nvSpPr>
          <p:cNvPr id="9" name="Text 5"/>
          <p:cNvSpPr txBox="1"/>
          <p:nvPr/>
        </p:nvSpPr>
        <p:spPr>
          <a:xfrm>
            <a:off x="1463040"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The trip and its events, on real Johannesburg roads.</a:t>
            </a:r>
            <a:endParaRPr lang="en-US" sz="1400" dirty="0"/>
          </a:p>
        </p:txBody>
      </p:sp>
      <p:sp>
        <p:nvSpPr>
          <p:cNvPr id="10" name="callout"/>
          <p:cNvSpPr/>
          <p:nvPr/>
        </p:nvSpPr>
        <p:spPr>
          <a:xfrm>
            <a:off x="4334256" y="4937760"/>
            <a:ext cx="3520440" cy="1188720"/>
          </a:xfrm>
          <a:prstGeom prst="roundRect">
            <a:avLst>
              <a:gd name="adj" fmla="val 9231"/>
            </a:avLst>
          </a:prstGeom>
          <a:solidFill>
            <a:schemeClr val="bg2"/>
          </a:solidFill>
          <a:ln/>
        </p:spPr>
      </p:sp>
      <p:sp>
        <p:nvSpPr>
          <p:cNvPr id="11" name="icon circle"/>
          <p:cNvSpPr/>
          <p:nvPr/>
        </p:nvSpPr>
        <p:spPr>
          <a:xfrm>
            <a:off x="4562856" y="5138928"/>
            <a:ext cx="502920" cy="502920"/>
          </a:xfrm>
          <a:prstGeom prst="ellipse">
            <a:avLst/>
          </a:prstGeom>
          <a:solidFill>
            <a:schemeClr val="accent2"/>
          </a:solidFill>
          <a:ln/>
        </p:spPr>
      </p:sp>
      <p:pic>
        <p:nvPicPr>
          <p:cNvPr id="12" name="Image 2" descr="icon">    </p:cNvPr>
          <p:cNvPicPr>
            <a:picLocks noChangeAspect="1"/>
          </p:cNvPicPr>
          <p:nvPr/>
        </p:nvPicPr>
        <p:blipFill>
          <a:blip r:embed="rId8"/>
          <a:stretch>
            <a:fillRect/>
          </a:stretch>
        </p:blipFill>
        <p:spPr>
          <a:xfrm>
            <a:off x="4693615" y="5269687"/>
            <a:ext cx="241402" cy="241402"/>
          </a:xfrm>
          <a:prstGeom prst="rect">
            <a:avLst/>
          </a:prstGeom>
        </p:spPr>
      </p:pic>
      <p:sp>
        <p:nvSpPr>
          <p:cNvPr id="13" name="Text 8"/>
          <p:cNvSpPr txBox="1"/>
          <p:nvPr/>
        </p:nvSpPr>
        <p:spPr>
          <a:xfrm>
            <a:off x="5248656"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Real</a:t>
            </a:r>
            <a:endParaRPr lang="en-US" sz="1800" dirty="0"/>
          </a:p>
        </p:txBody>
      </p:sp>
      <p:sp>
        <p:nvSpPr>
          <p:cNvPr id="14" name="Text 9"/>
          <p:cNvSpPr txBox="1"/>
          <p:nvPr/>
        </p:nvSpPr>
        <p:spPr>
          <a:xfrm>
            <a:off x="5248656"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The WhatsApp number: check-ins arrive on a phone.</a:t>
            </a:r>
            <a:endParaRPr lang="en-US" sz="1400" dirty="0"/>
          </a:p>
        </p:txBody>
      </p:sp>
      <p:sp>
        <p:nvSpPr>
          <p:cNvPr id="15" name="callout"/>
          <p:cNvSpPr/>
          <p:nvPr/>
        </p:nvSpPr>
        <p:spPr>
          <a:xfrm>
            <a:off x="8119872" y="4937760"/>
            <a:ext cx="3520440" cy="1188720"/>
          </a:xfrm>
          <a:prstGeom prst="roundRect">
            <a:avLst>
              <a:gd name="adj" fmla="val 9231"/>
            </a:avLst>
          </a:prstGeom>
          <a:solidFill>
            <a:schemeClr val="bg2"/>
          </a:solidFill>
          <a:ln/>
        </p:spPr>
      </p:sp>
      <p:sp>
        <p:nvSpPr>
          <p:cNvPr id="16" name="icon circle"/>
          <p:cNvSpPr/>
          <p:nvPr/>
        </p:nvSpPr>
        <p:spPr>
          <a:xfrm>
            <a:off x="8348472" y="5138928"/>
            <a:ext cx="502920" cy="502920"/>
          </a:xfrm>
          <a:prstGeom prst="ellipse">
            <a:avLst/>
          </a:prstGeom>
          <a:solidFill>
            <a:schemeClr val="accent2"/>
          </a:solidFill>
          <a:ln/>
        </p:spPr>
      </p:sp>
      <p:pic>
        <p:nvPicPr>
          <p:cNvPr id="17" name="Image 3" descr="icon">    </p:cNvPr>
          <p:cNvPicPr>
            <a:picLocks noChangeAspect="1"/>
          </p:cNvPicPr>
          <p:nvPr/>
        </p:nvPicPr>
        <p:blipFill>
          <a:blip r:embed="rId9"/>
          <a:stretch>
            <a:fillRect/>
          </a:stretch>
        </p:blipFill>
        <p:spPr>
          <a:xfrm>
            <a:off x="8479231" y="5269687"/>
            <a:ext cx="241402" cy="241402"/>
          </a:xfrm>
          <a:prstGeom prst="rect">
            <a:avLst/>
          </a:prstGeom>
        </p:spPr>
      </p:pic>
      <p:sp>
        <p:nvSpPr>
          <p:cNvPr id="18" name="Text 12"/>
          <p:cNvSpPr txBox="1"/>
          <p:nvPr/>
        </p:nvSpPr>
        <p:spPr>
          <a:xfrm>
            <a:off x="9034272" y="5120640"/>
            <a:ext cx="2468880" cy="365760"/>
          </a:xfrm>
          <a:prstGeom prst="rect">
            <a:avLst/>
          </a:prstGeom>
          <a:noFill/>
          <a:ln/>
        </p:spPr>
        <p:txBody>
          <a:bodyPr wrap="square" lIns="0" tIns="0" rIns="0" bIns="0" rtlCol="0" anchor="t"/>
          <a:lstStyle/>
          <a:p>
            <a:pPr indent="0" marL="0">
              <a:buNone/>
            </a:pPr>
            <a:r>
              <a:rPr lang="en-US" sz="1800" b="1" dirty="0">
                <a:solidFill>
                  <a:schemeClr val="tx2"/>
                </a:solidFill>
              </a:rPr>
              <a:t>Real</a:t>
            </a:r>
            <a:endParaRPr lang="en-US" sz="1800" dirty="0"/>
          </a:p>
        </p:txBody>
      </p:sp>
      <p:sp>
        <p:nvSpPr>
          <p:cNvPr id="19" name="Text 13"/>
          <p:cNvSpPr txBox="1"/>
          <p:nvPr/>
        </p:nvSpPr>
        <p:spPr>
          <a:xfrm>
            <a:off x="9034272" y="5504688"/>
            <a:ext cx="2468880" cy="640080"/>
          </a:xfrm>
          <a:prstGeom prst="rect">
            <a:avLst/>
          </a:prstGeom>
          <a:noFill/>
          <a:ln/>
        </p:spPr>
        <p:txBody>
          <a:bodyPr wrap="square" lIns="0" tIns="0" rIns="0" bIns="0" rtlCol="0" anchor="t"/>
          <a:lstStyle/>
          <a:p>
            <a:pPr indent="0" marL="0">
              <a:buNone/>
            </a:pPr>
            <a:r>
              <a:rPr lang="en-US" sz="1400" dirty="0">
                <a:solidFill>
                  <a:schemeClr val="tx1"/>
                </a:solidFill>
              </a:rPr>
              <a:t>Amazon Bedrock: explanations, triage and answers.</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13</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Appendix: the full architecture</a:t>
            </a:r>
            <a:endParaRPr lang="en-US" sz="3600" dirty="0"/>
          </a:p>
        </p:txBody>
      </p:sp>
      <p:sp>
        <p:nvSpPr>
          <p:cNvPr id="3" name="screenshot frame"/>
          <p:cNvSpPr/>
          <p:nvPr/>
        </p:nvSpPr>
        <p:spPr>
          <a:xfrm>
            <a:off x="1357048" y="1170432"/>
            <a:ext cx="9474855" cy="4517136"/>
          </a:xfrm>
          <a:prstGeom prst="roundRect">
            <a:avLst>
              <a:gd name="adj" fmla="val 3571"/>
            </a:avLst>
          </a:prstGeom>
          <a:solidFill>
            <a:schemeClr val="bg2"/>
          </a:solidFill>
          <a:ln/>
        </p:spPr>
      </p:sp>
      <p:pic>
        <p:nvPicPr>
          <p:cNvPr id="4" name="Image 0" descr="Architecture diagram: people (web, WhatsApp, operator, trusted contact) to CloudFront, S3 and the OpenWA gateway on EC2; API Gateway to the api and whatsapp Lambdas; Bedrock, DynamoDB, SSM and CloudWatch; Cognito sign-in and SNS (alert emails, SMS simulated) built; Location Service planned">    </p:cNvPr>
          <p:cNvPicPr>
            <a:picLocks noChangeAspect="1"/>
          </p:cNvPicPr>
          <p:nvPr/>
        </p:nvPicPr>
        <p:blipFill>
          <a:blip r:embed="rId8"/>
          <a:stretch>
            <a:fillRect/>
          </a:stretch>
        </p:blipFill>
        <p:spPr>
          <a:xfrm>
            <a:off x="2134372" y="1234440"/>
            <a:ext cx="7923256" cy="4389120"/>
          </a:xfrm>
          <a:prstGeom prst="rect">
            <a:avLst/>
          </a:prstGeom>
        </p:spPr>
      </p:pic>
      <p:sp>
        <p:nvSpPr>
          <p:cNvPr id="9" name="Text 5"/>
          <p:cNvSpPr txBox="1"/>
          <p:nvPr/>
        </p:nvSpPr>
        <p:spPr>
          <a:xfrm>
            <a:off x="640080" y="5806440"/>
            <a:ext cx="10881360" cy="411480"/>
          </a:xfrm>
          <a:prstGeom prst="rect">
            <a:avLst/>
          </a:prstGeom>
          <a:noFill/>
          <a:ln/>
        </p:spPr>
        <p:txBody>
          <a:bodyPr wrap="square" lIns="0" tIns="0" rIns="0" bIns="0" rtlCol="0" anchor="t"/>
          <a:lstStyle/>
          <a:p>
            <a:pPr indent="0" marL="0">
              <a:buNone/>
            </a:pPr>
            <a:r>
              <a:rPr lang="en-US" sz="1400" dirty="0">
                <a:solidFill>
                  <a:schemeClr val="tx1"/>
                </a:solidFill>
              </a:rPr>
              <a:t>Same flow as slide 13, numbered 1–6. Solid = built · dashed orange = simulated · dashed grey = planned. Generated from the Mermaid source in our README, so it stays in sync with the code.</a:t>
            </a:r>
            <a:endParaRPr lang="en-US" sz="14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6"/>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MzansiRide">
  <a:themeElements>
    <a:clrScheme name="MzansiRide">
      <a:dk1>
        <a:srgbClr val="1F2A27"/>
      </a:dk1>
      <a:lt1>
        <a:srgbClr val="FFFFFF"/>
      </a:lt1>
      <a:dk2>
        <a:srgbClr val="0B5C45"/>
      </a:dk2>
      <a:lt2>
        <a:srgbClr val="EAF6F1"/>
      </a:lt2>
      <a:accent1>
        <a:srgbClr val="D6452F"/>
      </a:accent1>
      <a:accent2>
        <a:srgbClr val="078A66"/>
      </a:accent2>
      <a:accent3>
        <a:srgbClr val="F5B82E"/>
      </a:accent3>
      <a:accent4>
        <a:srgbClr val="0F6B52"/>
      </a:accent4>
      <a:accent5>
        <a:srgbClr val="A8D8C7"/>
      </a:accent5>
      <a:accent6>
        <a:srgbClr val="5B6B66"/>
      </a:accent6>
      <a:hlink>
        <a:srgbClr val="078A66"/>
      </a:hlink>
      <a:folHlink>
        <a:srgbClr val="0F6B52"/>
      </a:folHlink>
    </a:clrScheme>
    <a:fontScheme name="MzansiR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MzansiRide SafeAI</dc:title>
  <dc:subject>PptxGenJS Presentation</dc:subject>
  <dc:creator>MzansiRide SafeAI team</dc:creator>
  <cp:lastModifiedBy>MzansiRide SafeAI team</cp:lastModifiedBy>
  <cp:revision>1</cp:revision>
  <dcterms:created xsi:type="dcterms:W3CDTF">2026-10-25T13:52:10Z</dcterms:created>
  <dcterms:modified xsi:type="dcterms:W3CDTF">2026-10-25T13:52:10Z</dcterms:modified>
</cp:coreProperties>
</file>